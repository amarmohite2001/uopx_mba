
<file path=[Content_Types].xml><?xml version="1.0" encoding="utf-8"?>
<Types xmlns="http://schemas.openxmlformats.org/package/2006/content-types">
  <Default Extension="jpeg" ContentType="image/jpe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authors.xml" ContentType="application/vnd.ms-powerpoint.authors+xml"/>
  <Override PartName="/ppt/charts/chart1.xml" ContentType="application/vnd.openxmlformats-officedocument.drawingml.chart+xml"/>
  <Override PartName="/ppt/charts/chart2.xml" ContentType="application/vnd.openxmlformats-officedocument.drawingml.chart+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xml" ContentType="application/vnd.openxmlformats-officedocument.presentationml.slideLayout+xml"/>
  <Override PartName="/ppt/slideLayouts/slideLayout40.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theme/theme6.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removePersonalInfoOnSave="1" saveSubsetFonts="1">
  <p:sldMasterIdLst>
    <p:sldMasterId id="2147483716" r:id="rId1"/>
    <p:sldMasterId id="2147483747" r:id="rId2"/>
    <p:sldMasterId id="2147483755" r:id="rId3"/>
    <p:sldMasterId id="2147483763" r:id="rId4"/>
  </p:sldMasterIdLst>
  <p:notesMasterIdLst>
    <p:notesMasterId r:id="rId14"/>
  </p:notesMasterIdLst>
  <p:handoutMasterIdLst>
    <p:handoutMasterId r:id="rId15"/>
  </p:handoutMasterIdLst>
  <p:sldIdLst>
    <p:sldId id="281" r:id="rId6"/>
    <p:sldId id="288" r:id="rId7"/>
    <p:sldId id="308" r:id="rId8"/>
    <p:sldId id="313" r:id="rId22"/>
    <p:sldId id="306" r:id="rId9"/>
    <p:sldId id="315" r:id="rId24"/>
    <p:sldId id="314" r:id="rId23"/>
    <p:sldId id="307" r:id="rId10"/>
    <p:sldId id="309" r:id="rId11"/>
    <p:sldId id="312" r:id="rId12"/>
    <p:sldId id="305" r:id="rId13"/>
  </p:sldIdLst>
  <p:sldSz cx="12192000" cy="6858000"/>
  <p:notesSz cx="6858000" cy="9296400"/>
  <p:custDataLst>
    <p:tags r:id="rId16"/>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Presentation Template Example" id="{9EC1D997-02BF-4EE6-8029-50D60D6BBF94}">
          <p14:sldIdLst>
            <p14:sldId id="291"/>
            <p14:sldId id="281"/>
            <p14:sldId id="288"/>
            <p14:sldId id="308"/>
            <p14:sldId id="306"/>
            <p14:sldId id="307"/>
            <p14:sldId id="309"/>
            <p14:sldId id="312"/>
            <p14:sldId id="305"/>
          </p14:sldIdLst>
        </p14:section>
      </p14:sectionLst>
    </p:ex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guide id="3" orient="horz" pos="2928">
          <p15:clr>
            <a:srgbClr val="A4A3A4"/>
          </p15:clr>
        </p15:guide>
      </p15:notes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0000000-0000-0000-0000-000000000000}" name="Author" initials="A" userId="Author"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B3725"/>
    <a:srgbClr val="1A88BD"/>
    <a:srgbClr val="2089BB"/>
    <a:srgbClr val="ADD895"/>
    <a:srgbClr val="87C368"/>
    <a:srgbClr val="64B03F"/>
    <a:srgbClr val="459E20"/>
    <a:srgbClr val="96D3E1"/>
    <a:srgbClr val="C90E3C"/>
    <a:srgbClr val="CC00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2DE63D5-997A-4646-A377-4702673A728D}" styleName="Light Style 2 - Accent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 styleId="{1FECB4D8-DB02-4DC6-A0A2-4F2EBAE1DC90}" styleName="Medium Style 1 - Accent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a:noFill/>
            </a:ln>
          </a:insideV>
        </a:tcBdr>
        <a:fill>
          <a:solidFill>
            <a:schemeClr val="lt1"/>
          </a:solidFill>
        </a:fill>
      </a:tcStyle>
    </a:wholeTbl>
    <a:band1H>
      <a:tcStyle>
        <a:tcBdr/>
        <a:fill>
          <a:solidFill>
            <a:schemeClr val="accent3">
              <a:tint val="20000"/>
            </a:schemeClr>
          </a:solidFill>
        </a:fill>
      </a:tcStyle>
    </a:band1H>
    <a:band1V>
      <a:tcStyle>
        <a:tcBdr/>
        <a:fill>
          <a:solidFill>
            <a:schemeClr val="accent3">
              <a:tint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solidFill>
            <a:schemeClr val="lt1"/>
          </a:solidFill>
        </a:fill>
      </a:tcStyle>
    </a:lastRow>
    <a:firstRow>
      <a:tcTxStyle b="on">
        <a:fontRef idx="minor">
          <a:scrgbClr r="0" g="0" b="0"/>
        </a:fontRef>
        <a:schemeClr val="lt1"/>
      </a:tcTxStyle>
      <a:tcStyle>
        <a:tcBdr/>
        <a:fill>
          <a:solidFill>
            <a:schemeClr val="accent3"/>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BC89EF96-8CEA-46FF-86C4-4CE0E7609802}" styleName="Light Style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0660B408-B3CF-4A94-85FC-2B1E0A45F4A2}" styleName="Dark Style 2 - Accent 1/Accent 2">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1">
              <a:tint val="20000"/>
            </a:schemeClr>
          </a:solidFill>
        </a:fill>
      </a:tcStyle>
    </a:lastRow>
    <a:firstRow>
      <a:tcTxStyle b="on">
        <a:fontRef idx="minor">
          <a:scrgbClr r="0" g="0" b="0"/>
        </a:fontRef>
        <a:schemeClr val="lt1"/>
      </a:tcTxStyle>
      <a:tcStyle>
        <a:tcBdr/>
        <a:fill>
          <a:solidFill>
            <a:schemeClr val="accent2"/>
          </a:solidFill>
        </a:fill>
      </a:tcStyle>
    </a:firstRow>
  </a:tblStyle>
  <a:tblStyle styleId="{72833802-FEF1-4C79-8D5D-14CF1EAF98D9}" styleName="Light Style 2 - Accent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 styleId="{912C8C85-51F0-491E-9774-3900AFEF0FD7}" styleName="Light Style 2 - Accent 6">
    <a:wholeTbl>
      <a:tcTxStyle>
        <a:fontRef idx="minor">
          <a:scrgbClr r="0" g="0" b="0"/>
        </a:fontRef>
        <a:schemeClr val="tx1"/>
      </a:tcTxStyle>
      <a:tcStyle>
        <a:tcBdr>
          <a:left>
            <a:lnRef idx="1">
              <a:schemeClr val="accent6"/>
            </a:lnRef>
          </a:left>
          <a:right>
            <a:lnRef idx="1">
              <a:schemeClr val="accent6"/>
            </a:lnRef>
          </a:right>
          <a:top>
            <a:lnRef idx="1">
              <a:schemeClr val="accent6"/>
            </a:lnRef>
          </a:top>
          <a:bottom>
            <a:lnRef idx="1">
              <a:schemeClr val="accent6"/>
            </a:lnRef>
          </a:bottom>
          <a:insideH>
            <a:ln>
              <a:noFill/>
            </a:ln>
          </a:insideH>
          <a:insideV>
            <a:ln>
              <a:noFill/>
            </a:ln>
          </a:insideV>
        </a:tcBdr>
        <a:fill>
          <a:noFill/>
        </a:fill>
      </a:tcStyle>
    </a:wholeTbl>
    <a:band1H>
      <a:tcStyle>
        <a:tcBdr>
          <a:top>
            <a:lnRef idx="1">
              <a:schemeClr val="accent6"/>
            </a:lnRef>
          </a:top>
          <a:bottom>
            <a:lnRef idx="1">
              <a:schemeClr val="accent6"/>
            </a:lnRef>
          </a:bottom>
        </a:tcBdr>
      </a:tcStyle>
    </a:band1H>
    <a:band1V>
      <a:tcStyle>
        <a:tcBdr>
          <a:left>
            <a:lnRef idx="1">
              <a:schemeClr val="accent6"/>
            </a:lnRef>
          </a:left>
          <a:right>
            <a:lnRef idx="1">
              <a:schemeClr val="accent6"/>
            </a:lnRef>
          </a:right>
        </a:tcBdr>
      </a:tcStyle>
    </a:band1V>
    <a:band2V>
      <a:tcStyle>
        <a:tcBdr>
          <a:left>
            <a:lnRef idx="1">
              <a:schemeClr val="accent6"/>
            </a:lnRef>
          </a:left>
          <a:right>
            <a:lnRef idx="1">
              <a:schemeClr val="accent6"/>
            </a:lnRef>
          </a:right>
        </a:tcBdr>
      </a:tcStyle>
    </a:band2V>
    <a:lastCol>
      <a:tcTxStyle b="on"/>
      <a:tcStyle>
        <a:tcBdr/>
      </a:tcStyle>
    </a:lastCol>
    <a:firstCol>
      <a:tcTxStyle b="on"/>
      <a:tcStyle>
        <a:tcBdr/>
      </a:tcStyle>
    </a:firstCol>
    <a:lastRow>
      <a:tcTxStyle b="on"/>
      <a:tcStyle>
        <a:tcBdr>
          <a:top>
            <a:ln w="50800" cmpd="dbl">
              <a:solidFill>
                <a:schemeClr val="accent6"/>
              </a:solidFill>
            </a:ln>
          </a:top>
        </a:tcBdr>
      </a:tcStyle>
    </a:lastRow>
    <a:firstRow>
      <a:tcTxStyle b="on">
        <a:fontRef idx="minor">
          <a:scrgbClr r="0" g="0" b="0"/>
        </a:fontRef>
        <a:schemeClr val="bg1"/>
      </a:tcTxStyle>
      <a:tcStyle>
        <a:tcBdr/>
        <a:fillRef idx="1">
          <a:schemeClr val="accent6"/>
        </a:fillRef>
      </a:tcStyle>
    </a:firstRow>
  </a:tblStyle>
  <a:tblStyle styleId="{16D9F66E-5EB9-4882-86FB-DCBF35E3C3E4}" styleName="Medium Style 4 - Accent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solidFill>
            <a:schemeClr val="accent6">
              <a:tint val="20000"/>
            </a:schemeClr>
          </a:solidFill>
        </a:fill>
      </a:tcStyle>
    </a:wholeTbl>
    <a:band1H>
      <a:tcStyle>
        <a:tcBdr/>
        <a:fill>
          <a:solidFill>
            <a:schemeClr val="accent6">
              <a:tint val="40000"/>
            </a:schemeClr>
          </a:solidFill>
        </a:fill>
      </a:tcStyle>
    </a:band1H>
    <a:band1V>
      <a:tcStyle>
        <a:tcBdr/>
        <a:fill>
          <a:solidFill>
            <a:schemeClr val="accent6">
              <a:tint val="40000"/>
            </a:schemeClr>
          </a:solidFill>
        </a:fill>
      </a:tcStyle>
    </a:band1V>
    <a:lastCol>
      <a:tcTxStyle b="on"/>
      <a:tcStyle>
        <a:tcBdr/>
      </a:tcStyle>
    </a:lastCol>
    <a:firstCol>
      <a:tcTxStyle b="on"/>
      <a:tcStyle>
        <a:tcBdr/>
      </a:tcStyle>
    </a:firstCol>
    <a:lastRow>
      <a:tcTxStyle b="on"/>
      <a:tcStyle>
        <a:tcBdr>
          <a:top>
            <a:ln w="25400" cmpd="sng">
              <a:solidFill>
                <a:schemeClr val="accent6"/>
              </a:solidFill>
            </a:ln>
          </a:top>
        </a:tcBdr>
        <a:fill>
          <a:solidFill>
            <a:schemeClr val="accent6">
              <a:tint val="20000"/>
            </a:schemeClr>
          </a:solidFill>
        </a:fill>
      </a:tcStyle>
    </a:lastRow>
    <a:firstRow>
      <a:tcTxStyle b="on"/>
      <a:tcStyle>
        <a:tcBdr/>
        <a:fill>
          <a:solidFill>
            <a:schemeClr val="accent6">
              <a:tint val="20000"/>
            </a:schemeClr>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85BE263C-DBD7-4A20-BB59-AAB30ACAA65A}" styleName="Medium Style 3 - Accent 2">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2"/>
          </a:solidFill>
        </a:fill>
      </a:tcStyle>
    </a:lastCol>
    <a:firstCol>
      <a:tcTxStyle b="on">
        <a:fontRef idx="minor">
          <a:scrgbClr r="0" g="0" b="0"/>
        </a:fontRef>
        <a:schemeClr val="lt1"/>
      </a:tcTxStyle>
      <a:tcStyle>
        <a:tcBdr/>
        <a:fill>
          <a:solidFill>
            <a:schemeClr val="accent2"/>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2"/>
          </a:solidFill>
        </a:fill>
      </a:tcStyle>
    </a:firstRow>
  </a:tblStyle>
  <a:tblStyle styleId="{793D81CF-94F2-401A-BA57-92F5A7B2D0C5}" styleName="Medium Style 1">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lt1"/>
          </a:solidFill>
        </a:fill>
      </a:tcStyle>
    </a:lastRow>
    <a:firstRow>
      <a:tcTxStyle b="on">
        <a:fontRef idx="minor">
          <a:scrgbClr r="0" g="0" b="0"/>
        </a:fontRef>
        <a:schemeClr val="lt1"/>
      </a:tcTxStyle>
      <a:tcStyle>
        <a:tcBdr/>
        <a:fill>
          <a:solidFill>
            <a:schemeClr val="dk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C4B1156A-380E-4F78-BDF5-A606A8083BF9}" styleName="Medium Style 4 - Accent 4">
    <a:wholeTbl>
      <a:tcTxStyle>
        <a:fontRef idx="minor">
          <a:scrgbClr r="0" g="0" b="0"/>
        </a:fontRef>
        <a:schemeClr val="dk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solidFill>
            <a:schemeClr val="accent4">
              <a:tint val="20000"/>
            </a:schemeClr>
          </a:solidFill>
        </a:fill>
      </a:tcStyle>
    </a:wholeTbl>
    <a:band1H>
      <a:tcStyle>
        <a:tcBdr/>
        <a:fill>
          <a:solidFill>
            <a:schemeClr val="accent4">
              <a:tint val="40000"/>
            </a:schemeClr>
          </a:solidFill>
        </a:fill>
      </a:tcStyle>
    </a:band1H>
    <a:band1V>
      <a:tcStyle>
        <a:tcBdr/>
        <a:fill>
          <a:solidFill>
            <a:schemeClr val="accent4">
              <a:tint val="40000"/>
            </a:schemeClr>
          </a:solidFill>
        </a:fill>
      </a:tcStyle>
    </a:band1V>
    <a:lastCol>
      <a:tcTxStyle b="on"/>
      <a:tcStyle>
        <a:tcBdr/>
      </a:tcStyle>
    </a:lastCol>
    <a:firstCol>
      <a:tcTxStyle b="on"/>
      <a:tcStyle>
        <a:tcBdr/>
      </a:tcStyle>
    </a:firstCol>
    <a:lastRow>
      <a:tcTxStyle b="on"/>
      <a:tcStyle>
        <a:tcBdr>
          <a:top>
            <a:ln w="25400" cmpd="sng">
              <a:solidFill>
                <a:schemeClr val="accent4"/>
              </a:solidFill>
            </a:ln>
          </a:top>
        </a:tcBdr>
        <a:fill>
          <a:solidFill>
            <a:schemeClr val="accent4">
              <a:tint val="20000"/>
            </a:schemeClr>
          </a:solidFill>
        </a:fill>
      </a:tcStyle>
    </a:lastRow>
    <a:firstRow>
      <a:tcTxStyle b="on"/>
      <a:tcStyle>
        <a:tcBdr/>
        <a:fill>
          <a:solidFill>
            <a:schemeClr val="accent4">
              <a:tint val="20000"/>
            </a:schemeClr>
          </a:solidFill>
        </a:fill>
      </a:tcStyle>
    </a:firstRow>
  </a:tblStyle>
  <a:tblStyle styleId="{69CF1AB2-1976-4502-BF36-3FF5EA218861}" styleName="Medium Style 4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25400" cmpd="sng">
              <a:solidFill>
                <a:schemeClr val="accent1"/>
              </a:solidFill>
            </a:ln>
          </a:top>
        </a:tcBdr>
        <a:fill>
          <a:solidFill>
            <a:schemeClr val="accent1">
              <a:tint val="20000"/>
            </a:schemeClr>
          </a:solidFill>
        </a:fill>
      </a:tcStyle>
    </a:lastRow>
    <a:firstRow>
      <a:tcTxStyle b="on"/>
      <a:tcStyle>
        <a:tcBdr/>
        <a:fill>
          <a:solidFill>
            <a:schemeClr val="accent1">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80151" autoAdjust="0"/>
  </p:normalViewPr>
  <p:slideViewPr>
    <p:cSldViewPr snapToGrid="0">
      <p:cViewPr varScale="1">
        <p:scale>
          <a:sx n="85" d="100"/>
          <a:sy n="85" d="100"/>
        </p:scale>
        <p:origin x="1554" y="84"/>
      </p:cViewPr>
      <p:guideLst>
        <p:guide orient="horz" pos="2160"/>
        <p:guide pos="3840"/>
      </p:guideLst>
    </p:cSldViewPr>
  </p:slideViewPr>
  <p:notesTextViewPr>
    <p:cViewPr>
      <p:scale>
        <a:sx n="1" d="1"/>
        <a:sy n="1" d="1"/>
      </p:scale>
      <p:origin x="0" y="0"/>
    </p:cViewPr>
  </p:notesTextViewPr>
  <p:notesViewPr>
    <p:cSldViewPr snapToGrid="0">
      <p:cViewPr>
        <p:scale>
          <a:sx n="1" d="2"/>
          <a:sy n="1" d="2"/>
        </p:scale>
        <p:origin x="0" y="0"/>
      </p:cViewPr>
      <p:guideLst>
        <p:guide orient="horz" pos="2880"/>
        <p:guide pos="2160"/>
        <p:guide orient="horz" pos="2928"/>
      </p:guideLst>
    </p:cSldViewPr>
  </p:notes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Master" Target="slideMasters/slideMaster2.xml"/><Relationship Id="rId3" Type="http://schemas.openxmlformats.org/officeDocument/2006/relationships/slideMaster" Target="slideMasters/slideMaster3.xml"/><Relationship Id="rId4" Type="http://schemas.openxmlformats.org/officeDocument/2006/relationships/slideMaster" Target="slideMasters/slideMaster4.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9" Type="http://schemas.openxmlformats.org/officeDocument/2006/relationships/slide" Target="slides/slide5.xml"/><Relationship Id="rId10" Type="http://schemas.openxmlformats.org/officeDocument/2006/relationships/slide" Target="slides/slide8.xml"/><Relationship Id="rId11" Type="http://schemas.openxmlformats.org/officeDocument/2006/relationships/slide" Target="slides/slide9.xml"/><Relationship Id="rId12" Type="http://schemas.openxmlformats.org/officeDocument/2006/relationships/slide" Target="slides/slide10.xml"/><Relationship Id="rId13" Type="http://schemas.openxmlformats.org/officeDocument/2006/relationships/slide" Target="slides/slide11.xml"/><Relationship Id="rId14" Type="http://schemas.openxmlformats.org/officeDocument/2006/relationships/notesMaster" Target="notesMasters/notesMaster1.xml"/><Relationship Id="rId15" Type="http://schemas.openxmlformats.org/officeDocument/2006/relationships/handoutMaster" Target="handoutMasters/handoutMaster1.xml"/><Relationship Id="rId16" Type="http://schemas.openxmlformats.org/officeDocument/2006/relationships/tags" Target="tags/tag1.xml"/><Relationship Id="rId17" Type="http://schemas.openxmlformats.org/officeDocument/2006/relationships/presProps" Target="presProps.xml"/><Relationship Id="rId18" Type="http://schemas.openxmlformats.org/officeDocument/2006/relationships/viewProps" Target="viewProps.xml"/><Relationship Id="rId19" Type="http://schemas.openxmlformats.org/officeDocument/2006/relationships/theme" Target="theme/theme1.xml"/><Relationship Id="rId20" Type="http://schemas.openxmlformats.org/officeDocument/2006/relationships/tableStyles" Target="tableStyles.xml"/><Relationship Id="rId21" Type="http://schemas.microsoft.com/office/2018/10/relationships/authors" Target="authors.xml"/><Relationship Id="rId22" Type="http://schemas.openxmlformats.org/officeDocument/2006/relationships/slide" Target="slides/slide4.xml"/><Relationship Id="rId23" Type="http://schemas.openxmlformats.org/officeDocument/2006/relationships/slide" Target="slides/slide7.xml"/><Relationship Id="rId24" Type="http://schemas.openxmlformats.org/officeDocument/2006/relationships/slide" Target="slides/slide6.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Hours per employee</c:v>
                </c:pt>
              </c:strCache>
            </c:strRef>
          </c:tx>
          <c:dPt>
            <c:idx val="0"/>
            <c:spPr>
              <a:solidFill>
                <a:srgbClr val="B2BBBF"/>
              </a:solidFill>
            </c:spPr>
          </c:dPt>
          <c:dPt>
            <c:idx val="1"/>
            <c:spPr>
              <a:solidFill>
                <a:srgbClr val="DB3724"/>
              </a:solidFill>
            </c:spPr>
          </c:dPt>
          <c:cat>
            <c:strRef>
              <c:f>Sheet1!$A$2:$A$3</c:f>
              <c:strCache>
                <c:ptCount val="2"/>
                <c:pt idx="0">
                  <c:v>2024</c:v>
                </c:pt>
                <c:pt idx="1">
                  <c:v>2025</c:v>
                </c:pt>
              </c:strCache>
            </c:strRef>
          </c:cat>
          <c:val>
            <c:numRef>
              <c:f>Sheet1!$B$2:$B$3</c:f>
              <c:numCache>
                <c:formatCode>General</c:formatCode>
                <c:ptCount val="2"/>
                <c:pt idx="0">
                  <c:v>10.6</c:v>
                </c:pt>
                <c:pt idx="1">
                  <c:v>8.6</c:v>
                </c:pt>
              </c:numCache>
            </c:numRef>
          </c:val>
        </c:ser>
        <c:dLbls>
          <c:numFmt formatCode="0.0" sourceLinked="0"/>
          <c:txPr>
            <a:bodyPr/>
            <a:lstStyle/>
            <a:p>
              <a:pPr>
                <a:defRPr sz="1600" b="1"/>
              </a:pPr>
            </a:p>
          </c:txPr>
          <c:dLblPos val="outEnd"/>
          <c:showLegendKey val="0"/>
          <c:showVal val="1"/>
          <c:showCatName val="0"/>
          <c:showSerName val="0"/>
          <c:showPercent val="0"/>
          <c:showBubbleSize val="0"/>
          <c:showLeaderLines val="1"/>
        </c:dLbls>
        <c:gapWidth val="60"/>
        <c:axId val="-2068027336"/>
        <c:axId val="-2113994440"/>
      </c:barChart>
      <c:catAx>
        <c:axId val="-2068027336"/>
        <c:scaling>
          <c:orientation val="minMax"/>
        </c:scaling>
        <c:delete val="0"/>
        <c:axPos val="b"/>
        <c:majorTickMark val="out"/>
        <c:minorTickMark val="none"/>
        <c:tickLblPos val="nextTo"/>
        <c:spPr>
          <a:ln>
            <a:solidFill>
              <a:srgbClr val="B2BBBF"/>
            </a:solidFill>
          </a:ln>
        </c:spPr>
        <c:txPr>
          <a:bodyPr/>
          <a:lstStyle/>
          <a:p>
            <a:pPr>
              <a:defRPr sz="1400"/>
            </a:pPr>
          </a:p>
        </c:txPr>
        <c:crossAx val="-2113994440"/>
        <c:crosses val="autoZero"/>
        <c:auto val="1"/>
        <c:lblAlgn val="ctr"/>
        <c:lblOffset val="100"/>
        <c:noMultiLvlLbl val="0"/>
      </c:catAx>
      <c:valAx>
        <c:axId val="-2113994440"/>
        <c:scaling>
          <c:max val="13.0"/>
          <c:min val="0.0"/>
        </c:scaling>
        <c:delete/>
        <c:axPos val="l"/>
        <c:majorTickMark val="out"/>
        <c:minorTickMark val="none"/>
        <c:tickLblPos val="nextTo"/>
        <c:crossAx val="-2068027336"/>
        <c:crosses val="autoZero"/>
      </c:valAx>
    </c:plotArea>
    <c:dispBlanksAs val="gap"/>
  </c:chart>
  <c:txPr>
    <a:bodyPr/>
    <a:lstStyle/>
    <a:p>
      <a:pPr>
        <a:defRPr sz="1400">
          <a:solidFill>
            <a:srgbClr val="001823"/>
          </a:solidFill>
        </a:defRPr>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0"/>
  <c:chart>
    <c:autoTitleDeleted val="1"/>
    <c:plotArea>
      <c:layout/>
      <c:doughnutChart>
        <c:varyColors val="1"/>
        <c:ser>
          <c:idx val="0"/>
          <c:order val="0"/>
          <c:tx>
            <c:strRef>
              <c:f>Sheet1!$B$1</c:f>
              <c:strCache>
                <c:ptCount val="1"/>
                <c:pt idx="0">
                  <c:v>Share of employees</c:v>
                </c:pt>
              </c:strCache>
            </c:strRef>
          </c:tx>
          <c:dPt>
            <c:idx val="0"/>
            <c:spPr>
              <a:solidFill>
                <a:srgbClr val="5E7079"/>
              </a:solidFill>
            </c:spPr>
          </c:dPt>
          <c:dPt>
            <c:idx val="1"/>
            <c:spPr>
              <a:solidFill>
                <a:srgbClr val="001823"/>
              </a:solidFill>
            </c:spPr>
          </c:dPt>
          <c:dPt>
            <c:idx val="2"/>
            <c:spPr>
              <a:solidFill>
                <a:srgbClr val="DB3724"/>
              </a:solidFill>
            </c:spPr>
          </c:dPt>
          <c:cat>
            <c:strRef>
              <c:f>Sheet1!$A$2:$A$4</c:f>
              <c:strCache>
                <c:ptCount val="3"/>
                <c:pt idx="0">
                  <c:v>Under 30</c:v>
                </c:pt>
                <c:pt idx="1">
                  <c:v>30 to 50</c:v>
                </c:pt>
                <c:pt idx="2">
                  <c:v>Over 50</c:v>
                </c:pt>
              </c:strCache>
            </c:strRef>
          </c:cat>
          <c:val>
            <c:numRef>
              <c:f>Sheet1!$B$2:$B$4</c:f>
              <c:numCache>
                <c:formatCode>General</c:formatCode>
                <c:ptCount val="3"/>
                <c:pt idx="0">
                  <c:v>22</c:v>
                </c:pt>
                <c:pt idx="1">
                  <c:v>52</c:v>
                </c:pt>
                <c:pt idx="2">
                  <c:v>26</c:v>
                </c:pt>
              </c:numCache>
            </c:numRef>
          </c:val>
        </c:ser>
        <c:dLbls>
          <c:numFmt formatCode="0&quot;%&quot;" sourceLinked="0"/>
          <c:txPr>
            <a:bodyPr/>
            <a:lstStyle/>
            <a:p>
              <a:pPr>
                <a:defRPr sz="1400" b="1">
                  <a:solidFill>
                    <a:srgbClr val="FFFFFF"/>
                  </a:solidFill>
                </a:defRPr>
              </a:pPr>
            </a:p>
          </c:txPr>
          <c:showLegendKey val="0"/>
          <c:showVal val="1"/>
          <c:showCatName val="0"/>
          <c:showSerName val="0"/>
          <c:showPercent val="0"/>
          <c:showBubbleSize val="0"/>
          <c:showLeaderLines val="1"/>
        </c:dLbls>
        <c:firstSliceAng val="0"/>
        <c:holeSize val="50"/>
      </c:doughnutChart>
    </c:plotArea>
    <c:legend>
      <c:legendPos/>
      <c:layout/>
      <c:overlay val="0"/>
      <c:txPr>
        <a:bodyPr/>
        <a:lstStyle/>
        <a:p>
          <a:pPr>
            <a:defRPr sz="1200">
              <a:solidFill>
                <a:srgbClr val="001823"/>
              </a:solidFill>
            </a:defRPr>
          </a:pPr>
        </a:p>
      </c:txPr>
    </c:legend>
    <c:plotVisOnly val="1"/>
    <c:dispBlanksAs val="gap"/>
    <c:showDLblsOverMax val="0"/>
  </c:chart>
  <c:txPr>
    <a:bodyPr/>
    <a:lstStyle/>
    <a:p>
      <a:pPr>
        <a:defRPr sz="1800"/>
      </a:pPr>
      <a:endParaRPr/>
    </a:p>
  </c:txPr>
  <c:externalData r:id="rId1">
    <c:autoUpdate val="0"/>
  </c:externalData>
</c:chartSpace>
</file>

<file path=ppt/handoutMasters/_rels/handoutMaster1.xml.rels><?xml version='1.0' encoding='UTF-8' standalone='yes'?>
<Relationships xmlns="http://schemas.openxmlformats.org/package/2006/relationships"><Relationship Id="rId1" Type="http://schemas.openxmlformats.org/officeDocument/2006/relationships/theme" Target="../theme/theme6.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6482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64820"/>
          </a:xfrm>
          <a:prstGeom prst="rect">
            <a:avLst/>
          </a:prstGeom>
        </p:spPr>
        <p:txBody>
          <a:bodyPr vert="horz" lIns="91440" tIns="45720" rIns="91440" bIns="45720" rtlCol="0"/>
          <a:lstStyle>
            <a:lvl1pPr algn="r">
              <a:defRPr sz="1200"/>
            </a:lvl1pPr>
          </a:lstStyle>
          <a:p>
            <a:fld id="{2A5D5639-ECD0-4ACF-84BC-57574570052B}" type="datetimeFigureOut">
              <a:rPr lang="en-US" smtClean="0"/>
              <a:pPr/>
              <a:t>10/29/2025</a:t>
            </a:fld>
            <a:endParaRPr lang="en-US"/>
          </a:p>
        </p:txBody>
      </p:sp>
      <p:sp>
        <p:nvSpPr>
          <p:cNvPr id="4" name="Footer Placeholder 3"/>
          <p:cNvSpPr>
            <a:spLocks noGrp="1"/>
          </p:cNvSpPr>
          <p:nvPr>
            <p:ph type="ftr" sz="quarter" idx="2"/>
          </p:nvPr>
        </p:nvSpPr>
        <p:spPr>
          <a:xfrm>
            <a:off x="0" y="8829967"/>
            <a:ext cx="2971800" cy="464820"/>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829967"/>
            <a:ext cx="2971800" cy="464820"/>
          </a:xfrm>
          <a:prstGeom prst="rect">
            <a:avLst/>
          </a:prstGeom>
        </p:spPr>
        <p:txBody>
          <a:bodyPr vert="horz" lIns="91440" tIns="45720" rIns="91440" bIns="45720" rtlCol="0" anchor="b"/>
          <a:lstStyle>
            <a:lvl1pPr algn="r">
              <a:defRPr sz="1200"/>
            </a:lvl1pPr>
          </a:lstStyle>
          <a:p>
            <a:fld id="{45D68E73-8210-4EF2-A30A-382F417BFE86}" type="slidenum">
              <a:rPr lang="en-US" smtClean="0"/>
              <a:pPr/>
              <a:t>‹#›</a:t>
            </a:fld>
            <a:endParaRPr lang="en-US"/>
          </a:p>
        </p:txBody>
      </p:sp>
    </p:spTree>
    <p:extLst>
      <p:ext uri="{BB962C8B-B14F-4D97-AF65-F5344CB8AC3E}">
        <p14:creationId xmlns:p14="http://schemas.microsoft.com/office/powerpoint/2010/main" val="414257105"/>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6482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64820"/>
          </a:xfrm>
          <a:prstGeom prst="rect">
            <a:avLst/>
          </a:prstGeom>
        </p:spPr>
        <p:txBody>
          <a:bodyPr vert="horz" lIns="91440" tIns="45720" rIns="91440" bIns="45720" rtlCol="0"/>
          <a:lstStyle>
            <a:lvl1pPr algn="r">
              <a:defRPr sz="1200"/>
            </a:lvl1pPr>
          </a:lstStyle>
          <a:p>
            <a:fld id="{0BEE9D5E-A315-4834-B4FE-51F9A418A40C}" type="datetimeFigureOut">
              <a:rPr lang="en-US" smtClean="0"/>
              <a:pPr/>
              <a:t>10/29/2025</a:t>
            </a:fld>
            <a:endParaRPr lang="en-US"/>
          </a:p>
        </p:txBody>
      </p:sp>
      <p:sp>
        <p:nvSpPr>
          <p:cNvPr id="4" name="Slide Image Placeholder 3"/>
          <p:cNvSpPr>
            <a:spLocks noGrp="1" noRot="1" noChangeAspect="1"/>
          </p:cNvSpPr>
          <p:nvPr>
            <p:ph type="sldImg" idx="2"/>
          </p:nvPr>
        </p:nvSpPr>
        <p:spPr>
          <a:xfrm>
            <a:off x="330200" y="696913"/>
            <a:ext cx="6197600" cy="348615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15790"/>
            <a:ext cx="5486400" cy="418338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829967"/>
            <a:ext cx="2971800" cy="46482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829967"/>
            <a:ext cx="2971800" cy="464820"/>
          </a:xfrm>
          <a:prstGeom prst="rect">
            <a:avLst/>
          </a:prstGeom>
        </p:spPr>
        <p:txBody>
          <a:bodyPr vert="horz" lIns="91440" tIns="45720" rIns="91440" bIns="45720" rtlCol="0" anchor="b"/>
          <a:lstStyle>
            <a:lvl1pPr algn="r">
              <a:defRPr sz="1200"/>
            </a:lvl1pPr>
          </a:lstStyle>
          <a:p>
            <a:fld id="{0A099918-4ABA-4193-B11B-66C488F86D05}" type="slidenum">
              <a:rPr lang="en-US" smtClean="0"/>
              <a:pPr/>
              <a:t>‹#›</a:t>
            </a:fld>
            <a:endParaRPr lang="en-US"/>
          </a:p>
        </p:txBody>
      </p:sp>
    </p:spTree>
    <p:extLst>
      <p:ext uri="{BB962C8B-B14F-4D97-AF65-F5344CB8AC3E}">
        <p14:creationId xmlns:p14="http://schemas.microsoft.com/office/powerpoint/2010/main" val="61315709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[About 1.5 minutes]</a:t>
            </a:r>
          </a:p>
          <a:p>
            <a:r>
              <a:t>I see three misalignments. I want to be clear that these are inferences from public evidence, and I would welcome correction from people who see the inside.</a:t>
            </a:r>
          </a:p>
          <a:p/>
          <a:p>
            <a:r>
              <a:t>One: siloed AI and data. Five standalone divisions each advance their own technology agenda. Supply Chain is scaling robotics with Boston Dynamics (Boston Dynamics, 2025). Express launched AI item identification for customs (DHL Group, 2026d). Global Forwarding signed a memorandum of understanding with Alibaba.com to put freight quoting into an AI agent (DHL Group, 2026c). Each initiative is sensible. But without a shared layer, the risks are duplicated spending, different data standards, and lessons that do not travel between divisions.</a:t>
            </a:r>
          </a:p>
          <a:p/>
          <a:p>
            <a:r>
              <a:t>Two: governance is still catching up with the pace. In June 2026, DHL appointed a Head of Global Legal AI Governance, effective July, to develop and roll out a single, consistent AI governance framework across global operations (Leaders League, 2026). That is the right move, and it also signals that a uniform framework was still being built while pilots were already live.</a:t>
            </a:r>
          </a:p>
          <a:p/>
          <a:p>
            <a:r>
              <a:t>Three: people investment is lagging the technology. Look at the chart. Training hours per employee fell from 10.6 in 2024 to 8.6 in 2025, and total training hours dropped from 6.3 million to 5.0 million, about 21 percent (DHL Group, 2026e). Meanwhile roughly 20 percent of employees leave in a given year (DHL Group, 2026e), and DHL's own Logistics Trend Radar expects AI, automation, and robotics to reshape hundreds of roles (DHL Group, 2026b). "Employer of Choice" requires reskilling capacity that moves at the speed of the technology. A fair caution: the drop in training hours might partly reflect how hours are counted, so I treat it as a question to validate with HR, not a verdict.</a:t>
            </a:r>
          </a:p>
          <a:p/>
          <a:p>
            <a:r>
              <a:t>Together, these three gaps point to the same need: a way to coordinate AI, data, and workforce decisions across divisions without removing the divisional autonomy that drives growth.</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[Opening, about 30 seconds]</a:t>
            </a:r>
          </a:p>
          <a:p>
            <a:r>
              <a:t>Good morning/afternoon, everyone, and thank you for the time. I'm Amar Mohite, and over the next 15 minutes or so I'll walk you through how DHL Group can adjust its organizational design to respond to two forces that are already reshaping logistics: a changing workforce and customer base, and an extraordinarily fast cycle of new technology.</a:t>
            </a:r>
          </a:p>
          <a:p/>
          <a:p>
            <a:r>
              <a:t>Here is the road map. First, a quick introduction to DHL and its strategic goals. Second, how the organization is structured today and where I see gaps. Third, the demographic trends inside our workforce and among our customers, how AI-driven analysis can help, and two risks we must manage. Fourth, the technology trends. And finally, one specific structural recommendation, how it reflects ethical professional practice, and a short conclusion.</a:t>
            </a:r>
          </a:p>
          <a:p/>
          <a:p>
            <a:r>
              <a:t>A note on sources. The facts about DHL come from the Group's 2025 annual report, its 2026 business profile, and its press releases. Where I am interpreting rather than reporting, for example when I label the structure type or name a misalignment, I will say so, because DHL does not publish those judgments.</a:t>
            </a:r>
          </a:p>
          <a:p/>
          <a:p>
            <a:r>
              <a:t>[Presenter reminder: add the faculty member's name and the submission date on this slide before submitting.]</a:t>
            </a:r>
          </a:p>
        </p:txBody>
      </p:sp>
      <p:sp>
        <p:nvSpPr>
          <p:cNvPr id="4" name="Slide Number Placeholder 3"/>
          <p:cNvSpPr>
            <a:spLocks noGrp="1"/>
          </p:cNvSpPr>
          <p:nvPr>
            <p:ph type="sldNum" sz="quarter" idx="5"/>
          </p:nvPr>
        </p:nvSpPr>
        <p:spPr/>
        <p:txBody>
          <a:bodyPr/>
          <a:lstStyle/>
          <a:p>
            <a:fld id="{0A099918-4ABA-4193-B11B-66C488F86D05}" type="slidenum">
              <a:rPr lang="en-US" smtClean="0"/>
              <a:pPr/>
              <a:t>2</a:t>
            </a:fld>
            <a:endParaRPr lang="en-US"/>
          </a:p>
        </p:txBody>
      </p:sp>
    </p:spTree>
    <p:extLst>
      <p:ext uri="{BB962C8B-B14F-4D97-AF65-F5344CB8AC3E}">
        <p14:creationId xmlns:p14="http://schemas.microsoft.com/office/powerpoint/2010/main" val="321394744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[About 1.5 minutes]</a:t>
            </a:r>
          </a:p>
          <a:p>
            <a:r>
              <a:t>Let me start with scale, because scale is why structure matters. At the end of 2025, DHL Group employed 583,998 people and served customers in more than 220 countries and territories. Revenue was about 82.9 billion euros and operating profit, EBIT, was about 6.1 billion euros (DHL Group, 2026a; 2026e). DHL operates in the global logistics industry, through five divisions: Express, Global Forwarding and Freight, Supply Chain, eCommerce, and Post &amp; Parcel Germany.</a:t>
            </a:r>
          </a:p>
          <a:p/>
          <a:p>
            <a:r>
              <a:t>Now the strategic goals. DHL's framework is Strategy 2030, titled "Accelerate sustainable growth." It rests on four "bottom lines" (DHL Group, n.d.).</a:t>
            </a:r>
          </a:p>
          <a:p/>
          <a:p>
            <a:r>
              <a:t>Employer of Choice. The Group targets employee engagement of at least 80 percent, and it reached 82 percent in 2025. It also targets at least 34 percent women in middle and upper management by 2030 (DHL Group, 2026a; 2026e).</a:t>
            </a:r>
          </a:p>
          <a:p/>
          <a:p>
            <a:r>
              <a:t>Provider of Choice. The ambition is to grow faster than the industry average, mainly through e-commerce, Life Sciences and Healthcare, New Energy, and priority growth regions: Mexico, Brazil, Thailand, and India (DHL Group, 2026e).</a:t>
            </a:r>
          </a:p>
          <a:p/>
          <a:p>
            <a:r>
              <a:t>Investment of Choice. Guidance for 2026 calls for EBIT above 6.2 billion euros, supported by a structural cost program called "Fit for Growth" (DHL Group, 2026e).</a:t>
            </a:r>
          </a:p>
          <a:p/>
          <a:p>
            <a:r>
              <a:t>Green Logistics of Choice. Logistics emissions below 29 million tonnes of CO2 equivalent by 2030, and net zero by 2050 (DHL Group, 2026a).</a:t>
            </a:r>
          </a:p>
          <a:p/>
          <a:p>
            <a:r>
              <a:t>One transparency point: DHL does not publish a single sentence that says "our goals are X." I synthesized these four from Strategy 2030 and the annual report, which is the kind of inference this assessment asks for. Keep these four goals in mind, because every structural judgment that follows is measured against them.</a:t>
            </a:r>
          </a:p>
        </p:txBody>
      </p:sp>
      <p:sp>
        <p:nvSpPr>
          <p:cNvPr id="4" name="Slide Number Placeholder 3"/>
          <p:cNvSpPr>
            <a:spLocks noGrp="1"/>
          </p:cNvSpPr>
          <p:nvPr>
            <p:ph type="sldNum" sz="quarter" idx="5"/>
          </p:nvPr>
        </p:nvSpPr>
        <p:spPr/>
        <p:txBody>
          <a:bodyPr/>
          <a:lstStyle/>
          <a:p>
            <a:fld id="{0A099918-4ABA-4193-B11B-66C488F86D05}" type="slidenum">
              <a:rPr lang="en-US" smtClean="0"/>
              <a:pPr/>
              <a:t>3</a:t>
            </a:fld>
            <a:endParaRPr lang="en-US"/>
          </a:p>
        </p:txBody>
      </p:sp>
    </p:spTree>
    <p:extLst>
      <p:ext uri="{BB962C8B-B14F-4D97-AF65-F5344CB8AC3E}">
        <p14:creationId xmlns:p14="http://schemas.microsoft.com/office/powerpoint/2010/main" val="217255342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[About 1.5 minutes]</a:t>
            </a:r>
          </a:p>
          <a:p>
            <a:r>
              <a:t>Here is how DHL is organized. At the top is DHL AG, which, since September 1, 2026, is the publicly listed parent company. It handles strategic management, governance, and cross-divisional functions (DHL Group, 2026f). Germany's mail and parcel business continues as Deutsche Post AG, a subsidiary of DHL AG.</a:t>
            </a:r>
          </a:p>
          <a:p/>
          <a:p>
            <a:r>
              <a:t>Beneath it sits a centralized Corporate Center, which the annual report describes as holding Group management functions: the CEO office, Finance, Human Resources, Global Business Services for shared internal services, and Customer Solutions &amp; Innovation, the cross-divisional key-account and innovation unit (DHL Group, 2026e).</a:t>
            </a:r>
          </a:p>
          <a:p/>
          <a:p>
            <a:r>
              <a:t>Then the five divisions. Each has its own divisional headquarters and, as of the reorganization, each is its own legal entity. The boxes show headcount and share of 2025 revenue: Express, 110,626 people and 28.7 percent of revenue; Global Forwarding, 44,888 and 20.9 percent; Supply Chain, 186,554 and 21.3 percent; eCommerce, 47,262 and 8.0 percent; and Post &amp; Parcel Germany, 181,743 and 21.0 percent.</a:t>
            </a:r>
          </a:p>
          <a:p/>
          <a:p>
            <a:r>
              <a:t>My assessment, and this is my label rather than DHL's, is that this is a multi-divisional hierarchy with a strong center, plus matrix overlays in the form of cross-divisional management bodies for Life Sciences &amp; Healthcare and New Energy (DHL Group, 2026e).</a:t>
            </a:r>
          </a:p>
          <a:p/>
          <a:p>
            <a:r>
              <a:t>Alignment with strategy is largely good. Divisional focus supports the "Provider of Choice" growth goals. The new legal structure lines ownership up with how the business is actually managed, which DHL says better aligns the legal organization with its international business (DHL Group, 2026f). And shared services give scale.</a:t>
            </a:r>
          </a:p>
          <a:p/>
          <a:p>
            <a:r>
              <a:t>The watch item is on the bottom right: the autonomy that serves growth can slow Group-wide standards, particularly for data and AI. That is the thread I pull on next.</a:t>
            </a:r>
          </a:p>
        </p:txBody>
      </p:sp>
      <p:sp>
        <p:nvSpPr>
          <p:cNvPr id="4" name="Slide Number Placeholder 3"/>
          <p:cNvSpPr>
            <a:spLocks noGrp="1"/>
          </p:cNvSpPr>
          <p:nvPr>
            <p:ph type="sldNum" sz="quarter" idx="5"/>
          </p:nvPr>
        </p:nvSpPr>
        <p:spPr/>
        <p:txBody>
          <a:bodyPr/>
          <a:lstStyle/>
          <a:p>
            <a:fld id="{0A099918-4ABA-4193-B11B-66C488F86D05}" type="slidenum">
              <a:rPr lang="en-US" smtClean="0"/>
              <a:pPr/>
              <a:t>4</a:t>
            </a:fld>
            <a:endParaRPr lang="en-US"/>
          </a:p>
        </p:txBody>
      </p:sp>
    </p:spTree>
    <p:extLst>
      <p:ext uri="{BB962C8B-B14F-4D97-AF65-F5344CB8AC3E}">
        <p14:creationId xmlns:p14="http://schemas.microsoft.com/office/powerpoint/2010/main" val="201629734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[About 2 minutes]</a:t>
            </a:r>
          </a:p>
          <a:p>
            <a:r>
              <a:t>Now demographics, both inside the workforce and outside, among customers.</a:t>
            </a:r>
          </a:p>
          <a:p/>
          <a:p>
            <a:r>
              <a:t>Workforce first. DHL's average employee age is 41. About 22 percent of employees are under 30, 52 percent are between 30 and 50, and 26 percent are over 50 (DHL Group, 2026e). The more striking number is in management: 44 percent of middle and upper managers are over 50, and fewer than 1 percent are under 30. That is a succession wave forming. Women make up about 33.5 percent of employees, 195,523 of 583,998, and 29.0 percent of management against a goal of at least 34 percent by 2030 (DHL Group, 2026e).</a:t>
            </a:r>
          </a:p>
          <a:p/>
          <a:p>
            <a:r>
              <a:t>Geography matters too. Germany is DHL's largest workforce, 209,943 people, about 36 percent of the total (DHL Group, 2026e). Germany's Federal Statistical Office projects that one in four residents will be 67 or older by 2035, and its working-age population is expected to keep falling until the mid-2030s (Statistisches Bundesamt, 2025). A closely related signal from trucking: the International Road Transport Union reports that 45 percent of German truck drivers are over 55 and only 2.6 percent are under 25 (Pölös, 2025).</a:t>
            </a:r>
          </a:p>
          <a:p/>
          <a:p>
            <a:r>
              <a:t>Customers are splitting by generation too. In DHL's 2026 e-commerce survey of 29,000 shoppers across 29 countries, 58 percent of Gen Z had bought through TikTok, and 53 percent of Gen Z and Millennials buy across borders at least monthly. Among Baby Boomers, 55 percent prefer out-of-home pick-up points, and 56 percent never use AI chat tools (DHL eCommerce, 2026).</a:t>
            </a:r>
          </a:p>
          <a:p/>
          <a:p>
            <a:r>
              <a:t>So what does it mean? The opportunity in workforce planning is a young talent pipeline alongside experienced staff who can mentor them. For customers, it is generation-specific service. The challenges are a management succession gap, an ageing home market, and trust: 58 percent of shoppers name privacy and security as their top concern about AI (DHL eCommerce, 2026).</a:t>
            </a:r>
          </a:p>
        </p:txBody>
      </p:sp>
      <p:sp>
        <p:nvSpPr>
          <p:cNvPr id="4" name="Slide Number Placeholder 3"/>
          <p:cNvSpPr>
            <a:spLocks noGrp="1"/>
          </p:cNvSpPr>
          <p:nvPr>
            <p:ph type="sldNum" sz="quarter" idx="5"/>
          </p:nvPr>
        </p:nvSpPr>
        <p:spPr/>
        <p:txBody>
          <a:bodyPr/>
          <a:lstStyle/>
          <a:p>
            <a:fld id="{0A099918-4ABA-4193-B11B-66C488F86D05}" type="slidenum">
              <a:rPr lang="en-US" smtClean="0"/>
              <a:pPr/>
              <a:t>5</a:t>
            </a:fld>
            <a:endParaRPr lang="en-US"/>
          </a:p>
        </p:txBody>
      </p:sp>
    </p:spTree>
    <p:extLst>
      <p:ext uri="{BB962C8B-B14F-4D97-AF65-F5344CB8AC3E}">
        <p14:creationId xmlns:p14="http://schemas.microsoft.com/office/powerpoint/2010/main" val="380814583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[About 2 minutes]</a:t>
            </a:r>
          </a:p>
          <a:p>
            <a:r>
              <a:t>On technology, I see three arenas, operations, customer interactions, and competition, and one overarching theme: the pace.</a:t>
            </a:r>
          </a:p>
          <a:p/>
          <a:p>
            <a:r>
              <a:t>Operations. As of May 2025, DHL operated more than 7,500 robots across its network, and it signed a memorandum of understanding for more than 1,000 additional Stretch robots from Boston Dynamics. Stretch has unloaded containers at up to 700 cases per hour, and DHL plans to add case picking, which it calls the most labor-intensive activity in DHL Supply Chain (Boston Dynamics, 2025). DHL's Logistics Trend Radar 8.0, published September 24, 2026, says AI is moving from helping people do tasks to acting autonomously, so-called agentic AI, with humanoid robots a longer-term trend (DHL Group, 2026b).</a:t>
            </a:r>
          </a:p>
          <a:p/>
          <a:p>
            <a:r>
              <a:t>Customer interactions. Since May 2026, DHL Express customers in eight countries can photograph an item and receive a customs-ready description that they can edit (DHL Group, 2026d). In September 2026, DHL and Alibaba.com signed a memorandum of understanding to let small and medium-sized businesses get freight quotes and book shipments through Alibaba's AI agent, Accio (DHL Group, 2026c). Internally, DHL runs an AI-enabled search tool for roughly 600,000 employees (Economist Enterprise, 2026).</a:t>
            </a:r>
          </a:p>
          <a:p/>
          <a:p>
            <a:r>
              <a:t>Competition. UPS reports that 97 percent of its shipments clear customs on the first day with AI-enabled brokerage, operates a real-time digital twin of its network that refreshes every ten minutes, and is deploying an agentic "control tower" for disruptions (UPS, 2026). Those are company-reported figures. Gartner expects more than 70 percent of enterprise supply chain organizations to adopt physical AI, collaborative robots, and automated storage systems by 2028 (Supply Chain Digital, 2026).</a:t>
            </a:r>
          </a:p>
          <a:p/>
          <a:p>
            <a:r>
              <a:t>The implication is in the banner. The technology cycle now outruns the annual planning cycle. The Radar added four new trends in one edition: agentic AI, AI commerce, the compute economy, and humanoids (DHL Group, 2026b). Agility means shortening the path from pilot to scale. Innovation means sharing what works across all five divisions rather than rediscovering it five times.</a:t>
            </a:r>
          </a:p>
        </p:txBody>
      </p:sp>
      <p:sp>
        <p:nvSpPr>
          <p:cNvPr id="4" name="Slide Number Placeholder 3"/>
          <p:cNvSpPr>
            <a:spLocks noGrp="1"/>
          </p:cNvSpPr>
          <p:nvPr>
            <p:ph type="sldNum" sz="quarter" idx="5"/>
          </p:nvPr>
        </p:nvSpPr>
        <p:spPr/>
        <p:txBody>
          <a:bodyPr/>
          <a:lstStyle/>
          <a:p>
            <a:fld id="{0A099918-4ABA-4193-B11B-66C488F86D05}" type="slidenum">
              <a:rPr lang="en-US" smtClean="0"/>
              <a:pPr/>
              <a:t>6</a:t>
            </a:fld>
            <a:endParaRPr lang="en-US"/>
          </a:p>
        </p:txBody>
      </p:sp>
    </p:spTree>
    <p:extLst>
      <p:ext uri="{BB962C8B-B14F-4D97-AF65-F5344CB8AC3E}">
        <p14:creationId xmlns:p14="http://schemas.microsoft.com/office/powerpoint/2010/main" val="49693288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[About 2 minutes]</a:t>
            </a:r>
          </a:p>
          <a:p>
            <a:r>
              <a:t>My recommendation is one structural change: create a hub-and-spoke AI &amp; Workforce Intelligence Hub at the Corporate Center of DHL AG. A Chief AI Officer, reporting to the CEO, leads the hub. The hub owns shared data standards, model governance, bias testing, and the workforce and customer analytics. Each of the five divisions keeps its autonomy and adds an embedded AI lead, the spokes, who sets priorities locally and uses the shared platform. It is federated, not centralized: the hub sets guardrails and shares tools, and the divisions own the outcomes.</a:t>
            </a:r>
          </a:p>
          <a:p/>
          <a:p>
            <a:r>
              <a:t>Why does this improve responsiveness? First, demographic signals, such as a retirement wave in Germany or a shift in customer cohorts, reach every division through one data and model layer. Second, successful pilots, for example robotics or agentic quoting, move through one governed pipeline to scale instead of through five separate ones. Third, the hub reviews technology trends quarterly, matching the pace of DHL's Trend Radar rather than the annual plan.</a:t>
            </a:r>
          </a:p>
          <a:p/>
          <a:p>
            <a:r>
              <a:t>Why is it ethical? Three principles.</a:t>
            </a:r>
          </a:p>
          <a:p>
            <a:r>
              <a:t>Accountability: a named executive owns AI outcomes, every AI use case has a business owner, and decisions are logged.</a:t>
            </a:r>
          </a:p>
          <a:p>
            <a:r>
              <a:t>Transparency: a Group-wide AI inventory; employees and customers told when AI is used, which the EU AI Act requires for customer-facing systems and which DHL already does (Economist Enterprise, 2026); and audit summaries shared with works councils.</a:t>
            </a:r>
          </a:p>
          <a:p>
            <a:r>
              <a:t>Fairness: bias testing before and after launch, a human with the final say on people decisions, and an appeal path for employees.</a:t>
            </a:r>
          </a:p>
          <a:p/>
          <a:p>
            <a:r>
              <a:t>This builds on what DHL has already started: the Head of Global Legal AI Governance role (Leaders League, 2026) and risk-tiered review. It turns a legal workstream into a permanent part of the organization chart.</a:t>
            </a:r>
          </a:p>
          <a:p/>
          <a:p>
            <a:r>
              <a:t>How would we know it is working? I would track pilot-to-scale time, bias-audit pass rates, engagement against the 80 percent target, training hours per employee recovering above 10, and women in management moving toward 34 percent. The main risk is a hub that becomes a bottleneck, which is why the spokes are embedded and carry decision rights.</a:t>
            </a:r>
          </a:p>
        </p:txBody>
      </p:sp>
      <p:sp>
        <p:nvSpPr>
          <p:cNvPr id="4" name="Slide Number Placeholder 3"/>
          <p:cNvSpPr>
            <a:spLocks noGrp="1"/>
          </p:cNvSpPr>
          <p:nvPr>
            <p:ph type="sldNum" sz="quarter" idx="5"/>
          </p:nvPr>
        </p:nvSpPr>
        <p:spPr/>
        <p:txBody>
          <a:bodyPr/>
          <a:lstStyle/>
          <a:p>
            <a:fld id="{0A099918-4ABA-4193-B11B-66C488F86D05}" type="slidenum">
              <a:rPr lang="en-US" smtClean="0"/>
              <a:pPr/>
              <a:t>7</a:t>
            </a:fld>
            <a:endParaRPr lang="en-US"/>
          </a:p>
        </p:txBody>
      </p:sp>
    </p:spTree>
    <p:extLst>
      <p:ext uri="{BB962C8B-B14F-4D97-AF65-F5344CB8AC3E}">
        <p14:creationId xmlns:p14="http://schemas.microsoft.com/office/powerpoint/2010/main" val="44726682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[About 1 minute]</a:t>
            </a:r>
          </a:p>
          <a:p>
            <a:r>
              <a:t>To close, let me bring the three threads together.</a:t>
            </a:r>
          </a:p>
          <a:p/>
          <a:p>
            <a:r>
              <a:t>Structure: DHL's divisional model with a strong center drives growth and was reinforced by the September 2026 reorganization. But it leaves AI, data, and governance fragmented across five standalone entities, and training investment fell in 2025.</a:t>
            </a:r>
          </a:p>
          <a:p/>
          <a:p>
            <a:r>
              <a:t>Demographics: with 26 percent of employees and 44 percent of managers over 50, an ageing home market in Germany, and customers who split by generation, AI-driven analysis is valuable for workforce planning and customer engagement. But bias and privacy risks must be controlled through human oversight, testing, and data minimization, because compliance and relationships with government customers and business partners depend on it.</a:t>
            </a:r>
          </a:p>
          <a:p/>
          <a:p>
            <a:r>
              <a:t>Technology: robotics, agentic AI, and competitors' digital twins are moving faster than annual planning cycles.</a:t>
            </a:r>
          </a:p>
          <a:p/>
          <a:p>
            <a:r>
              <a:t>The recommendation is one change: an AI &amp; Workforce Intelligence Hub with embedded division leads. It improves responsiveness to both trends, and it gives accountability, transparency, and fairness a permanent home in the organization.</a:t>
            </a:r>
          </a:p>
          <a:p/>
          <a:p>
            <a:r>
              <a:t>For the first 90 days: appoint the Chief AI Officer and charter the hub; inventory and risk-tier every AI use case across the divisions; and set one common bias-testing and data-minimization standard.</a:t>
            </a:r>
          </a:p>
          <a:p/>
          <a:p>
            <a:r>
              <a:t>My final thought: DHL's real competitive edge is its roughly 584,000 people and the trust they have earned with customers. The best organizational design for the AI era is one that lets technology amplify that human network, not replace it. Thank you. I'm happy to take questions.</a:t>
            </a:r>
          </a:p>
        </p:txBody>
      </p:sp>
      <p:sp>
        <p:nvSpPr>
          <p:cNvPr id="4" name="Slide Number Placeholder 3"/>
          <p:cNvSpPr>
            <a:spLocks noGrp="1"/>
          </p:cNvSpPr>
          <p:nvPr>
            <p:ph type="sldNum" sz="quarter" idx="5"/>
          </p:nvPr>
        </p:nvSpPr>
        <p:spPr/>
        <p:txBody>
          <a:bodyPr/>
          <a:lstStyle/>
          <a:p>
            <a:fld id="{0A099918-4ABA-4193-B11B-66C488F86D05}" type="slidenum">
              <a:rPr lang="en-US" smtClean="0"/>
              <a:pPr/>
              <a:t>8</a:t>
            </a:fld>
            <a:endParaRPr lang="en-US"/>
          </a:p>
        </p:txBody>
      </p:sp>
    </p:spTree>
    <p:extLst>
      <p:ext uri="{BB962C8B-B14F-4D97-AF65-F5344CB8AC3E}">
        <p14:creationId xmlns:p14="http://schemas.microsoft.com/office/powerpoint/2010/main" val="110632453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878F13-AA37-5F5E-0643-96BA85B5492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E76B719-1F05-2E35-094A-4F4252536E5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C243CEA-D41A-9A38-E93A-85D2586B9C52}"/>
              </a:ext>
            </a:extLst>
          </p:cNvPr>
          <p:cNvSpPr>
            <a:spLocks noGrp="1"/>
          </p:cNvSpPr>
          <p:nvPr>
            <p:ph type="body" idx="1"/>
          </p:nvPr>
        </p:nvSpPr>
        <p:spPr/>
        <p:txBody>
          <a:bodyPr/>
          <a:lstStyle/>
          <a:p>
            <a:r>
              <a:t>References are formatted in APA 7th edition style and listed alphabetically. Letters after 2026 (2026a-2026f) distinguish multiple DHL Group works from the same year.</a:t>
            </a:r>
          </a:p>
          <a:p/>
          <a:p>
            <a:r>
              <a:t>Presenter notes before submitting: (1) open each link once to confirm it is still live; (2) the UPS figures are company-reported; (3) the GDPR fine ceiling and the EU AI Act high-risk employment category are cited to the regulation and a law-firm summary, so confirm against the full text if your instructor expects primary sources; (4) if your course text covers structure types (for example, divisional or matrix structures), add it as a reference and cite it on the Current Structure slide.</a:t>
            </a:r>
          </a:p>
        </p:txBody>
      </p:sp>
      <p:sp>
        <p:nvSpPr>
          <p:cNvPr id="4" name="Slide Number Placeholder 3">
            <a:extLst>
              <a:ext uri="{FF2B5EF4-FFF2-40B4-BE49-F238E27FC236}">
                <a16:creationId xmlns:a16="http://schemas.microsoft.com/office/drawing/2014/main" id="{9060F004-E888-9BFC-0E29-447D6C76D2F0}"/>
              </a:ext>
            </a:extLst>
          </p:cNvPr>
          <p:cNvSpPr>
            <a:spLocks noGrp="1"/>
          </p:cNvSpPr>
          <p:nvPr>
            <p:ph type="sldNum" sz="quarter" idx="5"/>
          </p:nvPr>
        </p:nvSpPr>
        <p:spPr/>
        <p:txBody>
          <a:bodyPr/>
          <a:lstStyle/>
          <a:p>
            <a:fld id="{0A099918-4ABA-4193-B11B-66C488F86D05}" type="slidenum">
              <a:rPr lang="en-US" smtClean="0"/>
              <a:pPr/>
              <a:t>9</a:t>
            </a:fld>
            <a:endParaRPr lang="en-US"/>
          </a:p>
        </p:txBody>
      </p:sp>
    </p:spTree>
    <p:extLst>
      <p:ext uri="{BB962C8B-B14F-4D97-AF65-F5344CB8AC3E}">
        <p14:creationId xmlns:p14="http://schemas.microsoft.com/office/powerpoint/2010/main" val="479617077"/>
      </p:ext>
    </p:extLst>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[About 1.5 minutes]</a:t>
            </a:r>
          </a:p>
          <a:p>
            <a:r>
              <a:t>How can AI help us act on these trends? Think of it as three steps in two lanes: data in, AI methods, then decisions.</a:t>
            </a:r>
          </a:p>
          <a:p/>
          <a:p>
            <a:r>
              <a:t>Lane one, workforce planning. The inputs are age and tenure profiles, skills, retirement eligibility, attrition patterns, and local labor-market conditions. The AI methods include predictive models of retirements and attrition, clustering to find skill gaps, and scenario simulation. For illustration: what happens to our German driver workforce if a large share of drivers retire by 2030? The decisions that follow are practical: succession pipelines for the 44 percent of managers who are over 50, targeted reskilling, apprenticeships to attract under-30s, and phased-retirement or mentoring roles that retain know-how.</a:t>
            </a:r>
          </a:p>
          <a:p/>
          <a:p>
            <a:r>
              <a:t>Lane two, customer engagement. The inputs are aggregated delivery, return, and channel preferences by region and age cohort, plus e-commerce volumes. The methods are cohort segmentation, demand forecasting, and personalization. The decisions include where to place lockers and pick-up points, offering AI chat for digital-first shoppers while keeping human channels for customers who prefer them, and building SME-sized services such as the Alibaba Accio pilot (DHL Group, 2026c).</a:t>
            </a:r>
          </a:p>
          <a:p/>
          <a:p>
            <a:r>
              <a:t>Notice two design choices. First, customer analysis works on aggregated cohorts rather than profiling individuals. Second, people stay in the loop. DHL's own head of AI strategy for people experience puts it this way: "Just because you have an AI solution, you don't need to delegate the entire hiring decision to it" (Economist Enterprise, 2026).</a:t>
            </a:r>
          </a:p>
          <a:p/>
          <a:p>
            <a:r>
              <a:t>The payoff is a shift from reacting to headcount gaps and demand swings to anticipating them. The mapping from data to methods to decisions is my proposal, not a description of an existing DHL system.</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[About 2 minutes]</a:t>
            </a:r>
          </a:p>
          <a:p>
            <a:r>
              <a:t>Every one of those benefits has a downside, so let me take two risks, their impact on compliance and relationships, and how we mitigate them.</a:t>
            </a:r>
          </a:p>
          <a:p/>
          <a:p>
            <a:r>
              <a:t>Risk one: algorithmic bias. A model trained on historical data can learn to use age, gender, or proxies such as postcode or shift history when ranking people for hiring, promotion, or scheduling. The impact is regulatory and commercial. In the EU, AI used for recruitment, selection, promotion, termination, task allocation, and performance monitoring sits in the AI Act's high-risk category. Those obligations were scheduled for August 2026 but have been delayed to December 2, 2027, and, as one law firm puts it, "the delay is not a repeal" (Francis et al., 2026). In the United States, discrimination law, including Title VII, the Age Discrimination in Employment Act, and the Americans with Disabilities Act, applies to automated tools as it does to human managers. For government customers, U.S. federal AI acquisition guidance issued in April 2025 requires agencies to determine whether a purchase involves "high-impact" AI and to include contract terms on testing, monitoring, data use, and privacy (Office of Management and Budget [OMB], 2025). A biased tool could therefore cost us a contract, eligibility, or a business partner's trust.</a:t>
            </a:r>
          </a:p>
          <a:p/>
          <a:p>
            <a:r>
              <a:t>Risk two: privacy and data misuse. Demographic data that is profiled at the individual level, or reused beyond its original purpose, creates exposure under the GDPR, where fines can reach 4 percent of worldwide annual turnover (European Parliament &amp; Council, 2016). Government contracts add data-use terms (OMB, 2025). And customers care: 58 percent name privacy and security as their top concern about AI (DHL eCommerce, 2026).</a:t>
            </a:r>
          </a:p>
          <a:p/>
          <a:p>
            <a:r>
              <a:t>Now the mitigations in the right-hand column. Test for bias before and after launch and monitor outcomes by group, which fits the NIST AI Risk Management Framework cycle of govern, map, measure, and manage (National Institute of Standards and Technology [NIST], 2023). Keep a human decision-maker on every people decision. Use aggregated, minimized data and privacy impact assessments. Write testing and data clauses into vendor contracts. And run everything through one Group-wide governance framework.</a:t>
            </a:r>
          </a:p>
          <a:p/>
          <a:p>
            <a:r>
              <a:t>DHL already points this way: it reviews every new AI project through a governance framework scaled to risk, and piloted a frontline application-screening tool in one country, limited to basic checks (Economist Enterprise, 2026). The principle: pilot narrow, scale with guardrails.</a:t>
            </a:r>
          </a:p>
          <a:p/>
          <a:p>
            <a:r>
              <a:t>[Presenter note: the 4 percent GDPR figure comes from Article 83(5) of the regulation; confirm against the full text before submitting.]</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jpe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jpe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jpe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e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eg"/></Relationships>
</file>

<file path=ppt/slideLayouts/_rels/slideLayout7.xml.rels><?xml version='1.0' encoding='UTF-8' standalone='yes'?>
<Relationships xmlns="http://schemas.openxmlformats.org/package/2006/relationships"><Relationship Id="rId1" Type="http://schemas.openxmlformats.org/officeDocument/2006/relationships/tags" Target="../tags/tag3.xml"/><Relationship Id="rId2" Type="http://schemas.openxmlformats.org/officeDocument/2006/relationships/slideMaster" Target="../slideMasters/slideMaster1.xml"/><Relationship Id="rId3" Type="http://schemas.openxmlformats.org/officeDocument/2006/relationships/image" Target="../media/image5.jpeg"/></Relationships>
</file>

<file path=ppt/slideLayouts/_rels/slideLayout8.xml.rels><?xml version='1.0' encoding='UTF-8' standalone='yes'?>
<Relationships xmlns="http://schemas.openxmlformats.org/package/2006/relationships"><Relationship Id="rId1" Type="http://schemas.openxmlformats.org/officeDocument/2006/relationships/tags" Target="../tags/tag4.xml"/><Relationship Id="rId2" Type="http://schemas.openxmlformats.org/officeDocument/2006/relationships/slideMaster" Target="../slideMasters/slideMaster1.xml"/><Relationship Id="rId3" Type="http://schemas.openxmlformats.org/officeDocument/2006/relationships/image" Target="../media/image6.jpeg"/></Relationships>
</file>

<file path=ppt/slideLayouts/_rels/slideLayout9.xml.rels><?xml version='1.0' encoding='UTF-8' standalone='yes'?>
<Relationships xmlns="http://schemas.openxmlformats.org/package/2006/relationships"><Relationship Id="rId1" Type="http://schemas.openxmlformats.org/officeDocument/2006/relationships/tags" Target="../tags/tag5.xml"/><Relationship Id="rId2" Type="http://schemas.openxmlformats.org/officeDocument/2006/relationships/slideMaster" Target="../slideMasters/slideMaster1.xml"/><Relationship Id="rId3" Type="http://schemas.openxmlformats.org/officeDocument/2006/relationships/image" Target="../media/image7.jpeg"/></Relationships>
</file>

<file path=ppt/slideLayouts/_rels/slideLayout10.xml.rels><?xml version='1.0' encoding='UTF-8' standalone='yes'?>
<Relationships xmlns="http://schemas.openxmlformats.org/package/2006/relationships"><Relationship Id="rId1" Type="http://schemas.openxmlformats.org/officeDocument/2006/relationships/tags" Target="../tags/tag6.xml"/><Relationship Id="rId2" Type="http://schemas.openxmlformats.org/officeDocument/2006/relationships/slideMaster" Target="../slideMasters/slideMaster1.xml"/><Relationship Id="rId3" Type="http://schemas.openxmlformats.org/officeDocument/2006/relationships/image" Target="../media/image8.jpeg"/></Relationships>
</file>

<file path=ppt/slideLayouts/_rels/slideLayout11.xml.rels><?xml version='1.0' encoding='UTF-8' standalone='yes'?>
<Relationships xmlns="http://schemas.openxmlformats.org/package/2006/relationships"><Relationship Id="rId1" Type="http://schemas.openxmlformats.org/officeDocument/2006/relationships/tags" Target="../tags/tag7.xml"/><Relationship Id="rId2" Type="http://schemas.openxmlformats.org/officeDocument/2006/relationships/slideMaster" Target="../slideMasters/slideMaster1.xml"/><Relationship Id="rId3" Type="http://schemas.openxmlformats.org/officeDocument/2006/relationships/image" Target="../media/image9.jpeg"/></Relationships>
</file>

<file path=ppt/slideLayouts/_rels/slideLayout12.xml.rels><?xml version='1.0' encoding='UTF-8' standalone='yes'?>
<Relationships xmlns="http://schemas.openxmlformats.org/package/2006/relationships"><Relationship Id="rId1" Type="http://schemas.openxmlformats.org/officeDocument/2006/relationships/tags" Target="../tags/tag9.xml"/><Relationship Id="rId2" Type="http://schemas.openxmlformats.org/officeDocument/2006/relationships/slideMaster" Target="../slideMasters/slideMaster2.xml"/><Relationship Id="rId3" Type="http://schemas.openxmlformats.org/officeDocument/2006/relationships/image" Target="../media/image11.jpeg"/></Relationships>
</file>

<file path=ppt/slideLayouts/_rels/slideLayout13.xml.rels><?xml version='1.0' encoding='UTF-8' standalone='yes'?>
<Relationships xmlns="http://schemas.openxmlformats.org/package/2006/relationships"><Relationship Id="rId1" Type="http://schemas.openxmlformats.org/officeDocument/2006/relationships/tags" Target="../tags/tag10.xml"/><Relationship Id="rId2" Type="http://schemas.openxmlformats.org/officeDocument/2006/relationships/slideMaster" Target="../slideMasters/slideMaster2.xml"/><Relationship Id="rId3" Type="http://schemas.openxmlformats.org/officeDocument/2006/relationships/image" Target="../media/image12.jpeg"/></Relationships>
</file>

<file path=ppt/slideLayouts/_rels/slideLayout14.xml.rels><?xml version='1.0' encoding='UTF-8' standalone='yes'?>
<Relationships xmlns="http://schemas.openxmlformats.org/package/2006/relationships"><Relationship Id="rId1" Type="http://schemas.openxmlformats.org/officeDocument/2006/relationships/tags" Target="../tags/tag11.xml"/><Relationship Id="rId2"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3.jpeg"/></Relationships>
</file>

<file path=ppt/slideLayouts/_rels/slideLayout16.xml.rels><?xml version='1.0' encoding='UTF-8' standalone='yes'?>
<Relationships xmlns="http://schemas.openxmlformats.org/package/2006/relationships"><Relationship Id="rId1" Type="http://schemas.openxmlformats.org/officeDocument/2006/relationships/tags" Target="../tags/tag12.xml"/><Relationship Id="rId2" Type="http://schemas.openxmlformats.org/officeDocument/2006/relationships/slideMaster" Target="../slideMasters/slideMaster2.xml"/><Relationship Id="rId3" Type="http://schemas.openxmlformats.org/officeDocument/2006/relationships/image" Target="../media/image10.jpeg"/></Relationships>
</file>

<file path=ppt/slideLayouts/_rels/slideLayout17.xml.rels><?xml version='1.0' encoding='UTF-8' standalone='yes'?>
<Relationships xmlns="http://schemas.openxmlformats.org/package/2006/relationships"><Relationship Id="rId1" Type="http://schemas.openxmlformats.org/officeDocument/2006/relationships/tags" Target="../tags/tag13.xml"/><Relationship Id="rId2" Type="http://schemas.openxmlformats.org/officeDocument/2006/relationships/slideMaster" Target="../slideMasters/slideMaster2.xml"/><Relationship Id="rId3" Type="http://schemas.openxmlformats.org/officeDocument/2006/relationships/image" Target="../media/image10.jpeg"/></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4.jpeg"/></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5.jpeg"/></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6.jpeg"/></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7.jpeg"/></Relationships>
</file>

<file path=ppt/slideLayouts/_rels/slideLayout22.xml.rels><?xml version='1.0' encoding='UTF-8' standalone='yes'?>
<Relationships xmlns="http://schemas.openxmlformats.org/package/2006/relationships"><Relationship Id="rId1" Type="http://schemas.openxmlformats.org/officeDocument/2006/relationships/tags" Target="../tags/tag14.xml"/><Relationship Id="rId2" Type="http://schemas.openxmlformats.org/officeDocument/2006/relationships/slideMaster" Target="../slideMasters/slideMaster2.xml"/><Relationship Id="rId3" Type="http://schemas.openxmlformats.org/officeDocument/2006/relationships/image" Target="../media/image18.jpeg"/></Relationships>
</file>

<file path=ppt/slideLayouts/_rels/slideLayout23.xml.rels><?xml version='1.0' encoding='UTF-8' standalone='yes'?>
<Relationships xmlns="http://schemas.openxmlformats.org/package/2006/relationships"><Relationship Id="rId1" Type="http://schemas.openxmlformats.org/officeDocument/2006/relationships/tags" Target="../tags/tag15.xml"/><Relationship Id="rId2" Type="http://schemas.openxmlformats.org/officeDocument/2006/relationships/slideMaster" Target="../slideMasters/slideMaster3.xml"/><Relationship Id="rId3" Type="http://schemas.openxmlformats.org/officeDocument/2006/relationships/image" Target="../media/image20.jpeg"/></Relationships>
</file>

<file path=ppt/slideLayouts/_rels/slideLayout24.xml.rels><?xml version='1.0' encoding='UTF-8' standalone='yes'?>
<Relationships xmlns="http://schemas.openxmlformats.org/package/2006/relationships"><Relationship Id="rId1" Type="http://schemas.openxmlformats.org/officeDocument/2006/relationships/tags" Target="../tags/tag16.xml"/><Relationship Id="rId2" Type="http://schemas.openxmlformats.org/officeDocument/2006/relationships/slideMaster" Target="../slideMasters/slideMaster3.xml"/><Relationship Id="rId3" Type="http://schemas.openxmlformats.org/officeDocument/2006/relationships/image" Target="../media/image21.jpeg"/></Relationships>
</file>

<file path=ppt/slideLayouts/_rels/slideLayout25.xml.rels><?xml version='1.0' encoding='UTF-8' standalone='yes'?>
<Relationships xmlns="http://schemas.openxmlformats.org/package/2006/relationships"><Relationship Id="rId1" Type="http://schemas.openxmlformats.org/officeDocument/2006/relationships/tags" Target="../tags/tag17.xml"/><Relationship Id="rId2" Type="http://schemas.openxmlformats.org/officeDocument/2006/relationships/slideMaster" Target="../slideMasters/slideMaster3.xml"/><Relationship Id="rId3" Type="http://schemas.openxmlformats.org/officeDocument/2006/relationships/image" Target="../media/image19.jpeg"/></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22.jpeg"/></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9.jpeg"/></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9.jpeg"/></Relationships>
</file>

<file path=ppt/slideLayouts/_rels/slideLayout29.xml.rels><?xml version='1.0' encoding='UTF-8' standalone='yes'?>
<Relationships xmlns="http://schemas.openxmlformats.org/package/2006/relationships"><Relationship Id="rId1" Type="http://schemas.openxmlformats.org/officeDocument/2006/relationships/tags" Target="../tags/tag18.xml"/><Relationship Id="rId2" Type="http://schemas.openxmlformats.org/officeDocument/2006/relationships/slideMaster" Target="../slideMasters/slideMaster3.xml"/><Relationship Id="rId3" Type="http://schemas.openxmlformats.org/officeDocument/2006/relationships/image" Target="../media/image23.jpeg"/></Relationships>
</file>

<file path=ppt/slideLayouts/_rels/slideLayout30.xml.rels><?xml version='1.0' encoding='UTF-8' standalone='yes'?>
<Relationships xmlns="http://schemas.openxmlformats.org/package/2006/relationships"><Relationship Id="rId1" Type="http://schemas.openxmlformats.org/officeDocument/2006/relationships/tags" Target="../tags/tag19.xml"/><Relationship Id="rId2" Type="http://schemas.openxmlformats.org/officeDocument/2006/relationships/slideMaster" Target="../slideMasters/slideMaster3.xml"/><Relationship Id="rId3" Type="http://schemas.openxmlformats.org/officeDocument/2006/relationships/image" Target="../media/image24.jpeg"/></Relationships>
</file>

<file path=ppt/slideLayouts/_rels/slideLayout31.xml.rels><?xml version='1.0' encoding='UTF-8' standalone='yes'?>
<Relationships xmlns="http://schemas.openxmlformats.org/package/2006/relationships"><Relationship Id="rId1" Type="http://schemas.openxmlformats.org/officeDocument/2006/relationships/tags" Target="../tags/tag20.xml"/><Relationship Id="rId2" Type="http://schemas.openxmlformats.org/officeDocument/2006/relationships/slideMaster" Target="../slideMasters/slideMaster3.xml"/><Relationship Id="rId3" Type="http://schemas.openxmlformats.org/officeDocument/2006/relationships/image" Target="../media/image25.jpeg"/></Relationships>
</file>

<file path=ppt/slideLayouts/_rels/slideLayout32.xml.rels><?xml version='1.0' encoding='UTF-8' standalone='yes'?>
<Relationships xmlns="http://schemas.openxmlformats.org/package/2006/relationships"><Relationship Id="rId1" Type="http://schemas.openxmlformats.org/officeDocument/2006/relationships/tags" Target="../tags/tag21.xml"/><Relationship Id="rId2" Type="http://schemas.openxmlformats.org/officeDocument/2006/relationships/slideMaster" Target="../slideMasters/slideMaster3.xml"/><Relationship Id="rId3" Type="http://schemas.openxmlformats.org/officeDocument/2006/relationships/image" Target="../media/image26.jpeg"/></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27.jpeg"/></Relationships>
</file>

<file path=ppt/slideLayouts/_rels/slideLayout34.xml.rels><?xml version='1.0' encoding='UTF-8' standalone='yes'?>
<Relationships xmlns="http://schemas.openxmlformats.org/package/2006/relationships"><Relationship Id="rId1" Type="http://schemas.openxmlformats.org/officeDocument/2006/relationships/tags" Target="../tags/tag22.xml"/><Relationship Id="rId2" Type="http://schemas.openxmlformats.org/officeDocument/2006/relationships/slideMaster" Target="../slideMasters/slideMaster4.xml"/><Relationship Id="rId3" Type="http://schemas.openxmlformats.org/officeDocument/2006/relationships/image" Target="../media/image29.jpeg"/></Relationships>
</file>

<file path=ppt/slideLayouts/_rels/slideLayout35.xml.rels><?xml version='1.0' encoding='UTF-8' standalone='yes'?>
<Relationships xmlns="http://schemas.openxmlformats.org/package/2006/relationships"><Relationship Id="rId1" Type="http://schemas.openxmlformats.org/officeDocument/2006/relationships/tags" Target="../tags/tag23.xml"/><Relationship Id="rId2" Type="http://schemas.openxmlformats.org/officeDocument/2006/relationships/slideMaster" Target="../slideMasters/slideMaster4.xml"/><Relationship Id="rId3" Type="http://schemas.openxmlformats.org/officeDocument/2006/relationships/image" Target="../media/image30.jpeg"/></Relationships>
</file>

<file path=ppt/slideLayouts/_rels/slideLayout36.xml.rels><?xml version='1.0' encoding='UTF-8' standalone='yes'?>
<Relationships xmlns="http://schemas.openxmlformats.org/package/2006/relationships"><Relationship Id="rId1" Type="http://schemas.openxmlformats.org/officeDocument/2006/relationships/tags" Target="../tags/tag24.xml"/><Relationship Id="rId2" Type="http://schemas.openxmlformats.org/officeDocument/2006/relationships/slideMaster" Target="../slideMasters/slideMaster4.xml"/><Relationship Id="rId3" Type="http://schemas.openxmlformats.org/officeDocument/2006/relationships/image" Target="../media/image28.jpeg"/></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31.jpeg"/></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28.jpeg"/></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28.jpeg"/></Relationships>
</file>

<file path=ppt/slideLayouts/_rels/slideLayout40.xml.rels><?xml version='1.0' encoding='UTF-8' standalone='yes'?>
<Relationships xmlns="http://schemas.openxmlformats.org/package/2006/relationships"><Relationship Id="rId1" Type="http://schemas.openxmlformats.org/officeDocument/2006/relationships/tags" Target="../tags/tag25.xml"/><Relationship Id="rId2" Type="http://schemas.openxmlformats.org/officeDocument/2006/relationships/slideMaster" Target="../slideMasters/slideMaster4.xml"/><Relationship Id="rId3" Type="http://schemas.openxmlformats.org/officeDocument/2006/relationships/image" Target="../media/image32.jpeg"/></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609600" y="2286000"/>
            <a:ext cx="9829800" cy="914400"/>
          </a:xfrm>
        </p:spPr>
        <p:txBody>
          <a:bodyPr anchor="t">
            <a:normAutofit/>
          </a:bodyPr>
          <a:lstStyle>
            <a:lvl1pPr>
              <a:defRPr sz="5400" b="0">
                <a:solidFill>
                  <a:schemeClr val="bg1"/>
                </a:solidFill>
              </a:defRPr>
            </a:lvl1pPr>
          </a:lstStyle>
          <a:p>
            <a:r>
              <a:rPr lang="en-US"/>
              <a:t>Header</a:t>
            </a:r>
          </a:p>
        </p:txBody>
      </p:sp>
      <p:sp>
        <p:nvSpPr>
          <p:cNvPr id="3" name="Subtitle 2"/>
          <p:cNvSpPr>
            <a:spLocks noGrp="1"/>
          </p:cNvSpPr>
          <p:nvPr>
            <p:ph type="subTitle" idx="1" hasCustomPrompt="1"/>
          </p:nvPr>
        </p:nvSpPr>
        <p:spPr>
          <a:xfrm>
            <a:off x="609600" y="3429000"/>
            <a:ext cx="9829800" cy="457200"/>
          </a:xfrm>
        </p:spPr>
        <p:txBody>
          <a:bodyPr>
            <a:normAutofit/>
          </a:bodyPr>
          <a:lstStyle>
            <a:lvl1pPr marL="0" indent="0" algn="l">
              <a:buNone/>
              <a:defRPr sz="2000" baseline="0">
                <a:solidFill>
                  <a:schemeClr val="bg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Sub Header</a:t>
            </a:r>
          </a:p>
        </p:txBody>
      </p:sp>
      <p:sp>
        <p:nvSpPr>
          <p:cNvPr id="5" name="Footer Placeholder 4">
            <a:extLst>
              <a:ext uri="{FF2B5EF4-FFF2-40B4-BE49-F238E27FC236}">
                <a16:creationId xmlns:a16="http://schemas.microsoft.com/office/drawing/2014/main" id="{F2FD3FD6-AD04-2A4C-81EE-589B6F3D30D7}"/>
              </a:ext>
            </a:extLst>
          </p:cNvPr>
          <p:cNvSpPr>
            <a:spLocks noGrp="1"/>
          </p:cNvSpPr>
          <p:nvPr>
            <p:ph type="ftr" sz="quarter" idx="3"/>
          </p:nvPr>
        </p:nvSpPr>
        <p:spPr>
          <a:xfrm>
            <a:off x="3200400" y="6629400"/>
            <a:ext cx="8839200" cy="228600"/>
          </a:xfrm>
          <a:prstGeom prst="rect">
            <a:avLst/>
          </a:prstGeom>
        </p:spPr>
        <p:txBody>
          <a:bodyPr vert="horz" lIns="0" tIns="0" rIns="0" bIns="0" rtlCol="0" anchor="t"/>
          <a:lstStyle>
            <a:lvl1pPr algn="r">
              <a:defRPr sz="800">
                <a:solidFill>
                  <a:schemeClr val="bg1"/>
                </a:solidFill>
              </a:defRPr>
            </a:lvl1pPr>
          </a:lstStyle>
          <a:p>
            <a:r>
              <a:rPr lang="en-US"/>
              <a:t>© 2022 University of Phoenix</a:t>
            </a: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itle" preserve="1">
  <p:cSld name="1_Titl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609600" y="2743200"/>
            <a:ext cx="9829800" cy="914400"/>
          </a:xfrm>
        </p:spPr>
        <p:txBody>
          <a:bodyPr anchor="t">
            <a:normAutofit/>
          </a:bodyPr>
          <a:lstStyle>
            <a:lvl1pPr>
              <a:defRPr sz="5400" b="0">
                <a:solidFill>
                  <a:schemeClr val="bg1"/>
                </a:solidFill>
              </a:defRPr>
            </a:lvl1pPr>
          </a:lstStyle>
          <a:p>
            <a:r>
              <a:rPr lang="en-US"/>
              <a:t>Header</a:t>
            </a:r>
          </a:p>
        </p:txBody>
      </p:sp>
      <p:sp>
        <p:nvSpPr>
          <p:cNvPr id="3" name="Subtitle 2"/>
          <p:cNvSpPr>
            <a:spLocks noGrp="1"/>
          </p:cNvSpPr>
          <p:nvPr>
            <p:ph type="subTitle" idx="1" hasCustomPrompt="1"/>
          </p:nvPr>
        </p:nvSpPr>
        <p:spPr>
          <a:xfrm>
            <a:off x="609600" y="3886200"/>
            <a:ext cx="9829800" cy="457200"/>
          </a:xfrm>
        </p:spPr>
        <p:txBody>
          <a:bodyPr>
            <a:normAutofit/>
          </a:bodyPr>
          <a:lstStyle>
            <a:lvl1pPr marL="0" indent="0" algn="l">
              <a:buNone/>
              <a:defRPr sz="2000" baseline="0">
                <a:solidFill>
                  <a:schemeClr val="bg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Sub Header</a:t>
            </a:r>
          </a:p>
        </p:txBody>
      </p:sp>
      <p:sp>
        <p:nvSpPr>
          <p:cNvPr id="5" name="Footer Placeholder 4">
            <a:extLst>
              <a:ext uri="{FF2B5EF4-FFF2-40B4-BE49-F238E27FC236}">
                <a16:creationId xmlns:a16="http://schemas.microsoft.com/office/drawing/2014/main" id="{F2FD3FD6-AD04-2A4C-81EE-589B6F3D30D7}"/>
              </a:ext>
            </a:extLst>
          </p:cNvPr>
          <p:cNvSpPr>
            <a:spLocks noGrp="1"/>
          </p:cNvSpPr>
          <p:nvPr>
            <p:ph type="ftr" sz="quarter" idx="3"/>
          </p:nvPr>
        </p:nvSpPr>
        <p:spPr>
          <a:xfrm>
            <a:off x="3200400" y="6629400"/>
            <a:ext cx="8839200" cy="228600"/>
          </a:xfrm>
          <a:prstGeom prst="rect">
            <a:avLst/>
          </a:prstGeom>
        </p:spPr>
        <p:txBody>
          <a:bodyPr vert="horz" lIns="0" tIns="0" rIns="0" bIns="0" rtlCol="0" anchor="t"/>
          <a:lstStyle>
            <a:lvl1pPr algn="r">
              <a:defRPr sz="800">
                <a:solidFill>
                  <a:schemeClr val="bg1"/>
                </a:solidFill>
              </a:defRPr>
            </a:lvl1pPr>
          </a:lstStyle>
          <a:p>
            <a:r>
              <a:rPr lang="en-US"/>
              <a:t>© 2022 University of Phoenix</a:t>
            </a:r>
          </a:p>
        </p:txBody>
      </p:sp>
    </p:spTree>
    <p:extLst>
      <p:ext uri="{BB962C8B-B14F-4D97-AF65-F5344CB8AC3E}">
        <p14:creationId xmlns:p14="http://schemas.microsoft.com/office/powerpoint/2010/main" val="58467276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Basic">
    <p:spTree>
      <p:nvGrpSpPr>
        <p:cNvPr id="1" name=""/>
        <p:cNvGrpSpPr/>
        <p:nvPr/>
      </p:nvGrpSpPr>
      <p:grpSpPr>
        <a:xfrm>
          <a:off x="0" y="0"/>
          <a:ext cx="0" cy="0"/>
          <a:chOff x="0" y="0"/>
          <a:chExt cx="0" cy="0"/>
        </a:xfrm>
      </p:grpSpPr>
      <p:sp>
        <p:nvSpPr>
          <p:cNvPr id="5" name="Footer Placeholder 4">
            <a:extLst>
              <a:ext uri="{FF2B5EF4-FFF2-40B4-BE49-F238E27FC236}">
                <a16:creationId xmlns:a16="http://schemas.microsoft.com/office/drawing/2014/main" id="{A44A32B0-BC81-184A-B63D-DB50355C6D70}"/>
              </a:ext>
            </a:extLst>
          </p:cNvPr>
          <p:cNvSpPr>
            <a:spLocks noGrp="1"/>
          </p:cNvSpPr>
          <p:nvPr>
            <p:ph type="ftr" sz="quarter" idx="3"/>
          </p:nvPr>
        </p:nvSpPr>
        <p:spPr>
          <a:xfrm>
            <a:off x="3200400" y="6629400"/>
            <a:ext cx="8839200" cy="228600"/>
          </a:xfrm>
          <a:prstGeom prst="rect">
            <a:avLst/>
          </a:prstGeom>
        </p:spPr>
        <p:txBody>
          <a:bodyPr vert="horz" lIns="0" tIns="0" rIns="0" bIns="0" rtlCol="0" anchor="t"/>
          <a:lstStyle>
            <a:lvl1pPr algn="r">
              <a:defRPr sz="800">
                <a:solidFill>
                  <a:schemeClr val="tx1"/>
                </a:solidFill>
              </a:defRPr>
            </a:lvl1pPr>
          </a:lstStyle>
          <a:p>
            <a:r>
              <a:rPr lang="en-US"/>
              <a:t>© 2022 University of Phoenix</a:t>
            </a:r>
          </a:p>
        </p:txBody>
      </p:sp>
      <p:sp>
        <p:nvSpPr>
          <p:cNvPr id="10" name="Title Placeholder 1">
            <a:extLst>
              <a:ext uri="{FF2B5EF4-FFF2-40B4-BE49-F238E27FC236}">
                <a16:creationId xmlns:a16="http://schemas.microsoft.com/office/drawing/2014/main" id="{4C6FB93E-4316-9C46-9765-AB8836030AC0}"/>
              </a:ext>
            </a:extLst>
          </p:cNvPr>
          <p:cNvSpPr>
            <a:spLocks noGrp="1"/>
          </p:cNvSpPr>
          <p:nvPr>
            <p:ph type="title" hasCustomPrompt="1"/>
          </p:nvPr>
        </p:nvSpPr>
        <p:spPr>
          <a:xfrm>
            <a:off x="533400" y="457200"/>
            <a:ext cx="11049000" cy="594836"/>
          </a:xfrm>
          <a:prstGeom prst="rect">
            <a:avLst/>
          </a:prstGeom>
        </p:spPr>
        <p:txBody>
          <a:bodyPr vert="horz" lIns="0" tIns="0" rIns="0" bIns="0" rtlCol="0" anchor="b">
            <a:noAutofit/>
          </a:bodyPr>
          <a:lstStyle/>
          <a:p>
            <a:r>
              <a:rPr lang="en-US"/>
              <a:t>Title</a:t>
            </a:r>
          </a:p>
        </p:txBody>
      </p:sp>
      <p:sp>
        <p:nvSpPr>
          <p:cNvPr id="11" name="Text Placeholder 2">
            <a:extLst>
              <a:ext uri="{FF2B5EF4-FFF2-40B4-BE49-F238E27FC236}">
                <a16:creationId xmlns:a16="http://schemas.microsoft.com/office/drawing/2014/main" id="{F07CE980-908D-9446-AA92-9ED80C92B9EC}"/>
              </a:ext>
            </a:extLst>
          </p:cNvPr>
          <p:cNvSpPr>
            <a:spLocks noGrp="1"/>
          </p:cNvSpPr>
          <p:nvPr>
            <p:ph idx="1" hasCustomPrompt="1"/>
          </p:nvPr>
        </p:nvSpPr>
        <p:spPr>
          <a:xfrm>
            <a:off x="533400" y="1371600"/>
            <a:ext cx="11049000" cy="5029200"/>
          </a:xfrm>
          <a:prstGeom prst="rect">
            <a:avLst/>
          </a:prstGeom>
        </p:spPr>
        <p:txBody>
          <a:bodyPr vert="horz" lIns="0" tIns="0" rIns="0" bIns="0" rtlCol="0">
            <a:normAutofit/>
          </a:bodyPr>
          <a:lstStyle>
            <a:lvl1pPr marL="0" indent="0">
              <a:buNone/>
              <a:defRPr/>
            </a:lvl1pPr>
            <a:lvl2pPr marL="457200" indent="0">
              <a:buNone/>
              <a:defRPr/>
            </a:lvl2pPr>
            <a:lvl3pPr marL="914400" indent="0">
              <a:buNone/>
              <a:defRPr/>
            </a:lvl3pPr>
            <a:lvl4pPr marL="1371600" indent="0">
              <a:buNone/>
              <a:defRPr/>
            </a:lvl4pPr>
            <a:lvl5pPr marL="1828800" indent="0">
              <a:buNone/>
              <a:defRPr/>
            </a:lvl5pPr>
            <a:lvl6pPr marL="2286000" indent="0">
              <a:buNone/>
              <a:defRPr/>
            </a:lvl6pPr>
            <a:lvl7pPr marL="2743200" indent="0">
              <a:buNone/>
              <a:defRPr/>
            </a:lvl7pPr>
            <a:lvl8pPr marL="3200400" indent="0">
              <a:buNone/>
              <a:defRPr/>
            </a:lvl8pPr>
            <a:lvl9pPr marL="3657600" indent="0">
              <a:buNone/>
              <a:defRPr/>
            </a:lvl9pPr>
          </a:lstStyle>
          <a:p>
            <a:pPr lvl="0"/>
            <a:r>
              <a:rPr lang="en-US"/>
              <a:t>Text</a:t>
            </a: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1_Basic">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5" name="Footer Placeholder 4">
            <a:extLst>
              <a:ext uri="{FF2B5EF4-FFF2-40B4-BE49-F238E27FC236}">
                <a16:creationId xmlns:a16="http://schemas.microsoft.com/office/drawing/2014/main" id="{A44A32B0-BC81-184A-B63D-DB50355C6D70}"/>
              </a:ext>
            </a:extLst>
          </p:cNvPr>
          <p:cNvSpPr>
            <a:spLocks noGrp="1"/>
          </p:cNvSpPr>
          <p:nvPr>
            <p:ph type="ftr" sz="quarter" idx="3"/>
          </p:nvPr>
        </p:nvSpPr>
        <p:spPr>
          <a:xfrm>
            <a:off x="3200400" y="6629400"/>
            <a:ext cx="8839200" cy="228600"/>
          </a:xfrm>
          <a:prstGeom prst="rect">
            <a:avLst/>
          </a:prstGeom>
        </p:spPr>
        <p:txBody>
          <a:bodyPr vert="horz" lIns="0" tIns="0" rIns="0" bIns="0" rtlCol="0" anchor="t"/>
          <a:lstStyle>
            <a:lvl1pPr algn="r">
              <a:defRPr sz="800">
                <a:solidFill>
                  <a:schemeClr val="tx1"/>
                </a:solidFill>
              </a:defRPr>
            </a:lvl1pPr>
          </a:lstStyle>
          <a:p>
            <a:r>
              <a:rPr lang="en-US"/>
              <a:t>© 2022 University of Phoenix</a:t>
            </a:r>
          </a:p>
        </p:txBody>
      </p:sp>
      <p:sp>
        <p:nvSpPr>
          <p:cNvPr id="10" name="Title Placeholder 1">
            <a:extLst>
              <a:ext uri="{FF2B5EF4-FFF2-40B4-BE49-F238E27FC236}">
                <a16:creationId xmlns:a16="http://schemas.microsoft.com/office/drawing/2014/main" id="{4C6FB93E-4316-9C46-9765-AB8836030AC0}"/>
              </a:ext>
            </a:extLst>
          </p:cNvPr>
          <p:cNvSpPr>
            <a:spLocks noGrp="1"/>
          </p:cNvSpPr>
          <p:nvPr>
            <p:ph type="title" hasCustomPrompt="1"/>
          </p:nvPr>
        </p:nvSpPr>
        <p:spPr>
          <a:xfrm>
            <a:off x="533400" y="457200"/>
            <a:ext cx="11049000" cy="594836"/>
          </a:xfrm>
          <a:prstGeom prst="rect">
            <a:avLst/>
          </a:prstGeom>
        </p:spPr>
        <p:txBody>
          <a:bodyPr vert="horz" lIns="0" tIns="0" rIns="0" bIns="0" rtlCol="0" anchor="b">
            <a:noAutofit/>
          </a:bodyPr>
          <a:lstStyle/>
          <a:p>
            <a:r>
              <a:rPr lang="en-US"/>
              <a:t>Title</a:t>
            </a:r>
          </a:p>
        </p:txBody>
      </p:sp>
      <p:sp>
        <p:nvSpPr>
          <p:cNvPr id="11" name="Text Placeholder 2">
            <a:extLst>
              <a:ext uri="{FF2B5EF4-FFF2-40B4-BE49-F238E27FC236}">
                <a16:creationId xmlns:a16="http://schemas.microsoft.com/office/drawing/2014/main" id="{F07CE980-908D-9446-AA92-9ED80C92B9EC}"/>
              </a:ext>
            </a:extLst>
          </p:cNvPr>
          <p:cNvSpPr>
            <a:spLocks noGrp="1"/>
          </p:cNvSpPr>
          <p:nvPr>
            <p:ph idx="1" hasCustomPrompt="1"/>
          </p:nvPr>
        </p:nvSpPr>
        <p:spPr>
          <a:xfrm>
            <a:off x="533400" y="1371600"/>
            <a:ext cx="11049000" cy="5029200"/>
          </a:xfrm>
          <a:prstGeom prst="rect">
            <a:avLst/>
          </a:prstGeom>
        </p:spPr>
        <p:txBody>
          <a:bodyPr vert="horz" lIns="0" tIns="0" rIns="0" bIns="0" rtlCol="0">
            <a:normAutofit/>
          </a:bodyPr>
          <a:lstStyle>
            <a:lvl1pPr marL="0" indent="0">
              <a:buNone/>
              <a:defRPr/>
            </a:lvl1pPr>
            <a:lvl2pPr marL="457200" indent="0">
              <a:buNone/>
              <a:defRPr/>
            </a:lvl2pPr>
            <a:lvl3pPr marL="914400" indent="0">
              <a:buNone/>
              <a:defRPr/>
            </a:lvl3pPr>
            <a:lvl4pPr marL="1371600" indent="0">
              <a:buNone/>
              <a:defRPr/>
            </a:lvl4pPr>
            <a:lvl5pPr marL="1828800" indent="0">
              <a:buNone/>
              <a:defRPr/>
            </a:lvl5pPr>
            <a:lvl6pPr marL="2286000" indent="0">
              <a:buNone/>
              <a:defRPr/>
            </a:lvl6pPr>
            <a:lvl7pPr marL="2743200" indent="0">
              <a:buNone/>
              <a:defRPr/>
            </a:lvl7pPr>
            <a:lvl8pPr marL="3200400" indent="0">
              <a:buNone/>
              <a:defRPr/>
            </a:lvl8pPr>
            <a:lvl9pPr marL="3657600" indent="0">
              <a:buNone/>
              <a:defRPr/>
            </a:lvl9pPr>
          </a:lstStyle>
          <a:p>
            <a:pPr lvl="0"/>
            <a:r>
              <a:rPr lang="en-US"/>
              <a:t>Text</a:t>
            </a:r>
          </a:p>
        </p:txBody>
      </p:sp>
    </p:spTree>
    <p:extLst>
      <p:ext uri="{BB962C8B-B14F-4D97-AF65-F5344CB8AC3E}">
        <p14:creationId xmlns:p14="http://schemas.microsoft.com/office/powerpoint/2010/main" val="188499556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2 Column Thirds">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11" name="Content Placeholder 2"/>
          <p:cNvSpPr>
            <a:spLocks noGrp="1"/>
          </p:cNvSpPr>
          <p:nvPr>
            <p:ph idx="13"/>
          </p:nvPr>
        </p:nvSpPr>
        <p:spPr>
          <a:xfrm>
            <a:off x="4495800" y="1371602"/>
            <a:ext cx="7086600" cy="479727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Text Placeholder 18"/>
          <p:cNvSpPr>
            <a:spLocks noGrp="1"/>
          </p:cNvSpPr>
          <p:nvPr>
            <p:ph type="body" sz="quarter" idx="12"/>
          </p:nvPr>
        </p:nvSpPr>
        <p:spPr>
          <a:xfrm>
            <a:off x="533400" y="1368279"/>
            <a:ext cx="3200400" cy="4800600"/>
          </a:xfrm>
        </p:spPr>
        <p:txBody>
          <a:bodyPr>
            <a:normAutofit/>
          </a:bodyPr>
          <a:lstStyle>
            <a:lvl1pPr marL="0" indent="0">
              <a:buNone/>
              <a:defRPr sz="1800"/>
            </a:lvl1pPr>
          </a:lstStyle>
          <a:p>
            <a:pPr lvl="0"/>
            <a:endParaRPr lang="en-US"/>
          </a:p>
        </p:txBody>
      </p:sp>
      <p:sp>
        <p:nvSpPr>
          <p:cNvPr id="6" name="Footer Placeholder 4">
            <a:extLst>
              <a:ext uri="{FF2B5EF4-FFF2-40B4-BE49-F238E27FC236}">
                <a16:creationId xmlns:a16="http://schemas.microsoft.com/office/drawing/2014/main" id="{98E71EB1-1CFD-6746-9C20-4AF9C2215C53}"/>
              </a:ext>
            </a:extLst>
          </p:cNvPr>
          <p:cNvSpPr>
            <a:spLocks noGrp="1"/>
          </p:cNvSpPr>
          <p:nvPr>
            <p:ph type="ftr" sz="quarter" idx="3"/>
          </p:nvPr>
        </p:nvSpPr>
        <p:spPr>
          <a:xfrm>
            <a:off x="3200400" y="6629400"/>
            <a:ext cx="8839200" cy="228600"/>
          </a:xfrm>
          <a:prstGeom prst="rect">
            <a:avLst/>
          </a:prstGeom>
        </p:spPr>
        <p:txBody>
          <a:bodyPr vert="horz" lIns="0" tIns="0" rIns="0" bIns="0" rtlCol="0" anchor="t"/>
          <a:lstStyle>
            <a:lvl1pPr algn="r">
              <a:defRPr sz="800">
                <a:solidFill>
                  <a:schemeClr val="tx1"/>
                </a:solidFill>
              </a:defRPr>
            </a:lvl1pPr>
          </a:lstStyle>
          <a:p>
            <a:r>
              <a:rPr lang="en-US"/>
              <a:t>© 2022 University of Phoenix</a:t>
            </a:r>
          </a:p>
        </p:txBody>
      </p:sp>
      <p:sp>
        <p:nvSpPr>
          <p:cNvPr id="9" name="Title Placeholder 1">
            <a:extLst>
              <a:ext uri="{FF2B5EF4-FFF2-40B4-BE49-F238E27FC236}">
                <a16:creationId xmlns:a16="http://schemas.microsoft.com/office/drawing/2014/main" id="{22C10B7F-8730-B44F-9166-9FC588037585}"/>
              </a:ext>
            </a:extLst>
          </p:cNvPr>
          <p:cNvSpPr>
            <a:spLocks noGrp="1"/>
          </p:cNvSpPr>
          <p:nvPr>
            <p:ph type="title" hasCustomPrompt="1"/>
          </p:nvPr>
        </p:nvSpPr>
        <p:spPr>
          <a:xfrm>
            <a:off x="533400" y="457200"/>
            <a:ext cx="11049000" cy="594836"/>
          </a:xfrm>
          <a:prstGeom prst="rect">
            <a:avLst/>
          </a:prstGeom>
        </p:spPr>
        <p:txBody>
          <a:bodyPr vert="horz" lIns="0" tIns="0" rIns="0" bIns="0" rtlCol="0" anchor="b">
            <a:noAutofit/>
          </a:bodyPr>
          <a:lstStyle/>
          <a:p>
            <a:r>
              <a:rPr lang="en-US"/>
              <a:t>Title</a:t>
            </a:r>
          </a:p>
        </p:txBody>
      </p:sp>
    </p:spTree>
    <p:extLst>
      <p:ext uri="{BB962C8B-B14F-4D97-AF65-F5344CB8AC3E}">
        <p14:creationId xmlns:p14="http://schemas.microsoft.com/office/powerpoint/2010/main" val="37687418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2 Column">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10" name="Content Placeholder 2"/>
          <p:cNvSpPr>
            <a:spLocks noGrp="1"/>
          </p:cNvSpPr>
          <p:nvPr>
            <p:ph idx="1"/>
          </p:nvPr>
        </p:nvSpPr>
        <p:spPr>
          <a:xfrm>
            <a:off x="533400" y="1371601"/>
            <a:ext cx="4953000" cy="4793530"/>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Content Placeholder 2"/>
          <p:cNvSpPr>
            <a:spLocks noGrp="1"/>
          </p:cNvSpPr>
          <p:nvPr>
            <p:ph idx="13"/>
          </p:nvPr>
        </p:nvSpPr>
        <p:spPr>
          <a:xfrm>
            <a:off x="6553200" y="1371600"/>
            <a:ext cx="5029200" cy="4793530"/>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Title Placeholder 1">
            <a:extLst>
              <a:ext uri="{FF2B5EF4-FFF2-40B4-BE49-F238E27FC236}">
                <a16:creationId xmlns:a16="http://schemas.microsoft.com/office/drawing/2014/main" id="{B85DE246-2C6B-8241-963A-F2375570FBCB}"/>
              </a:ext>
            </a:extLst>
          </p:cNvPr>
          <p:cNvSpPr>
            <a:spLocks noGrp="1"/>
          </p:cNvSpPr>
          <p:nvPr>
            <p:ph type="title" hasCustomPrompt="1"/>
          </p:nvPr>
        </p:nvSpPr>
        <p:spPr>
          <a:xfrm>
            <a:off x="533400" y="457200"/>
            <a:ext cx="11049000" cy="594836"/>
          </a:xfrm>
          <a:prstGeom prst="rect">
            <a:avLst/>
          </a:prstGeom>
        </p:spPr>
        <p:txBody>
          <a:bodyPr vert="horz" lIns="0" tIns="0" rIns="0" bIns="0" rtlCol="0" anchor="b">
            <a:noAutofit/>
          </a:bodyPr>
          <a:lstStyle/>
          <a:p>
            <a:r>
              <a:rPr lang="en-US"/>
              <a:t>Title</a:t>
            </a:r>
          </a:p>
        </p:txBody>
      </p:sp>
      <p:sp>
        <p:nvSpPr>
          <p:cNvPr id="8" name="Footer Placeholder 4">
            <a:extLst>
              <a:ext uri="{FF2B5EF4-FFF2-40B4-BE49-F238E27FC236}">
                <a16:creationId xmlns:a16="http://schemas.microsoft.com/office/drawing/2014/main" id="{FDD7BAE9-3AB6-5B42-8DBB-FC58B11682FA}"/>
              </a:ext>
            </a:extLst>
          </p:cNvPr>
          <p:cNvSpPr>
            <a:spLocks noGrp="1"/>
          </p:cNvSpPr>
          <p:nvPr>
            <p:ph type="ftr" sz="quarter" idx="3"/>
          </p:nvPr>
        </p:nvSpPr>
        <p:spPr>
          <a:xfrm>
            <a:off x="3200400" y="6629400"/>
            <a:ext cx="8839200" cy="228600"/>
          </a:xfrm>
          <a:prstGeom prst="rect">
            <a:avLst/>
          </a:prstGeom>
        </p:spPr>
        <p:txBody>
          <a:bodyPr vert="horz" lIns="0" tIns="0" rIns="0" bIns="0" rtlCol="0" anchor="t"/>
          <a:lstStyle>
            <a:lvl1pPr algn="r">
              <a:defRPr sz="800">
                <a:solidFill>
                  <a:schemeClr val="tx1"/>
                </a:solidFill>
              </a:defRPr>
            </a:lvl1pPr>
          </a:lstStyle>
          <a:p>
            <a:r>
              <a:rPr lang="en-US"/>
              <a:t>© 2022 University of Phoenix</a:t>
            </a: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1_2 Column">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11" name="Content Placeholder 2"/>
          <p:cNvSpPr>
            <a:spLocks noGrp="1"/>
          </p:cNvSpPr>
          <p:nvPr>
            <p:ph idx="13"/>
          </p:nvPr>
        </p:nvSpPr>
        <p:spPr>
          <a:xfrm>
            <a:off x="4267200" y="1371600"/>
            <a:ext cx="7315200" cy="4793530"/>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Title Placeholder 1">
            <a:extLst>
              <a:ext uri="{FF2B5EF4-FFF2-40B4-BE49-F238E27FC236}">
                <a16:creationId xmlns:a16="http://schemas.microsoft.com/office/drawing/2014/main" id="{B85DE246-2C6B-8241-963A-F2375570FBCB}"/>
              </a:ext>
            </a:extLst>
          </p:cNvPr>
          <p:cNvSpPr>
            <a:spLocks noGrp="1"/>
          </p:cNvSpPr>
          <p:nvPr>
            <p:ph type="title" hasCustomPrompt="1"/>
          </p:nvPr>
        </p:nvSpPr>
        <p:spPr>
          <a:xfrm>
            <a:off x="4267200" y="457200"/>
            <a:ext cx="7315200" cy="594836"/>
          </a:xfrm>
          <a:prstGeom prst="rect">
            <a:avLst/>
          </a:prstGeom>
        </p:spPr>
        <p:txBody>
          <a:bodyPr vert="horz" lIns="0" tIns="0" rIns="0" bIns="0" rtlCol="0" anchor="b">
            <a:noAutofit/>
          </a:bodyPr>
          <a:lstStyle/>
          <a:p>
            <a:r>
              <a:rPr lang="en-US"/>
              <a:t>Title</a:t>
            </a:r>
          </a:p>
        </p:txBody>
      </p:sp>
      <p:sp>
        <p:nvSpPr>
          <p:cNvPr id="8" name="Footer Placeholder 4">
            <a:extLst>
              <a:ext uri="{FF2B5EF4-FFF2-40B4-BE49-F238E27FC236}">
                <a16:creationId xmlns:a16="http://schemas.microsoft.com/office/drawing/2014/main" id="{FDD7BAE9-3AB6-5B42-8DBB-FC58B11682FA}"/>
              </a:ext>
            </a:extLst>
          </p:cNvPr>
          <p:cNvSpPr>
            <a:spLocks noGrp="1"/>
          </p:cNvSpPr>
          <p:nvPr>
            <p:ph type="ftr" sz="quarter" idx="3"/>
          </p:nvPr>
        </p:nvSpPr>
        <p:spPr>
          <a:xfrm>
            <a:off x="3200400" y="6629400"/>
            <a:ext cx="8839200" cy="228600"/>
          </a:xfrm>
          <a:prstGeom prst="rect">
            <a:avLst/>
          </a:prstGeom>
        </p:spPr>
        <p:txBody>
          <a:bodyPr vert="horz" lIns="0" tIns="0" rIns="0" bIns="0" rtlCol="0" anchor="t"/>
          <a:lstStyle>
            <a:lvl1pPr algn="r">
              <a:defRPr sz="800">
                <a:solidFill>
                  <a:schemeClr val="tx1"/>
                </a:solidFill>
              </a:defRPr>
            </a:lvl1pPr>
          </a:lstStyle>
          <a:p>
            <a:r>
              <a:rPr lang="en-US"/>
              <a:t>© 2022 University of Phoenix</a:t>
            </a:r>
          </a:p>
        </p:txBody>
      </p:sp>
    </p:spTree>
    <p:custDataLst>
      <p:tags r:id="rId1"/>
    </p:custDataLst>
    <p:extLst>
      <p:ext uri="{BB962C8B-B14F-4D97-AF65-F5344CB8AC3E}">
        <p14:creationId xmlns:p14="http://schemas.microsoft.com/office/powerpoint/2010/main" val="310491123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2_2 Column">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11" name="Content Placeholder 2"/>
          <p:cNvSpPr>
            <a:spLocks noGrp="1"/>
          </p:cNvSpPr>
          <p:nvPr>
            <p:ph idx="13"/>
          </p:nvPr>
        </p:nvSpPr>
        <p:spPr>
          <a:xfrm>
            <a:off x="4267200" y="1371600"/>
            <a:ext cx="7315200" cy="4793530"/>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Title Placeholder 1">
            <a:extLst>
              <a:ext uri="{FF2B5EF4-FFF2-40B4-BE49-F238E27FC236}">
                <a16:creationId xmlns:a16="http://schemas.microsoft.com/office/drawing/2014/main" id="{B85DE246-2C6B-8241-963A-F2375570FBCB}"/>
              </a:ext>
            </a:extLst>
          </p:cNvPr>
          <p:cNvSpPr>
            <a:spLocks noGrp="1"/>
          </p:cNvSpPr>
          <p:nvPr>
            <p:ph type="title" hasCustomPrompt="1"/>
          </p:nvPr>
        </p:nvSpPr>
        <p:spPr>
          <a:xfrm>
            <a:off x="4267200" y="457200"/>
            <a:ext cx="7315200" cy="594836"/>
          </a:xfrm>
          <a:prstGeom prst="rect">
            <a:avLst/>
          </a:prstGeom>
        </p:spPr>
        <p:txBody>
          <a:bodyPr vert="horz" lIns="0" tIns="0" rIns="0" bIns="0" rtlCol="0" anchor="b">
            <a:noAutofit/>
          </a:bodyPr>
          <a:lstStyle/>
          <a:p>
            <a:r>
              <a:rPr lang="en-US"/>
              <a:t>Title</a:t>
            </a:r>
          </a:p>
        </p:txBody>
      </p:sp>
      <p:sp>
        <p:nvSpPr>
          <p:cNvPr id="8" name="Footer Placeholder 4">
            <a:extLst>
              <a:ext uri="{FF2B5EF4-FFF2-40B4-BE49-F238E27FC236}">
                <a16:creationId xmlns:a16="http://schemas.microsoft.com/office/drawing/2014/main" id="{FDD7BAE9-3AB6-5B42-8DBB-FC58B11682FA}"/>
              </a:ext>
            </a:extLst>
          </p:cNvPr>
          <p:cNvSpPr>
            <a:spLocks noGrp="1"/>
          </p:cNvSpPr>
          <p:nvPr>
            <p:ph type="ftr" sz="quarter" idx="3"/>
          </p:nvPr>
        </p:nvSpPr>
        <p:spPr>
          <a:xfrm>
            <a:off x="3200400" y="6629400"/>
            <a:ext cx="8839200" cy="228600"/>
          </a:xfrm>
          <a:prstGeom prst="rect">
            <a:avLst/>
          </a:prstGeom>
        </p:spPr>
        <p:txBody>
          <a:bodyPr vert="horz" lIns="0" tIns="0" rIns="0" bIns="0" rtlCol="0" anchor="t"/>
          <a:lstStyle>
            <a:lvl1pPr algn="r">
              <a:defRPr sz="800">
                <a:solidFill>
                  <a:schemeClr val="tx1"/>
                </a:solidFill>
              </a:defRPr>
            </a:lvl1pPr>
          </a:lstStyle>
          <a:p>
            <a:r>
              <a:rPr lang="en-US"/>
              <a:t>© 2022 University of Phoenix</a:t>
            </a:r>
          </a:p>
        </p:txBody>
      </p:sp>
    </p:spTree>
    <p:custDataLst>
      <p:tags r:id="rId1"/>
    </p:custDataLst>
    <p:extLst>
      <p:ext uri="{BB962C8B-B14F-4D97-AF65-F5344CB8AC3E}">
        <p14:creationId xmlns:p14="http://schemas.microsoft.com/office/powerpoint/2010/main" val="374318065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4_2 Column">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11" name="Content Placeholder 2"/>
          <p:cNvSpPr>
            <a:spLocks noGrp="1"/>
          </p:cNvSpPr>
          <p:nvPr>
            <p:ph idx="13"/>
          </p:nvPr>
        </p:nvSpPr>
        <p:spPr>
          <a:xfrm>
            <a:off x="609600" y="1371600"/>
            <a:ext cx="7315200" cy="4793530"/>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Title Placeholder 1">
            <a:extLst>
              <a:ext uri="{FF2B5EF4-FFF2-40B4-BE49-F238E27FC236}">
                <a16:creationId xmlns:a16="http://schemas.microsoft.com/office/drawing/2014/main" id="{B85DE246-2C6B-8241-963A-F2375570FBCB}"/>
              </a:ext>
            </a:extLst>
          </p:cNvPr>
          <p:cNvSpPr>
            <a:spLocks noGrp="1"/>
          </p:cNvSpPr>
          <p:nvPr>
            <p:ph type="title" hasCustomPrompt="1"/>
          </p:nvPr>
        </p:nvSpPr>
        <p:spPr>
          <a:xfrm>
            <a:off x="609600" y="457200"/>
            <a:ext cx="7315200" cy="594836"/>
          </a:xfrm>
          <a:prstGeom prst="rect">
            <a:avLst/>
          </a:prstGeom>
        </p:spPr>
        <p:txBody>
          <a:bodyPr vert="horz" lIns="0" tIns="0" rIns="0" bIns="0" rtlCol="0" anchor="b">
            <a:noAutofit/>
          </a:bodyPr>
          <a:lstStyle/>
          <a:p>
            <a:r>
              <a:rPr lang="en-US"/>
              <a:t>Title</a:t>
            </a:r>
          </a:p>
        </p:txBody>
      </p:sp>
      <p:sp>
        <p:nvSpPr>
          <p:cNvPr id="8" name="Footer Placeholder 4">
            <a:extLst>
              <a:ext uri="{FF2B5EF4-FFF2-40B4-BE49-F238E27FC236}">
                <a16:creationId xmlns:a16="http://schemas.microsoft.com/office/drawing/2014/main" id="{FDD7BAE9-3AB6-5B42-8DBB-FC58B11682FA}"/>
              </a:ext>
            </a:extLst>
          </p:cNvPr>
          <p:cNvSpPr>
            <a:spLocks noGrp="1"/>
          </p:cNvSpPr>
          <p:nvPr>
            <p:ph type="ftr" sz="quarter" idx="3"/>
          </p:nvPr>
        </p:nvSpPr>
        <p:spPr>
          <a:xfrm>
            <a:off x="3200400" y="6629400"/>
            <a:ext cx="8839200" cy="228600"/>
          </a:xfrm>
          <a:prstGeom prst="rect">
            <a:avLst/>
          </a:prstGeom>
        </p:spPr>
        <p:txBody>
          <a:bodyPr vert="horz" lIns="0" tIns="0" rIns="0" bIns="0" rtlCol="0" anchor="t"/>
          <a:lstStyle>
            <a:lvl1pPr algn="r">
              <a:defRPr sz="800">
                <a:solidFill>
                  <a:schemeClr val="bg1"/>
                </a:solidFill>
              </a:defRPr>
            </a:lvl1pPr>
          </a:lstStyle>
          <a:p>
            <a:r>
              <a:rPr lang="en-US"/>
              <a:t>© 2022 University of Phoenix</a:t>
            </a:r>
          </a:p>
        </p:txBody>
      </p:sp>
    </p:spTree>
    <p:custDataLst>
      <p:tags r:id="rId1"/>
    </p:custDataLst>
    <p:extLst>
      <p:ext uri="{BB962C8B-B14F-4D97-AF65-F5344CB8AC3E}">
        <p14:creationId xmlns:p14="http://schemas.microsoft.com/office/powerpoint/2010/main" val="130726906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5_2 Column">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11" name="Content Placeholder 2"/>
          <p:cNvSpPr>
            <a:spLocks noGrp="1"/>
          </p:cNvSpPr>
          <p:nvPr>
            <p:ph idx="13"/>
          </p:nvPr>
        </p:nvSpPr>
        <p:spPr>
          <a:xfrm>
            <a:off x="609600" y="1371600"/>
            <a:ext cx="7315200" cy="4793530"/>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Title Placeholder 1">
            <a:extLst>
              <a:ext uri="{FF2B5EF4-FFF2-40B4-BE49-F238E27FC236}">
                <a16:creationId xmlns:a16="http://schemas.microsoft.com/office/drawing/2014/main" id="{B85DE246-2C6B-8241-963A-F2375570FBCB}"/>
              </a:ext>
            </a:extLst>
          </p:cNvPr>
          <p:cNvSpPr>
            <a:spLocks noGrp="1"/>
          </p:cNvSpPr>
          <p:nvPr>
            <p:ph type="title" hasCustomPrompt="1"/>
          </p:nvPr>
        </p:nvSpPr>
        <p:spPr>
          <a:xfrm>
            <a:off x="609600" y="457200"/>
            <a:ext cx="7315200" cy="594836"/>
          </a:xfrm>
          <a:prstGeom prst="rect">
            <a:avLst/>
          </a:prstGeom>
        </p:spPr>
        <p:txBody>
          <a:bodyPr vert="horz" lIns="0" tIns="0" rIns="0" bIns="0" rtlCol="0" anchor="b">
            <a:noAutofit/>
          </a:bodyPr>
          <a:lstStyle/>
          <a:p>
            <a:r>
              <a:rPr lang="en-US"/>
              <a:t>Title</a:t>
            </a:r>
          </a:p>
        </p:txBody>
      </p:sp>
      <p:sp>
        <p:nvSpPr>
          <p:cNvPr id="8" name="Footer Placeholder 4">
            <a:extLst>
              <a:ext uri="{FF2B5EF4-FFF2-40B4-BE49-F238E27FC236}">
                <a16:creationId xmlns:a16="http://schemas.microsoft.com/office/drawing/2014/main" id="{FDD7BAE9-3AB6-5B42-8DBB-FC58B11682FA}"/>
              </a:ext>
            </a:extLst>
          </p:cNvPr>
          <p:cNvSpPr>
            <a:spLocks noGrp="1"/>
          </p:cNvSpPr>
          <p:nvPr>
            <p:ph type="ftr" sz="quarter" idx="3"/>
          </p:nvPr>
        </p:nvSpPr>
        <p:spPr>
          <a:xfrm>
            <a:off x="3200400" y="6629400"/>
            <a:ext cx="8839200" cy="228600"/>
          </a:xfrm>
          <a:prstGeom prst="rect">
            <a:avLst/>
          </a:prstGeom>
        </p:spPr>
        <p:txBody>
          <a:bodyPr vert="horz" lIns="0" tIns="0" rIns="0" bIns="0" rtlCol="0" anchor="t"/>
          <a:lstStyle>
            <a:lvl1pPr algn="r">
              <a:defRPr sz="800">
                <a:solidFill>
                  <a:schemeClr val="bg1"/>
                </a:solidFill>
              </a:defRPr>
            </a:lvl1pPr>
          </a:lstStyle>
          <a:p>
            <a:r>
              <a:rPr lang="en-US"/>
              <a:t>© 2022 University of Phoenix</a:t>
            </a:r>
          </a:p>
        </p:txBody>
      </p:sp>
    </p:spTree>
    <p:custDataLst>
      <p:tags r:id="rId1"/>
    </p:custDataLst>
    <p:extLst>
      <p:ext uri="{BB962C8B-B14F-4D97-AF65-F5344CB8AC3E}">
        <p14:creationId xmlns:p14="http://schemas.microsoft.com/office/powerpoint/2010/main" val="60504069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3_2 Column">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11" name="Content Placeholder 2"/>
          <p:cNvSpPr>
            <a:spLocks noGrp="1"/>
          </p:cNvSpPr>
          <p:nvPr>
            <p:ph idx="13"/>
          </p:nvPr>
        </p:nvSpPr>
        <p:spPr>
          <a:xfrm>
            <a:off x="4267200" y="1371600"/>
            <a:ext cx="7315200" cy="4793530"/>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Title Placeholder 1">
            <a:extLst>
              <a:ext uri="{FF2B5EF4-FFF2-40B4-BE49-F238E27FC236}">
                <a16:creationId xmlns:a16="http://schemas.microsoft.com/office/drawing/2014/main" id="{B85DE246-2C6B-8241-963A-F2375570FBCB}"/>
              </a:ext>
            </a:extLst>
          </p:cNvPr>
          <p:cNvSpPr>
            <a:spLocks noGrp="1"/>
          </p:cNvSpPr>
          <p:nvPr>
            <p:ph type="title" hasCustomPrompt="1"/>
          </p:nvPr>
        </p:nvSpPr>
        <p:spPr>
          <a:xfrm>
            <a:off x="4267200" y="457200"/>
            <a:ext cx="7315200" cy="594836"/>
          </a:xfrm>
          <a:prstGeom prst="rect">
            <a:avLst/>
          </a:prstGeom>
        </p:spPr>
        <p:txBody>
          <a:bodyPr vert="horz" lIns="0" tIns="0" rIns="0" bIns="0" rtlCol="0" anchor="b">
            <a:noAutofit/>
          </a:bodyPr>
          <a:lstStyle/>
          <a:p>
            <a:r>
              <a:rPr lang="en-US"/>
              <a:t>Title</a:t>
            </a:r>
          </a:p>
        </p:txBody>
      </p:sp>
      <p:sp>
        <p:nvSpPr>
          <p:cNvPr id="8" name="Footer Placeholder 4">
            <a:extLst>
              <a:ext uri="{FF2B5EF4-FFF2-40B4-BE49-F238E27FC236}">
                <a16:creationId xmlns:a16="http://schemas.microsoft.com/office/drawing/2014/main" id="{FDD7BAE9-3AB6-5B42-8DBB-FC58B11682FA}"/>
              </a:ext>
            </a:extLst>
          </p:cNvPr>
          <p:cNvSpPr>
            <a:spLocks noGrp="1"/>
          </p:cNvSpPr>
          <p:nvPr>
            <p:ph type="ftr" sz="quarter" idx="3"/>
          </p:nvPr>
        </p:nvSpPr>
        <p:spPr>
          <a:xfrm>
            <a:off x="3200400" y="6629400"/>
            <a:ext cx="8839200" cy="228600"/>
          </a:xfrm>
          <a:prstGeom prst="rect">
            <a:avLst/>
          </a:prstGeom>
        </p:spPr>
        <p:txBody>
          <a:bodyPr vert="horz" lIns="0" tIns="0" rIns="0" bIns="0" rtlCol="0" anchor="t"/>
          <a:lstStyle>
            <a:lvl1pPr algn="r">
              <a:defRPr sz="800">
                <a:solidFill>
                  <a:schemeClr val="tx1"/>
                </a:solidFill>
              </a:defRPr>
            </a:lvl1pPr>
          </a:lstStyle>
          <a:p>
            <a:r>
              <a:rPr lang="en-US"/>
              <a:t>© 2022 University of Phoenix</a:t>
            </a:r>
          </a:p>
        </p:txBody>
      </p:sp>
    </p:spTree>
    <p:custDataLst>
      <p:tags r:id="rId1"/>
    </p:custDataLst>
    <p:extLst>
      <p:ext uri="{BB962C8B-B14F-4D97-AF65-F5344CB8AC3E}">
        <p14:creationId xmlns:p14="http://schemas.microsoft.com/office/powerpoint/2010/main" val="187921207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609600" y="2286000"/>
            <a:ext cx="9829800" cy="914400"/>
          </a:xfrm>
        </p:spPr>
        <p:txBody>
          <a:bodyPr anchor="t">
            <a:normAutofit/>
          </a:bodyPr>
          <a:lstStyle>
            <a:lvl1pPr>
              <a:defRPr sz="5400" b="0">
                <a:solidFill>
                  <a:schemeClr val="bg1"/>
                </a:solidFill>
              </a:defRPr>
            </a:lvl1pPr>
          </a:lstStyle>
          <a:p>
            <a:r>
              <a:rPr lang="en-US"/>
              <a:t>Header</a:t>
            </a:r>
          </a:p>
        </p:txBody>
      </p:sp>
      <p:sp>
        <p:nvSpPr>
          <p:cNvPr id="3" name="Subtitle 2"/>
          <p:cNvSpPr>
            <a:spLocks noGrp="1"/>
          </p:cNvSpPr>
          <p:nvPr>
            <p:ph type="subTitle" idx="1" hasCustomPrompt="1"/>
          </p:nvPr>
        </p:nvSpPr>
        <p:spPr>
          <a:xfrm>
            <a:off x="609600" y="3429000"/>
            <a:ext cx="9829800" cy="457200"/>
          </a:xfrm>
        </p:spPr>
        <p:txBody>
          <a:bodyPr>
            <a:normAutofit/>
          </a:bodyPr>
          <a:lstStyle>
            <a:lvl1pPr marL="0" indent="0" algn="l">
              <a:buNone/>
              <a:defRPr sz="2000" baseline="0">
                <a:solidFill>
                  <a:schemeClr val="bg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Sub Header</a:t>
            </a:r>
          </a:p>
        </p:txBody>
      </p:sp>
      <p:sp>
        <p:nvSpPr>
          <p:cNvPr id="5" name="Footer Placeholder 4">
            <a:extLst>
              <a:ext uri="{FF2B5EF4-FFF2-40B4-BE49-F238E27FC236}">
                <a16:creationId xmlns:a16="http://schemas.microsoft.com/office/drawing/2014/main" id="{F2FD3FD6-AD04-2A4C-81EE-589B6F3D30D7}"/>
              </a:ext>
            </a:extLst>
          </p:cNvPr>
          <p:cNvSpPr>
            <a:spLocks noGrp="1"/>
          </p:cNvSpPr>
          <p:nvPr>
            <p:ph type="ftr" sz="quarter" idx="3"/>
          </p:nvPr>
        </p:nvSpPr>
        <p:spPr>
          <a:xfrm>
            <a:off x="3200400" y="6629400"/>
            <a:ext cx="8839200" cy="228600"/>
          </a:xfrm>
          <a:prstGeom prst="rect">
            <a:avLst/>
          </a:prstGeom>
        </p:spPr>
        <p:txBody>
          <a:bodyPr vert="horz" lIns="0" tIns="0" rIns="0" bIns="0" rtlCol="0" anchor="t"/>
          <a:lstStyle>
            <a:lvl1pPr algn="r">
              <a:defRPr sz="800">
                <a:solidFill>
                  <a:schemeClr val="bg1"/>
                </a:solidFill>
              </a:defRPr>
            </a:lvl1pPr>
          </a:lstStyle>
          <a:p>
            <a:r>
              <a:rPr lang="en-US"/>
              <a:t>© 2022 University of Phoenix</a:t>
            </a:r>
          </a:p>
        </p:txBody>
      </p:sp>
    </p:spTree>
    <p:custDataLst>
      <p:tags r:id="rId1"/>
    </p:custDataLst>
    <p:extLst>
      <p:ext uri="{BB962C8B-B14F-4D97-AF65-F5344CB8AC3E}">
        <p14:creationId xmlns:p14="http://schemas.microsoft.com/office/powerpoint/2010/main" val="62361502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itle" preserve="1">
  <p:cSld name="1_Title">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609600" y="2743200"/>
            <a:ext cx="9829800" cy="914400"/>
          </a:xfrm>
        </p:spPr>
        <p:txBody>
          <a:bodyPr anchor="t">
            <a:normAutofit/>
          </a:bodyPr>
          <a:lstStyle>
            <a:lvl1pPr>
              <a:defRPr sz="5400" b="0">
                <a:solidFill>
                  <a:schemeClr val="bg1"/>
                </a:solidFill>
              </a:defRPr>
            </a:lvl1pPr>
          </a:lstStyle>
          <a:p>
            <a:r>
              <a:rPr lang="en-US"/>
              <a:t>Header</a:t>
            </a:r>
          </a:p>
        </p:txBody>
      </p:sp>
      <p:sp>
        <p:nvSpPr>
          <p:cNvPr id="3" name="Subtitle 2"/>
          <p:cNvSpPr>
            <a:spLocks noGrp="1"/>
          </p:cNvSpPr>
          <p:nvPr>
            <p:ph type="subTitle" idx="1" hasCustomPrompt="1"/>
          </p:nvPr>
        </p:nvSpPr>
        <p:spPr>
          <a:xfrm>
            <a:off x="609600" y="3886200"/>
            <a:ext cx="9829800" cy="457200"/>
          </a:xfrm>
        </p:spPr>
        <p:txBody>
          <a:bodyPr>
            <a:normAutofit/>
          </a:bodyPr>
          <a:lstStyle>
            <a:lvl1pPr marL="0" indent="0" algn="l">
              <a:buNone/>
              <a:defRPr sz="2000" baseline="0">
                <a:solidFill>
                  <a:schemeClr val="bg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Sub Header</a:t>
            </a:r>
          </a:p>
        </p:txBody>
      </p:sp>
      <p:sp>
        <p:nvSpPr>
          <p:cNvPr id="5" name="Footer Placeholder 4">
            <a:extLst>
              <a:ext uri="{FF2B5EF4-FFF2-40B4-BE49-F238E27FC236}">
                <a16:creationId xmlns:a16="http://schemas.microsoft.com/office/drawing/2014/main" id="{F2FD3FD6-AD04-2A4C-81EE-589B6F3D30D7}"/>
              </a:ext>
            </a:extLst>
          </p:cNvPr>
          <p:cNvSpPr>
            <a:spLocks noGrp="1"/>
          </p:cNvSpPr>
          <p:nvPr>
            <p:ph type="ftr" sz="quarter" idx="3"/>
          </p:nvPr>
        </p:nvSpPr>
        <p:spPr>
          <a:xfrm>
            <a:off x="3200400" y="6629400"/>
            <a:ext cx="8839200" cy="228600"/>
          </a:xfrm>
          <a:prstGeom prst="rect">
            <a:avLst/>
          </a:prstGeom>
        </p:spPr>
        <p:txBody>
          <a:bodyPr vert="horz" lIns="0" tIns="0" rIns="0" bIns="0" rtlCol="0" anchor="t"/>
          <a:lstStyle>
            <a:lvl1pPr algn="r">
              <a:defRPr sz="800">
                <a:solidFill>
                  <a:schemeClr val="bg1"/>
                </a:solidFill>
              </a:defRPr>
            </a:lvl1pPr>
          </a:lstStyle>
          <a:p>
            <a:r>
              <a:rPr lang="en-US"/>
              <a:t>© 2022 University of Phoenix</a:t>
            </a:r>
          </a:p>
        </p:txBody>
      </p:sp>
    </p:spTree>
    <p:custDataLst>
      <p:tags r:id="rId1"/>
    </p:custDataLst>
    <p:extLst>
      <p:ext uri="{BB962C8B-B14F-4D97-AF65-F5344CB8AC3E}">
        <p14:creationId xmlns:p14="http://schemas.microsoft.com/office/powerpoint/2010/main" val="13566376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Basic">
    <p:spTree>
      <p:nvGrpSpPr>
        <p:cNvPr id="1" name=""/>
        <p:cNvGrpSpPr/>
        <p:nvPr/>
      </p:nvGrpSpPr>
      <p:grpSpPr>
        <a:xfrm>
          <a:off x="0" y="0"/>
          <a:ext cx="0" cy="0"/>
          <a:chOff x="0" y="0"/>
          <a:chExt cx="0" cy="0"/>
        </a:xfrm>
      </p:grpSpPr>
      <p:sp>
        <p:nvSpPr>
          <p:cNvPr id="5" name="Footer Placeholder 4">
            <a:extLst>
              <a:ext uri="{FF2B5EF4-FFF2-40B4-BE49-F238E27FC236}">
                <a16:creationId xmlns:a16="http://schemas.microsoft.com/office/drawing/2014/main" id="{A44A32B0-BC81-184A-B63D-DB50355C6D70}"/>
              </a:ext>
            </a:extLst>
          </p:cNvPr>
          <p:cNvSpPr>
            <a:spLocks noGrp="1"/>
          </p:cNvSpPr>
          <p:nvPr>
            <p:ph type="ftr" sz="quarter" idx="3"/>
          </p:nvPr>
        </p:nvSpPr>
        <p:spPr>
          <a:xfrm>
            <a:off x="3200400" y="6629400"/>
            <a:ext cx="8839200" cy="228600"/>
          </a:xfrm>
          <a:prstGeom prst="rect">
            <a:avLst/>
          </a:prstGeom>
        </p:spPr>
        <p:txBody>
          <a:bodyPr vert="horz" lIns="0" tIns="0" rIns="0" bIns="0" rtlCol="0" anchor="t"/>
          <a:lstStyle>
            <a:lvl1pPr algn="r">
              <a:defRPr sz="800">
                <a:solidFill>
                  <a:schemeClr val="tx1"/>
                </a:solidFill>
              </a:defRPr>
            </a:lvl1pPr>
          </a:lstStyle>
          <a:p>
            <a:r>
              <a:rPr lang="en-US"/>
              <a:t>© 2022 University of Phoenix</a:t>
            </a:r>
          </a:p>
        </p:txBody>
      </p:sp>
      <p:sp>
        <p:nvSpPr>
          <p:cNvPr id="10" name="Title Placeholder 1">
            <a:extLst>
              <a:ext uri="{FF2B5EF4-FFF2-40B4-BE49-F238E27FC236}">
                <a16:creationId xmlns:a16="http://schemas.microsoft.com/office/drawing/2014/main" id="{4C6FB93E-4316-9C46-9765-AB8836030AC0}"/>
              </a:ext>
            </a:extLst>
          </p:cNvPr>
          <p:cNvSpPr>
            <a:spLocks noGrp="1"/>
          </p:cNvSpPr>
          <p:nvPr>
            <p:ph type="title" hasCustomPrompt="1"/>
          </p:nvPr>
        </p:nvSpPr>
        <p:spPr>
          <a:xfrm>
            <a:off x="533400" y="457200"/>
            <a:ext cx="11049000" cy="594836"/>
          </a:xfrm>
          <a:prstGeom prst="rect">
            <a:avLst/>
          </a:prstGeom>
        </p:spPr>
        <p:txBody>
          <a:bodyPr vert="horz" lIns="0" tIns="0" rIns="0" bIns="0" rtlCol="0" anchor="b">
            <a:noAutofit/>
          </a:bodyPr>
          <a:lstStyle/>
          <a:p>
            <a:r>
              <a:rPr lang="en-US"/>
              <a:t>Title</a:t>
            </a:r>
          </a:p>
        </p:txBody>
      </p:sp>
      <p:sp>
        <p:nvSpPr>
          <p:cNvPr id="11" name="Text Placeholder 2">
            <a:extLst>
              <a:ext uri="{FF2B5EF4-FFF2-40B4-BE49-F238E27FC236}">
                <a16:creationId xmlns:a16="http://schemas.microsoft.com/office/drawing/2014/main" id="{F07CE980-908D-9446-AA92-9ED80C92B9EC}"/>
              </a:ext>
            </a:extLst>
          </p:cNvPr>
          <p:cNvSpPr>
            <a:spLocks noGrp="1"/>
          </p:cNvSpPr>
          <p:nvPr>
            <p:ph idx="1" hasCustomPrompt="1"/>
          </p:nvPr>
        </p:nvSpPr>
        <p:spPr>
          <a:xfrm>
            <a:off x="533400" y="1371600"/>
            <a:ext cx="11049000" cy="5029200"/>
          </a:xfrm>
          <a:prstGeom prst="rect">
            <a:avLst/>
          </a:prstGeom>
        </p:spPr>
        <p:txBody>
          <a:bodyPr vert="horz" lIns="0" tIns="0" rIns="0" bIns="0" rtlCol="0">
            <a:normAutofit/>
          </a:bodyPr>
          <a:lstStyle>
            <a:lvl1pPr marL="0" indent="0">
              <a:buNone/>
              <a:defRPr/>
            </a:lvl1pPr>
            <a:lvl2pPr marL="457200" indent="0">
              <a:buNone/>
              <a:defRPr/>
            </a:lvl2pPr>
            <a:lvl3pPr marL="914400" indent="0">
              <a:buNone/>
              <a:defRPr/>
            </a:lvl3pPr>
            <a:lvl4pPr marL="1371600" indent="0">
              <a:buNone/>
              <a:defRPr/>
            </a:lvl4pPr>
            <a:lvl5pPr marL="1828800" indent="0">
              <a:buNone/>
              <a:defRPr/>
            </a:lvl5pPr>
            <a:lvl6pPr marL="2286000" indent="0">
              <a:buNone/>
              <a:defRPr/>
            </a:lvl6pPr>
            <a:lvl7pPr marL="2743200" indent="0">
              <a:buNone/>
              <a:defRPr/>
            </a:lvl7pPr>
            <a:lvl8pPr marL="3200400" indent="0">
              <a:buNone/>
              <a:defRPr/>
            </a:lvl8pPr>
            <a:lvl9pPr marL="3657600" indent="0">
              <a:buNone/>
              <a:defRPr/>
            </a:lvl9pPr>
          </a:lstStyle>
          <a:p>
            <a:pPr lvl="0"/>
            <a:r>
              <a:rPr lang="en-US"/>
              <a:t>Text</a:t>
            </a:r>
          </a:p>
        </p:txBody>
      </p:sp>
    </p:spTree>
    <p:custDataLst>
      <p:tags r:id="rId1"/>
    </p:custDataLst>
    <p:extLst>
      <p:ext uri="{BB962C8B-B14F-4D97-AF65-F5344CB8AC3E}">
        <p14:creationId xmlns:p14="http://schemas.microsoft.com/office/powerpoint/2010/main" val="347349621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1_Basic">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5" name="Footer Placeholder 4">
            <a:extLst>
              <a:ext uri="{FF2B5EF4-FFF2-40B4-BE49-F238E27FC236}">
                <a16:creationId xmlns:a16="http://schemas.microsoft.com/office/drawing/2014/main" id="{A44A32B0-BC81-184A-B63D-DB50355C6D70}"/>
              </a:ext>
            </a:extLst>
          </p:cNvPr>
          <p:cNvSpPr>
            <a:spLocks noGrp="1"/>
          </p:cNvSpPr>
          <p:nvPr>
            <p:ph type="ftr" sz="quarter" idx="3"/>
          </p:nvPr>
        </p:nvSpPr>
        <p:spPr>
          <a:xfrm>
            <a:off x="3200400" y="6629400"/>
            <a:ext cx="8839200" cy="228600"/>
          </a:xfrm>
          <a:prstGeom prst="rect">
            <a:avLst/>
          </a:prstGeom>
        </p:spPr>
        <p:txBody>
          <a:bodyPr vert="horz" lIns="0" tIns="0" rIns="0" bIns="0" rtlCol="0" anchor="t"/>
          <a:lstStyle>
            <a:lvl1pPr algn="r">
              <a:defRPr sz="800">
                <a:solidFill>
                  <a:schemeClr val="tx1"/>
                </a:solidFill>
              </a:defRPr>
            </a:lvl1pPr>
          </a:lstStyle>
          <a:p>
            <a:r>
              <a:rPr lang="en-US"/>
              <a:t>© 2022 University of Phoenix</a:t>
            </a:r>
          </a:p>
        </p:txBody>
      </p:sp>
      <p:sp>
        <p:nvSpPr>
          <p:cNvPr id="10" name="Title Placeholder 1">
            <a:extLst>
              <a:ext uri="{FF2B5EF4-FFF2-40B4-BE49-F238E27FC236}">
                <a16:creationId xmlns:a16="http://schemas.microsoft.com/office/drawing/2014/main" id="{4C6FB93E-4316-9C46-9765-AB8836030AC0}"/>
              </a:ext>
            </a:extLst>
          </p:cNvPr>
          <p:cNvSpPr>
            <a:spLocks noGrp="1"/>
          </p:cNvSpPr>
          <p:nvPr>
            <p:ph type="title" hasCustomPrompt="1"/>
          </p:nvPr>
        </p:nvSpPr>
        <p:spPr>
          <a:xfrm>
            <a:off x="533400" y="457200"/>
            <a:ext cx="11049000" cy="594836"/>
          </a:xfrm>
          <a:prstGeom prst="rect">
            <a:avLst/>
          </a:prstGeom>
        </p:spPr>
        <p:txBody>
          <a:bodyPr vert="horz" lIns="0" tIns="0" rIns="0" bIns="0" rtlCol="0" anchor="b">
            <a:noAutofit/>
          </a:bodyPr>
          <a:lstStyle/>
          <a:p>
            <a:r>
              <a:rPr lang="en-US"/>
              <a:t>Title</a:t>
            </a:r>
          </a:p>
        </p:txBody>
      </p:sp>
      <p:sp>
        <p:nvSpPr>
          <p:cNvPr id="11" name="Text Placeholder 2">
            <a:extLst>
              <a:ext uri="{FF2B5EF4-FFF2-40B4-BE49-F238E27FC236}">
                <a16:creationId xmlns:a16="http://schemas.microsoft.com/office/drawing/2014/main" id="{F07CE980-908D-9446-AA92-9ED80C92B9EC}"/>
              </a:ext>
            </a:extLst>
          </p:cNvPr>
          <p:cNvSpPr>
            <a:spLocks noGrp="1"/>
          </p:cNvSpPr>
          <p:nvPr>
            <p:ph idx="1" hasCustomPrompt="1"/>
          </p:nvPr>
        </p:nvSpPr>
        <p:spPr>
          <a:xfrm>
            <a:off x="533400" y="1371600"/>
            <a:ext cx="11049000" cy="5029200"/>
          </a:xfrm>
          <a:prstGeom prst="rect">
            <a:avLst/>
          </a:prstGeom>
        </p:spPr>
        <p:txBody>
          <a:bodyPr vert="horz" lIns="0" tIns="0" rIns="0" bIns="0" rtlCol="0">
            <a:normAutofit/>
          </a:bodyPr>
          <a:lstStyle>
            <a:lvl1pPr marL="0" indent="0">
              <a:buNone/>
              <a:defRPr/>
            </a:lvl1pPr>
            <a:lvl2pPr marL="457200" indent="0">
              <a:buNone/>
              <a:defRPr/>
            </a:lvl2pPr>
            <a:lvl3pPr marL="914400" indent="0">
              <a:buNone/>
              <a:defRPr/>
            </a:lvl3pPr>
            <a:lvl4pPr marL="1371600" indent="0">
              <a:buNone/>
              <a:defRPr/>
            </a:lvl4pPr>
            <a:lvl5pPr marL="1828800" indent="0">
              <a:buNone/>
              <a:defRPr/>
            </a:lvl5pPr>
            <a:lvl6pPr marL="2286000" indent="0">
              <a:buNone/>
              <a:defRPr/>
            </a:lvl6pPr>
            <a:lvl7pPr marL="2743200" indent="0">
              <a:buNone/>
              <a:defRPr/>
            </a:lvl7pPr>
            <a:lvl8pPr marL="3200400" indent="0">
              <a:buNone/>
              <a:defRPr/>
            </a:lvl8pPr>
            <a:lvl9pPr marL="3657600" indent="0">
              <a:buNone/>
              <a:defRPr/>
            </a:lvl9pPr>
          </a:lstStyle>
          <a:p>
            <a:pPr lvl="0"/>
            <a:r>
              <a:rPr lang="en-US"/>
              <a:t>Text</a:t>
            </a:r>
          </a:p>
        </p:txBody>
      </p:sp>
    </p:spTree>
    <p:extLst>
      <p:ext uri="{BB962C8B-B14F-4D97-AF65-F5344CB8AC3E}">
        <p14:creationId xmlns:p14="http://schemas.microsoft.com/office/powerpoint/2010/main" val="663375464"/>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2 Column Thirds">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11" name="Content Placeholder 2"/>
          <p:cNvSpPr>
            <a:spLocks noGrp="1"/>
          </p:cNvSpPr>
          <p:nvPr>
            <p:ph idx="13"/>
          </p:nvPr>
        </p:nvSpPr>
        <p:spPr>
          <a:xfrm>
            <a:off x="4495800" y="1371602"/>
            <a:ext cx="7086600" cy="479727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Text Placeholder 18"/>
          <p:cNvSpPr>
            <a:spLocks noGrp="1"/>
          </p:cNvSpPr>
          <p:nvPr>
            <p:ph type="body" sz="quarter" idx="12"/>
          </p:nvPr>
        </p:nvSpPr>
        <p:spPr>
          <a:xfrm>
            <a:off x="533400" y="1368279"/>
            <a:ext cx="3200400" cy="4800600"/>
          </a:xfrm>
        </p:spPr>
        <p:txBody>
          <a:bodyPr>
            <a:normAutofit/>
          </a:bodyPr>
          <a:lstStyle>
            <a:lvl1pPr marL="0" indent="0">
              <a:buNone/>
              <a:defRPr sz="1800"/>
            </a:lvl1pPr>
          </a:lstStyle>
          <a:p>
            <a:pPr lvl="0"/>
            <a:endParaRPr lang="en-US"/>
          </a:p>
        </p:txBody>
      </p:sp>
      <p:sp>
        <p:nvSpPr>
          <p:cNvPr id="6" name="Footer Placeholder 4">
            <a:extLst>
              <a:ext uri="{FF2B5EF4-FFF2-40B4-BE49-F238E27FC236}">
                <a16:creationId xmlns:a16="http://schemas.microsoft.com/office/drawing/2014/main" id="{98E71EB1-1CFD-6746-9C20-4AF9C2215C53}"/>
              </a:ext>
            </a:extLst>
          </p:cNvPr>
          <p:cNvSpPr>
            <a:spLocks noGrp="1"/>
          </p:cNvSpPr>
          <p:nvPr>
            <p:ph type="ftr" sz="quarter" idx="3"/>
          </p:nvPr>
        </p:nvSpPr>
        <p:spPr>
          <a:xfrm>
            <a:off x="3200400" y="6629400"/>
            <a:ext cx="8839200" cy="228600"/>
          </a:xfrm>
          <a:prstGeom prst="rect">
            <a:avLst/>
          </a:prstGeom>
        </p:spPr>
        <p:txBody>
          <a:bodyPr vert="horz" lIns="0" tIns="0" rIns="0" bIns="0" rtlCol="0" anchor="t"/>
          <a:lstStyle>
            <a:lvl1pPr algn="r">
              <a:defRPr sz="800">
                <a:solidFill>
                  <a:schemeClr val="tx1"/>
                </a:solidFill>
              </a:defRPr>
            </a:lvl1pPr>
          </a:lstStyle>
          <a:p>
            <a:r>
              <a:rPr lang="en-US"/>
              <a:t>© 2022 University of Phoenix</a:t>
            </a:r>
          </a:p>
        </p:txBody>
      </p:sp>
      <p:sp>
        <p:nvSpPr>
          <p:cNvPr id="9" name="Title Placeholder 1">
            <a:extLst>
              <a:ext uri="{FF2B5EF4-FFF2-40B4-BE49-F238E27FC236}">
                <a16:creationId xmlns:a16="http://schemas.microsoft.com/office/drawing/2014/main" id="{22C10B7F-8730-B44F-9166-9FC588037585}"/>
              </a:ext>
            </a:extLst>
          </p:cNvPr>
          <p:cNvSpPr>
            <a:spLocks noGrp="1"/>
          </p:cNvSpPr>
          <p:nvPr>
            <p:ph type="title" hasCustomPrompt="1"/>
          </p:nvPr>
        </p:nvSpPr>
        <p:spPr>
          <a:xfrm>
            <a:off x="533400" y="457200"/>
            <a:ext cx="11049000" cy="594836"/>
          </a:xfrm>
          <a:prstGeom prst="rect">
            <a:avLst/>
          </a:prstGeom>
        </p:spPr>
        <p:txBody>
          <a:bodyPr vert="horz" lIns="0" tIns="0" rIns="0" bIns="0" rtlCol="0" anchor="b">
            <a:noAutofit/>
          </a:bodyPr>
          <a:lstStyle/>
          <a:p>
            <a:r>
              <a:rPr lang="en-US"/>
              <a:t>Title</a:t>
            </a:r>
          </a:p>
        </p:txBody>
      </p:sp>
    </p:spTree>
    <p:custDataLst>
      <p:tags r:id="rId1"/>
    </p:custDataLst>
    <p:extLst>
      <p:ext uri="{BB962C8B-B14F-4D97-AF65-F5344CB8AC3E}">
        <p14:creationId xmlns:p14="http://schemas.microsoft.com/office/powerpoint/2010/main" val="2473589662"/>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2 Column">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10" name="Content Placeholder 2"/>
          <p:cNvSpPr>
            <a:spLocks noGrp="1"/>
          </p:cNvSpPr>
          <p:nvPr>
            <p:ph idx="1"/>
          </p:nvPr>
        </p:nvSpPr>
        <p:spPr>
          <a:xfrm>
            <a:off x="533400" y="1371601"/>
            <a:ext cx="4953000" cy="4793530"/>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Content Placeholder 2"/>
          <p:cNvSpPr>
            <a:spLocks noGrp="1"/>
          </p:cNvSpPr>
          <p:nvPr>
            <p:ph idx="13"/>
          </p:nvPr>
        </p:nvSpPr>
        <p:spPr>
          <a:xfrm>
            <a:off x="6553200" y="1371600"/>
            <a:ext cx="5029200" cy="4793530"/>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Title Placeholder 1">
            <a:extLst>
              <a:ext uri="{FF2B5EF4-FFF2-40B4-BE49-F238E27FC236}">
                <a16:creationId xmlns:a16="http://schemas.microsoft.com/office/drawing/2014/main" id="{B85DE246-2C6B-8241-963A-F2375570FBCB}"/>
              </a:ext>
            </a:extLst>
          </p:cNvPr>
          <p:cNvSpPr>
            <a:spLocks noGrp="1"/>
          </p:cNvSpPr>
          <p:nvPr>
            <p:ph type="title" hasCustomPrompt="1"/>
          </p:nvPr>
        </p:nvSpPr>
        <p:spPr>
          <a:xfrm>
            <a:off x="533400" y="457200"/>
            <a:ext cx="11049000" cy="594836"/>
          </a:xfrm>
          <a:prstGeom prst="rect">
            <a:avLst/>
          </a:prstGeom>
        </p:spPr>
        <p:txBody>
          <a:bodyPr vert="horz" lIns="0" tIns="0" rIns="0" bIns="0" rtlCol="0" anchor="b">
            <a:noAutofit/>
          </a:bodyPr>
          <a:lstStyle/>
          <a:p>
            <a:r>
              <a:rPr lang="en-US"/>
              <a:t>Title</a:t>
            </a:r>
          </a:p>
        </p:txBody>
      </p:sp>
      <p:sp>
        <p:nvSpPr>
          <p:cNvPr id="8" name="Footer Placeholder 4">
            <a:extLst>
              <a:ext uri="{FF2B5EF4-FFF2-40B4-BE49-F238E27FC236}">
                <a16:creationId xmlns:a16="http://schemas.microsoft.com/office/drawing/2014/main" id="{FDD7BAE9-3AB6-5B42-8DBB-FC58B11682FA}"/>
              </a:ext>
            </a:extLst>
          </p:cNvPr>
          <p:cNvSpPr>
            <a:spLocks noGrp="1"/>
          </p:cNvSpPr>
          <p:nvPr>
            <p:ph type="ftr" sz="quarter" idx="3"/>
          </p:nvPr>
        </p:nvSpPr>
        <p:spPr>
          <a:xfrm>
            <a:off x="3200400" y="6629400"/>
            <a:ext cx="8839200" cy="228600"/>
          </a:xfrm>
          <a:prstGeom prst="rect">
            <a:avLst/>
          </a:prstGeom>
        </p:spPr>
        <p:txBody>
          <a:bodyPr vert="horz" lIns="0" tIns="0" rIns="0" bIns="0" rtlCol="0" anchor="t"/>
          <a:lstStyle>
            <a:lvl1pPr algn="r">
              <a:defRPr sz="800">
                <a:solidFill>
                  <a:schemeClr val="tx1"/>
                </a:solidFill>
              </a:defRPr>
            </a:lvl1pPr>
          </a:lstStyle>
          <a:p>
            <a:r>
              <a:rPr lang="en-US"/>
              <a:t>© 2022 University of Phoenix</a:t>
            </a:r>
          </a:p>
        </p:txBody>
      </p:sp>
    </p:spTree>
    <p:custDataLst>
      <p:tags r:id="rId1"/>
    </p:custDataLst>
    <p:extLst>
      <p:ext uri="{BB962C8B-B14F-4D97-AF65-F5344CB8AC3E}">
        <p14:creationId xmlns:p14="http://schemas.microsoft.com/office/powerpoint/2010/main" val="1988446633"/>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1_2 Column">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11" name="Content Placeholder 2"/>
          <p:cNvSpPr>
            <a:spLocks noGrp="1"/>
          </p:cNvSpPr>
          <p:nvPr>
            <p:ph idx="13"/>
          </p:nvPr>
        </p:nvSpPr>
        <p:spPr>
          <a:xfrm>
            <a:off x="4267200" y="1371600"/>
            <a:ext cx="7315200" cy="4793530"/>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Title Placeholder 1">
            <a:extLst>
              <a:ext uri="{FF2B5EF4-FFF2-40B4-BE49-F238E27FC236}">
                <a16:creationId xmlns:a16="http://schemas.microsoft.com/office/drawing/2014/main" id="{B85DE246-2C6B-8241-963A-F2375570FBCB}"/>
              </a:ext>
            </a:extLst>
          </p:cNvPr>
          <p:cNvSpPr>
            <a:spLocks noGrp="1"/>
          </p:cNvSpPr>
          <p:nvPr>
            <p:ph type="title" hasCustomPrompt="1"/>
          </p:nvPr>
        </p:nvSpPr>
        <p:spPr>
          <a:xfrm>
            <a:off x="4267200" y="457200"/>
            <a:ext cx="7315200" cy="594836"/>
          </a:xfrm>
          <a:prstGeom prst="rect">
            <a:avLst/>
          </a:prstGeom>
        </p:spPr>
        <p:txBody>
          <a:bodyPr vert="horz" lIns="0" tIns="0" rIns="0" bIns="0" rtlCol="0" anchor="b">
            <a:noAutofit/>
          </a:bodyPr>
          <a:lstStyle/>
          <a:p>
            <a:r>
              <a:rPr lang="en-US"/>
              <a:t>Title</a:t>
            </a:r>
          </a:p>
        </p:txBody>
      </p:sp>
      <p:sp>
        <p:nvSpPr>
          <p:cNvPr id="8" name="Footer Placeholder 4">
            <a:extLst>
              <a:ext uri="{FF2B5EF4-FFF2-40B4-BE49-F238E27FC236}">
                <a16:creationId xmlns:a16="http://schemas.microsoft.com/office/drawing/2014/main" id="{FDD7BAE9-3AB6-5B42-8DBB-FC58B11682FA}"/>
              </a:ext>
            </a:extLst>
          </p:cNvPr>
          <p:cNvSpPr>
            <a:spLocks noGrp="1"/>
          </p:cNvSpPr>
          <p:nvPr>
            <p:ph type="ftr" sz="quarter" idx="3"/>
          </p:nvPr>
        </p:nvSpPr>
        <p:spPr>
          <a:xfrm>
            <a:off x="3200400" y="6629400"/>
            <a:ext cx="8839200" cy="228600"/>
          </a:xfrm>
          <a:prstGeom prst="rect">
            <a:avLst/>
          </a:prstGeom>
        </p:spPr>
        <p:txBody>
          <a:bodyPr vert="horz" lIns="0" tIns="0" rIns="0" bIns="0" rtlCol="0" anchor="t"/>
          <a:lstStyle>
            <a:lvl1pPr algn="r">
              <a:defRPr sz="800">
                <a:solidFill>
                  <a:schemeClr val="tx1"/>
                </a:solidFill>
              </a:defRPr>
            </a:lvl1pPr>
          </a:lstStyle>
          <a:p>
            <a:r>
              <a:rPr lang="en-US"/>
              <a:t>© 2022 University of Phoenix</a:t>
            </a:r>
          </a:p>
        </p:txBody>
      </p:sp>
    </p:spTree>
    <p:extLst>
      <p:ext uri="{BB962C8B-B14F-4D97-AF65-F5344CB8AC3E}">
        <p14:creationId xmlns:p14="http://schemas.microsoft.com/office/powerpoint/2010/main" val="401401251"/>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2_2 Column">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11" name="Content Placeholder 2"/>
          <p:cNvSpPr>
            <a:spLocks noGrp="1"/>
          </p:cNvSpPr>
          <p:nvPr>
            <p:ph idx="13"/>
          </p:nvPr>
        </p:nvSpPr>
        <p:spPr>
          <a:xfrm>
            <a:off x="4267200" y="1371600"/>
            <a:ext cx="7315200" cy="4793530"/>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Title Placeholder 1">
            <a:extLst>
              <a:ext uri="{FF2B5EF4-FFF2-40B4-BE49-F238E27FC236}">
                <a16:creationId xmlns:a16="http://schemas.microsoft.com/office/drawing/2014/main" id="{B85DE246-2C6B-8241-963A-F2375570FBCB}"/>
              </a:ext>
            </a:extLst>
          </p:cNvPr>
          <p:cNvSpPr>
            <a:spLocks noGrp="1"/>
          </p:cNvSpPr>
          <p:nvPr>
            <p:ph type="title" hasCustomPrompt="1"/>
          </p:nvPr>
        </p:nvSpPr>
        <p:spPr>
          <a:xfrm>
            <a:off x="4267200" y="457200"/>
            <a:ext cx="7315200" cy="594836"/>
          </a:xfrm>
          <a:prstGeom prst="rect">
            <a:avLst/>
          </a:prstGeom>
        </p:spPr>
        <p:txBody>
          <a:bodyPr vert="horz" lIns="0" tIns="0" rIns="0" bIns="0" rtlCol="0" anchor="b">
            <a:noAutofit/>
          </a:bodyPr>
          <a:lstStyle/>
          <a:p>
            <a:r>
              <a:rPr lang="en-US"/>
              <a:t>Title</a:t>
            </a:r>
          </a:p>
        </p:txBody>
      </p:sp>
      <p:sp>
        <p:nvSpPr>
          <p:cNvPr id="8" name="Footer Placeholder 4">
            <a:extLst>
              <a:ext uri="{FF2B5EF4-FFF2-40B4-BE49-F238E27FC236}">
                <a16:creationId xmlns:a16="http://schemas.microsoft.com/office/drawing/2014/main" id="{FDD7BAE9-3AB6-5B42-8DBB-FC58B11682FA}"/>
              </a:ext>
            </a:extLst>
          </p:cNvPr>
          <p:cNvSpPr>
            <a:spLocks noGrp="1"/>
          </p:cNvSpPr>
          <p:nvPr>
            <p:ph type="ftr" sz="quarter" idx="3"/>
          </p:nvPr>
        </p:nvSpPr>
        <p:spPr>
          <a:xfrm>
            <a:off x="3200400" y="6629400"/>
            <a:ext cx="8839200" cy="228600"/>
          </a:xfrm>
          <a:prstGeom prst="rect">
            <a:avLst/>
          </a:prstGeom>
        </p:spPr>
        <p:txBody>
          <a:bodyPr vert="horz" lIns="0" tIns="0" rIns="0" bIns="0" rtlCol="0" anchor="t"/>
          <a:lstStyle>
            <a:lvl1pPr algn="r">
              <a:defRPr sz="800">
                <a:solidFill>
                  <a:schemeClr val="tx1"/>
                </a:solidFill>
              </a:defRPr>
            </a:lvl1pPr>
          </a:lstStyle>
          <a:p>
            <a:r>
              <a:rPr lang="en-US"/>
              <a:t>© 2022 University of Phoenix</a:t>
            </a:r>
          </a:p>
        </p:txBody>
      </p:sp>
    </p:spTree>
    <p:extLst>
      <p:ext uri="{BB962C8B-B14F-4D97-AF65-F5344CB8AC3E}">
        <p14:creationId xmlns:p14="http://schemas.microsoft.com/office/powerpoint/2010/main" val="2406749168"/>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4_2 Column">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11" name="Content Placeholder 2"/>
          <p:cNvSpPr>
            <a:spLocks noGrp="1"/>
          </p:cNvSpPr>
          <p:nvPr>
            <p:ph idx="13"/>
          </p:nvPr>
        </p:nvSpPr>
        <p:spPr>
          <a:xfrm>
            <a:off x="609600" y="1371600"/>
            <a:ext cx="7315200" cy="4793530"/>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Title Placeholder 1">
            <a:extLst>
              <a:ext uri="{FF2B5EF4-FFF2-40B4-BE49-F238E27FC236}">
                <a16:creationId xmlns:a16="http://schemas.microsoft.com/office/drawing/2014/main" id="{B85DE246-2C6B-8241-963A-F2375570FBCB}"/>
              </a:ext>
            </a:extLst>
          </p:cNvPr>
          <p:cNvSpPr>
            <a:spLocks noGrp="1"/>
          </p:cNvSpPr>
          <p:nvPr>
            <p:ph type="title" hasCustomPrompt="1"/>
          </p:nvPr>
        </p:nvSpPr>
        <p:spPr>
          <a:xfrm>
            <a:off x="609600" y="457200"/>
            <a:ext cx="7315200" cy="594836"/>
          </a:xfrm>
          <a:prstGeom prst="rect">
            <a:avLst/>
          </a:prstGeom>
        </p:spPr>
        <p:txBody>
          <a:bodyPr vert="horz" lIns="0" tIns="0" rIns="0" bIns="0" rtlCol="0" anchor="b">
            <a:noAutofit/>
          </a:bodyPr>
          <a:lstStyle/>
          <a:p>
            <a:r>
              <a:rPr lang="en-US"/>
              <a:t>Title</a:t>
            </a:r>
          </a:p>
        </p:txBody>
      </p:sp>
      <p:sp>
        <p:nvSpPr>
          <p:cNvPr id="8" name="Footer Placeholder 4">
            <a:extLst>
              <a:ext uri="{FF2B5EF4-FFF2-40B4-BE49-F238E27FC236}">
                <a16:creationId xmlns:a16="http://schemas.microsoft.com/office/drawing/2014/main" id="{FDD7BAE9-3AB6-5B42-8DBB-FC58B11682FA}"/>
              </a:ext>
            </a:extLst>
          </p:cNvPr>
          <p:cNvSpPr>
            <a:spLocks noGrp="1"/>
          </p:cNvSpPr>
          <p:nvPr>
            <p:ph type="ftr" sz="quarter" idx="3"/>
          </p:nvPr>
        </p:nvSpPr>
        <p:spPr>
          <a:xfrm>
            <a:off x="3200400" y="6629400"/>
            <a:ext cx="8839200" cy="228600"/>
          </a:xfrm>
          <a:prstGeom prst="rect">
            <a:avLst/>
          </a:prstGeom>
        </p:spPr>
        <p:txBody>
          <a:bodyPr vert="horz" lIns="0" tIns="0" rIns="0" bIns="0" rtlCol="0" anchor="t"/>
          <a:lstStyle>
            <a:lvl1pPr algn="r">
              <a:defRPr sz="800">
                <a:solidFill>
                  <a:schemeClr val="bg1"/>
                </a:solidFill>
              </a:defRPr>
            </a:lvl1pPr>
          </a:lstStyle>
          <a:p>
            <a:r>
              <a:rPr lang="en-US"/>
              <a:t>© 2022 University of Phoenix</a:t>
            </a:r>
          </a:p>
        </p:txBody>
      </p:sp>
    </p:spTree>
    <p:extLst>
      <p:ext uri="{BB962C8B-B14F-4D97-AF65-F5344CB8AC3E}">
        <p14:creationId xmlns:p14="http://schemas.microsoft.com/office/powerpoint/2010/main" val="2438298288"/>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5_2 Column">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11" name="Content Placeholder 2"/>
          <p:cNvSpPr>
            <a:spLocks noGrp="1"/>
          </p:cNvSpPr>
          <p:nvPr>
            <p:ph idx="13"/>
          </p:nvPr>
        </p:nvSpPr>
        <p:spPr>
          <a:xfrm>
            <a:off x="609600" y="1371600"/>
            <a:ext cx="7315200" cy="4793530"/>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Title Placeholder 1">
            <a:extLst>
              <a:ext uri="{FF2B5EF4-FFF2-40B4-BE49-F238E27FC236}">
                <a16:creationId xmlns:a16="http://schemas.microsoft.com/office/drawing/2014/main" id="{B85DE246-2C6B-8241-963A-F2375570FBCB}"/>
              </a:ext>
            </a:extLst>
          </p:cNvPr>
          <p:cNvSpPr>
            <a:spLocks noGrp="1"/>
          </p:cNvSpPr>
          <p:nvPr>
            <p:ph type="title" hasCustomPrompt="1"/>
          </p:nvPr>
        </p:nvSpPr>
        <p:spPr>
          <a:xfrm>
            <a:off x="609600" y="457200"/>
            <a:ext cx="7315200" cy="594836"/>
          </a:xfrm>
          <a:prstGeom prst="rect">
            <a:avLst/>
          </a:prstGeom>
        </p:spPr>
        <p:txBody>
          <a:bodyPr vert="horz" lIns="0" tIns="0" rIns="0" bIns="0" rtlCol="0" anchor="b">
            <a:noAutofit/>
          </a:bodyPr>
          <a:lstStyle/>
          <a:p>
            <a:r>
              <a:rPr lang="en-US"/>
              <a:t>Title</a:t>
            </a:r>
          </a:p>
        </p:txBody>
      </p:sp>
      <p:sp>
        <p:nvSpPr>
          <p:cNvPr id="8" name="Footer Placeholder 4">
            <a:extLst>
              <a:ext uri="{FF2B5EF4-FFF2-40B4-BE49-F238E27FC236}">
                <a16:creationId xmlns:a16="http://schemas.microsoft.com/office/drawing/2014/main" id="{FDD7BAE9-3AB6-5B42-8DBB-FC58B11682FA}"/>
              </a:ext>
            </a:extLst>
          </p:cNvPr>
          <p:cNvSpPr>
            <a:spLocks noGrp="1"/>
          </p:cNvSpPr>
          <p:nvPr>
            <p:ph type="ftr" sz="quarter" idx="3"/>
          </p:nvPr>
        </p:nvSpPr>
        <p:spPr>
          <a:xfrm>
            <a:off x="3200400" y="6629400"/>
            <a:ext cx="8839200" cy="228600"/>
          </a:xfrm>
          <a:prstGeom prst="rect">
            <a:avLst/>
          </a:prstGeom>
        </p:spPr>
        <p:txBody>
          <a:bodyPr vert="horz" lIns="0" tIns="0" rIns="0" bIns="0" rtlCol="0" anchor="t"/>
          <a:lstStyle>
            <a:lvl1pPr algn="r">
              <a:defRPr sz="800">
                <a:solidFill>
                  <a:schemeClr val="bg1"/>
                </a:solidFill>
              </a:defRPr>
            </a:lvl1pPr>
          </a:lstStyle>
          <a:p>
            <a:r>
              <a:rPr lang="en-US"/>
              <a:t>© 2022 University of Phoenix</a:t>
            </a:r>
          </a:p>
        </p:txBody>
      </p:sp>
    </p:spTree>
    <p:extLst>
      <p:ext uri="{BB962C8B-B14F-4D97-AF65-F5344CB8AC3E}">
        <p14:creationId xmlns:p14="http://schemas.microsoft.com/office/powerpoint/2010/main" val="2540724826"/>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3_2 Column">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11" name="Content Placeholder 2"/>
          <p:cNvSpPr>
            <a:spLocks noGrp="1"/>
          </p:cNvSpPr>
          <p:nvPr>
            <p:ph idx="13"/>
          </p:nvPr>
        </p:nvSpPr>
        <p:spPr>
          <a:xfrm>
            <a:off x="4267200" y="1371600"/>
            <a:ext cx="7315200" cy="4793530"/>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Title Placeholder 1">
            <a:extLst>
              <a:ext uri="{FF2B5EF4-FFF2-40B4-BE49-F238E27FC236}">
                <a16:creationId xmlns:a16="http://schemas.microsoft.com/office/drawing/2014/main" id="{B85DE246-2C6B-8241-963A-F2375570FBCB}"/>
              </a:ext>
            </a:extLst>
          </p:cNvPr>
          <p:cNvSpPr>
            <a:spLocks noGrp="1"/>
          </p:cNvSpPr>
          <p:nvPr>
            <p:ph type="title" hasCustomPrompt="1"/>
          </p:nvPr>
        </p:nvSpPr>
        <p:spPr>
          <a:xfrm>
            <a:off x="4267200" y="457200"/>
            <a:ext cx="7315200" cy="594836"/>
          </a:xfrm>
          <a:prstGeom prst="rect">
            <a:avLst/>
          </a:prstGeom>
        </p:spPr>
        <p:txBody>
          <a:bodyPr vert="horz" lIns="0" tIns="0" rIns="0" bIns="0" rtlCol="0" anchor="b">
            <a:noAutofit/>
          </a:bodyPr>
          <a:lstStyle/>
          <a:p>
            <a:r>
              <a:rPr lang="en-US"/>
              <a:t>Title</a:t>
            </a:r>
          </a:p>
        </p:txBody>
      </p:sp>
      <p:sp>
        <p:nvSpPr>
          <p:cNvPr id="8" name="Footer Placeholder 4">
            <a:extLst>
              <a:ext uri="{FF2B5EF4-FFF2-40B4-BE49-F238E27FC236}">
                <a16:creationId xmlns:a16="http://schemas.microsoft.com/office/drawing/2014/main" id="{FDD7BAE9-3AB6-5B42-8DBB-FC58B11682FA}"/>
              </a:ext>
            </a:extLst>
          </p:cNvPr>
          <p:cNvSpPr>
            <a:spLocks noGrp="1"/>
          </p:cNvSpPr>
          <p:nvPr>
            <p:ph type="ftr" sz="quarter" idx="3"/>
          </p:nvPr>
        </p:nvSpPr>
        <p:spPr>
          <a:xfrm>
            <a:off x="3200400" y="6629400"/>
            <a:ext cx="8839200" cy="228600"/>
          </a:xfrm>
          <a:prstGeom prst="rect">
            <a:avLst/>
          </a:prstGeom>
        </p:spPr>
        <p:txBody>
          <a:bodyPr vert="horz" lIns="0" tIns="0" rIns="0" bIns="0" rtlCol="0" anchor="t"/>
          <a:lstStyle>
            <a:lvl1pPr algn="r">
              <a:defRPr sz="800">
                <a:solidFill>
                  <a:schemeClr val="tx1"/>
                </a:solidFill>
              </a:defRPr>
            </a:lvl1pPr>
          </a:lstStyle>
          <a:p>
            <a:r>
              <a:rPr lang="en-US"/>
              <a:t>© 2022 University of Phoenix</a:t>
            </a:r>
          </a:p>
        </p:txBody>
      </p:sp>
    </p:spTree>
    <p:custDataLst>
      <p:tags r:id="rId1"/>
    </p:custDataLst>
    <p:extLst>
      <p:ext uri="{BB962C8B-B14F-4D97-AF65-F5344CB8AC3E}">
        <p14:creationId xmlns:p14="http://schemas.microsoft.com/office/powerpoint/2010/main" val="1938764137"/>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title" preserve="1">
  <p:cSld name="Title">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609600" y="2286000"/>
            <a:ext cx="9829800" cy="914400"/>
          </a:xfrm>
        </p:spPr>
        <p:txBody>
          <a:bodyPr anchor="t">
            <a:normAutofit/>
          </a:bodyPr>
          <a:lstStyle>
            <a:lvl1pPr>
              <a:defRPr sz="5400" b="0">
                <a:solidFill>
                  <a:schemeClr val="tx1"/>
                </a:solidFill>
              </a:defRPr>
            </a:lvl1pPr>
          </a:lstStyle>
          <a:p>
            <a:r>
              <a:rPr lang="en-US"/>
              <a:t>Header</a:t>
            </a:r>
          </a:p>
        </p:txBody>
      </p:sp>
      <p:sp>
        <p:nvSpPr>
          <p:cNvPr id="3" name="Subtitle 2"/>
          <p:cNvSpPr>
            <a:spLocks noGrp="1"/>
          </p:cNvSpPr>
          <p:nvPr>
            <p:ph type="subTitle" idx="1" hasCustomPrompt="1"/>
          </p:nvPr>
        </p:nvSpPr>
        <p:spPr>
          <a:xfrm>
            <a:off x="609600" y="3429000"/>
            <a:ext cx="9829800" cy="457200"/>
          </a:xfrm>
        </p:spPr>
        <p:txBody>
          <a:bodyPr>
            <a:normAutofit/>
          </a:bodyPr>
          <a:lstStyle>
            <a:lvl1pPr marL="0" indent="0" algn="l">
              <a:buNone/>
              <a:defRPr sz="2000" baseline="0">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Sub Header</a:t>
            </a:r>
          </a:p>
        </p:txBody>
      </p:sp>
      <p:sp>
        <p:nvSpPr>
          <p:cNvPr id="5" name="Footer Placeholder 4">
            <a:extLst>
              <a:ext uri="{FF2B5EF4-FFF2-40B4-BE49-F238E27FC236}">
                <a16:creationId xmlns:a16="http://schemas.microsoft.com/office/drawing/2014/main" id="{F2FD3FD6-AD04-2A4C-81EE-589B6F3D30D7}"/>
              </a:ext>
            </a:extLst>
          </p:cNvPr>
          <p:cNvSpPr>
            <a:spLocks noGrp="1"/>
          </p:cNvSpPr>
          <p:nvPr>
            <p:ph type="ftr" sz="quarter" idx="3"/>
          </p:nvPr>
        </p:nvSpPr>
        <p:spPr>
          <a:xfrm>
            <a:off x="3200400" y="6629400"/>
            <a:ext cx="8839200" cy="228600"/>
          </a:xfrm>
          <a:prstGeom prst="rect">
            <a:avLst/>
          </a:prstGeom>
        </p:spPr>
        <p:txBody>
          <a:bodyPr vert="horz" lIns="0" tIns="0" rIns="0" bIns="0" rtlCol="0" anchor="t"/>
          <a:lstStyle>
            <a:lvl1pPr algn="r">
              <a:defRPr sz="800">
                <a:solidFill>
                  <a:schemeClr val="tx1"/>
                </a:solidFill>
              </a:defRPr>
            </a:lvl1pPr>
          </a:lstStyle>
          <a:p>
            <a:r>
              <a:rPr lang="en-US"/>
              <a:t>© 2022 University of Phoenix</a:t>
            </a:r>
          </a:p>
        </p:txBody>
      </p:sp>
    </p:spTree>
    <p:custDataLst>
      <p:tags r:id="rId1"/>
    </p:custDataLst>
    <p:extLst>
      <p:ext uri="{BB962C8B-B14F-4D97-AF65-F5344CB8AC3E}">
        <p14:creationId xmlns:p14="http://schemas.microsoft.com/office/powerpoint/2010/main" val="4075429085"/>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title" preserve="1">
  <p:cSld name="1_Title">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609600" y="2743200"/>
            <a:ext cx="9829800" cy="914400"/>
          </a:xfrm>
        </p:spPr>
        <p:txBody>
          <a:bodyPr anchor="t">
            <a:normAutofit/>
          </a:bodyPr>
          <a:lstStyle>
            <a:lvl1pPr>
              <a:defRPr sz="5400" b="0">
                <a:solidFill>
                  <a:schemeClr val="tx1"/>
                </a:solidFill>
              </a:defRPr>
            </a:lvl1pPr>
          </a:lstStyle>
          <a:p>
            <a:r>
              <a:rPr lang="en-US"/>
              <a:t>Header</a:t>
            </a:r>
          </a:p>
        </p:txBody>
      </p:sp>
      <p:sp>
        <p:nvSpPr>
          <p:cNvPr id="3" name="Subtitle 2"/>
          <p:cNvSpPr>
            <a:spLocks noGrp="1"/>
          </p:cNvSpPr>
          <p:nvPr>
            <p:ph type="subTitle" idx="1" hasCustomPrompt="1"/>
          </p:nvPr>
        </p:nvSpPr>
        <p:spPr>
          <a:xfrm>
            <a:off x="609600" y="3886200"/>
            <a:ext cx="9829800" cy="457200"/>
          </a:xfrm>
        </p:spPr>
        <p:txBody>
          <a:bodyPr>
            <a:normAutofit/>
          </a:bodyPr>
          <a:lstStyle>
            <a:lvl1pPr marL="0" indent="0" algn="l">
              <a:buNone/>
              <a:defRPr sz="2000" baseline="0">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Sub Header</a:t>
            </a:r>
          </a:p>
        </p:txBody>
      </p:sp>
      <p:sp>
        <p:nvSpPr>
          <p:cNvPr id="5" name="Footer Placeholder 4">
            <a:extLst>
              <a:ext uri="{FF2B5EF4-FFF2-40B4-BE49-F238E27FC236}">
                <a16:creationId xmlns:a16="http://schemas.microsoft.com/office/drawing/2014/main" id="{F2FD3FD6-AD04-2A4C-81EE-589B6F3D30D7}"/>
              </a:ext>
            </a:extLst>
          </p:cNvPr>
          <p:cNvSpPr>
            <a:spLocks noGrp="1"/>
          </p:cNvSpPr>
          <p:nvPr>
            <p:ph type="ftr" sz="quarter" idx="3"/>
          </p:nvPr>
        </p:nvSpPr>
        <p:spPr>
          <a:xfrm>
            <a:off x="3200400" y="6629400"/>
            <a:ext cx="8839200" cy="228600"/>
          </a:xfrm>
          <a:prstGeom prst="rect">
            <a:avLst/>
          </a:prstGeom>
        </p:spPr>
        <p:txBody>
          <a:bodyPr vert="horz" lIns="0" tIns="0" rIns="0" bIns="0" rtlCol="0" anchor="t"/>
          <a:lstStyle>
            <a:lvl1pPr algn="r">
              <a:defRPr sz="800">
                <a:solidFill>
                  <a:schemeClr val="tx1"/>
                </a:solidFill>
              </a:defRPr>
            </a:lvl1pPr>
          </a:lstStyle>
          <a:p>
            <a:r>
              <a:rPr lang="en-US"/>
              <a:t>© 2022 University of Phoenix</a:t>
            </a:r>
          </a:p>
        </p:txBody>
      </p:sp>
    </p:spTree>
    <p:custDataLst>
      <p:tags r:id="rId1"/>
    </p:custDataLst>
    <p:extLst>
      <p:ext uri="{BB962C8B-B14F-4D97-AF65-F5344CB8AC3E}">
        <p14:creationId xmlns:p14="http://schemas.microsoft.com/office/powerpoint/2010/main" val="927466865"/>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Basic">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5" name="Footer Placeholder 4">
            <a:extLst>
              <a:ext uri="{FF2B5EF4-FFF2-40B4-BE49-F238E27FC236}">
                <a16:creationId xmlns:a16="http://schemas.microsoft.com/office/drawing/2014/main" id="{A44A32B0-BC81-184A-B63D-DB50355C6D70}"/>
              </a:ext>
            </a:extLst>
          </p:cNvPr>
          <p:cNvSpPr>
            <a:spLocks noGrp="1"/>
          </p:cNvSpPr>
          <p:nvPr>
            <p:ph type="ftr" sz="quarter" idx="3"/>
          </p:nvPr>
        </p:nvSpPr>
        <p:spPr>
          <a:xfrm>
            <a:off x="3200400" y="6629400"/>
            <a:ext cx="8839200" cy="228600"/>
          </a:xfrm>
          <a:prstGeom prst="rect">
            <a:avLst/>
          </a:prstGeom>
        </p:spPr>
        <p:txBody>
          <a:bodyPr vert="horz" lIns="0" tIns="0" rIns="0" bIns="0" rtlCol="0" anchor="t"/>
          <a:lstStyle>
            <a:lvl1pPr algn="r">
              <a:defRPr sz="800">
                <a:solidFill>
                  <a:schemeClr val="tx1"/>
                </a:solidFill>
              </a:defRPr>
            </a:lvl1pPr>
          </a:lstStyle>
          <a:p>
            <a:r>
              <a:rPr lang="en-US"/>
              <a:t>© 2022 University of Phoenix</a:t>
            </a:r>
          </a:p>
        </p:txBody>
      </p:sp>
      <p:sp>
        <p:nvSpPr>
          <p:cNvPr id="10" name="Title Placeholder 1">
            <a:extLst>
              <a:ext uri="{FF2B5EF4-FFF2-40B4-BE49-F238E27FC236}">
                <a16:creationId xmlns:a16="http://schemas.microsoft.com/office/drawing/2014/main" id="{4C6FB93E-4316-9C46-9765-AB8836030AC0}"/>
              </a:ext>
            </a:extLst>
          </p:cNvPr>
          <p:cNvSpPr>
            <a:spLocks noGrp="1"/>
          </p:cNvSpPr>
          <p:nvPr>
            <p:ph type="title" hasCustomPrompt="1"/>
          </p:nvPr>
        </p:nvSpPr>
        <p:spPr>
          <a:xfrm>
            <a:off x="533400" y="457200"/>
            <a:ext cx="11049000" cy="594836"/>
          </a:xfrm>
          <a:prstGeom prst="rect">
            <a:avLst/>
          </a:prstGeom>
        </p:spPr>
        <p:txBody>
          <a:bodyPr vert="horz" lIns="0" tIns="0" rIns="0" bIns="0" rtlCol="0" anchor="b">
            <a:noAutofit/>
          </a:bodyPr>
          <a:lstStyle/>
          <a:p>
            <a:r>
              <a:rPr lang="en-US"/>
              <a:t>Title</a:t>
            </a:r>
          </a:p>
        </p:txBody>
      </p:sp>
      <p:sp>
        <p:nvSpPr>
          <p:cNvPr id="11" name="Text Placeholder 2">
            <a:extLst>
              <a:ext uri="{FF2B5EF4-FFF2-40B4-BE49-F238E27FC236}">
                <a16:creationId xmlns:a16="http://schemas.microsoft.com/office/drawing/2014/main" id="{F07CE980-908D-9446-AA92-9ED80C92B9EC}"/>
              </a:ext>
            </a:extLst>
          </p:cNvPr>
          <p:cNvSpPr>
            <a:spLocks noGrp="1"/>
          </p:cNvSpPr>
          <p:nvPr>
            <p:ph idx="1" hasCustomPrompt="1"/>
          </p:nvPr>
        </p:nvSpPr>
        <p:spPr>
          <a:xfrm>
            <a:off x="533400" y="1371600"/>
            <a:ext cx="11049000" cy="5029200"/>
          </a:xfrm>
          <a:prstGeom prst="rect">
            <a:avLst/>
          </a:prstGeom>
        </p:spPr>
        <p:txBody>
          <a:bodyPr vert="horz" lIns="0" tIns="0" rIns="0" bIns="0" rtlCol="0">
            <a:normAutofit/>
          </a:bodyPr>
          <a:lstStyle>
            <a:lvl1pPr marL="0" indent="0">
              <a:buNone/>
              <a:defRPr/>
            </a:lvl1pPr>
            <a:lvl2pPr marL="457200" indent="0">
              <a:buNone/>
              <a:defRPr/>
            </a:lvl2pPr>
            <a:lvl3pPr marL="914400" indent="0">
              <a:buNone/>
              <a:defRPr/>
            </a:lvl3pPr>
            <a:lvl4pPr marL="1371600" indent="0">
              <a:buNone/>
              <a:defRPr/>
            </a:lvl4pPr>
            <a:lvl5pPr marL="1828800" indent="0">
              <a:buNone/>
              <a:defRPr/>
            </a:lvl5pPr>
            <a:lvl6pPr marL="2286000" indent="0">
              <a:buNone/>
              <a:defRPr/>
            </a:lvl6pPr>
            <a:lvl7pPr marL="2743200" indent="0">
              <a:buNone/>
              <a:defRPr/>
            </a:lvl7pPr>
            <a:lvl8pPr marL="3200400" indent="0">
              <a:buNone/>
              <a:defRPr/>
            </a:lvl8pPr>
            <a:lvl9pPr marL="3657600" indent="0">
              <a:buNone/>
              <a:defRPr/>
            </a:lvl9pPr>
          </a:lstStyle>
          <a:p>
            <a:pPr lvl="0"/>
            <a:r>
              <a:rPr lang="en-US"/>
              <a:t>Text</a:t>
            </a:r>
          </a:p>
        </p:txBody>
      </p:sp>
    </p:spTree>
    <p:custDataLst>
      <p:tags r:id="rId1"/>
    </p:custDataLst>
    <p:extLst>
      <p:ext uri="{BB962C8B-B14F-4D97-AF65-F5344CB8AC3E}">
        <p14:creationId xmlns:p14="http://schemas.microsoft.com/office/powerpoint/2010/main" val="2949269251"/>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1_Basic">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5" name="Footer Placeholder 4">
            <a:extLst>
              <a:ext uri="{FF2B5EF4-FFF2-40B4-BE49-F238E27FC236}">
                <a16:creationId xmlns:a16="http://schemas.microsoft.com/office/drawing/2014/main" id="{A44A32B0-BC81-184A-B63D-DB50355C6D70}"/>
              </a:ext>
            </a:extLst>
          </p:cNvPr>
          <p:cNvSpPr>
            <a:spLocks noGrp="1"/>
          </p:cNvSpPr>
          <p:nvPr>
            <p:ph type="ftr" sz="quarter" idx="3"/>
          </p:nvPr>
        </p:nvSpPr>
        <p:spPr>
          <a:xfrm>
            <a:off x="3200400" y="6629400"/>
            <a:ext cx="8839200" cy="228600"/>
          </a:xfrm>
          <a:prstGeom prst="rect">
            <a:avLst/>
          </a:prstGeom>
        </p:spPr>
        <p:txBody>
          <a:bodyPr vert="horz" lIns="0" tIns="0" rIns="0" bIns="0" rtlCol="0" anchor="t"/>
          <a:lstStyle>
            <a:lvl1pPr algn="r">
              <a:defRPr sz="800">
                <a:solidFill>
                  <a:schemeClr val="tx1"/>
                </a:solidFill>
              </a:defRPr>
            </a:lvl1pPr>
          </a:lstStyle>
          <a:p>
            <a:r>
              <a:rPr lang="en-US"/>
              <a:t>© 2022 University of Phoenix</a:t>
            </a:r>
          </a:p>
        </p:txBody>
      </p:sp>
      <p:sp>
        <p:nvSpPr>
          <p:cNvPr id="10" name="Title Placeholder 1">
            <a:extLst>
              <a:ext uri="{FF2B5EF4-FFF2-40B4-BE49-F238E27FC236}">
                <a16:creationId xmlns:a16="http://schemas.microsoft.com/office/drawing/2014/main" id="{4C6FB93E-4316-9C46-9765-AB8836030AC0}"/>
              </a:ext>
            </a:extLst>
          </p:cNvPr>
          <p:cNvSpPr>
            <a:spLocks noGrp="1"/>
          </p:cNvSpPr>
          <p:nvPr>
            <p:ph type="title" hasCustomPrompt="1"/>
          </p:nvPr>
        </p:nvSpPr>
        <p:spPr>
          <a:xfrm>
            <a:off x="533400" y="457200"/>
            <a:ext cx="11049000" cy="594836"/>
          </a:xfrm>
          <a:prstGeom prst="rect">
            <a:avLst/>
          </a:prstGeom>
        </p:spPr>
        <p:txBody>
          <a:bodyPr vert="horz" lIns="0" tIns="0" rIns="0" bIns="0" rtlCol="0" anchor="b">
            <a:noAutofit/>
          </a:bodyPr>
          <a:lstStyle/>
          <a:p>
            <a:r>
              <a:rPr lang="en-US"/>
              <a:t>Title</a:t>
            </a:r>
          </a:p>
        </p:txBody>
      </p:sp>
      <p:sp>
        <p:nvSpPr>
          <p:cNvPr id="11" name="Text Placeholder 2">
            <a:extLst>
              <a:ext uri="{FF2B5EF4-FFF2-40B4-BE49-F238E27FC236}">
                <a16:creationId xmlns:a16="http://schemas.microsoft.com/office/drawing/2014/main" id="{F07CE980-908D-9446-AA92-9ED80C92B9EC}"/>
              </a:ext>
            </a:extLst>
          </p:cNvPr>
          <p:cNvSpPr>
            <a:spLocks noGrp="1"/>
          </p:cNvSpPr>
          <p:nvPr>
            <p:ph idx="1" hasCustomPrompt="1"/>
          </p:nvPr>
        </p:nvSpPr>
        <p:spPr>
          <a:xfrm>
            <a:off x="533400" y="1371600"/>
            <a:ext cx="11049000" cy="5029200"/>
          </a:xfrm>
          <a:prstGeom prst="rect">
            <a:avLst/>
          </a:prstGeom>
        </p:spPr>
        <p:txBody>
          <a:bodyPr vert="horz" lIns="0" tIns="0" rIns="0" bIns="0" rtlCol="0">
            <a:normAutofit/>
          </a:bodyPr>
          <a:lstStyle>
            <a:lvl1pPr marL="0" indent="0">
              <a:buNone/>
              <a:defRPr/>
            </a:lvl1pPr>
            <a:lvl2pPr marL="457200" indent="0">
              <a:buNone/>
              <a:defRPr/>
            </a:lvl2pPr>
            <a:lvl3pPr marL="914400" indent="0">
              <a:buNone/>
              <a:defRPr/>
            </a:lvl3pPr>
            <a:lvl4pPr marL="1371600" indent="0">
              <a:buNone/>
              <a:defRPr/>
            </a:lvl4pPr>
            <a:lvl5pPr marL="1828800" indent="0">
              <a:buNone/>
              <a:defRPr/>
            </a:lvl5pPr>
            <a:lvl6pPr marL="2286000" indent="0">
              <a:buNone/>
              <a:defRPr/>
            </a:lvl6pPr>
            <a:lvl7pPr marL="2743200" indent="0">
              <a:buNone/>
              <a:defRPr/>
            </a:lvl7pPr>
            <a:lvl8pPr marL="3200400" indent="0">
              <a:buNone/>
              <a:defRPr/>
            </a:lvl8pPr>
            <a:lvl9pPr marL="3657600" indent="0">
              <a:buNone/>
              <a:defRPr/>
            </a:lvl9pPr>
          </a:lstStyle>
          <a:p>
            <a:pPr lvl="0"/>
            <a:r>
              <a:rPr lang="en-US"/>
              <a:t>Text</a:t>
            </a:r>
          </a:p>
        </p:txBody>
      </p:sp>
    </p:spTree>
    <p:extLst>
      <p:ext uri="{BB962C8B-B14F-4D97-AF65-F5344CB8AC3E}">
        <p14:creationId xmlns:p14="http://schemas.microsoft.com/office/powerpoint/2010/main" val="2603889945"/>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2 Column Thirds">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11" name="Content Placeholder 2"/>
          <p:cNvSpPr>
            <a:spLocks noGrp="1"/>
          </p:cNvSpPr>
          <p:nvPr>
            <p:ph idx="13"/>
          </p:nvPr>
        </p:nvSpPr>
        <p:spPr>
          <a:xfrm>
            <a:off x="4495800" y="1371602"/>
            <a:ext cx="7086600" cy="479727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Text Placeholder 18"/>
          <p:cNvSpPr>
            <a:spLocks noGrp="1"/>
          </p:cNvSpPr>
          <p:nvPr>
            <p:ph type="body" sz="quarter" idx="12"/>
          </p:nvPr>
        </p:nvSpPr>
        <p:spPr>
          <a:xfrm>
            <a:off x="533400" y="1368279"/>
            <a:ext cx="3200400" cy="4800600"/>
          </a:xfrm>
        </p:spPr>
        <p:txBody>
          <a:bodyPr>
            <a:normAutofit/>
          </a:bodyPr>
          <a:lstStyle>
            <a:lvl1pPr marL="0" indent="0">
              <a:buNone/>
              <a:defRPr sz="1800"/>
            </a:lvl1pPr>
          </a:lstStyle>
          <a:p>
            <a:pPr lvl="0"/>
            <a:endParaRPr lang="en-US"/>
          </a:p>
        </p:txBody>
      </p:sp>
      <p:sp>
        <p:nvSpPr>
          <p:cNvPr id="6" name="Footer Placeholder 4">
            <a:extLst>
              <a:ext uri="{FF2B5EF4-FFF2-40B4-BE49-F238E27FC236}">
                <a16:creationId xmlns:a16="http://schemas.microsoft.com/office/drawing/2014/main" id="{98E71EB1-1CFD-6746-9C20-4AF9C2215C53}"/>
              </a:ext>
            </a:extLst>
          </p:cNvPr>
          <p:cNvSpPr>
            <a:spLocks noGrp="1"/>
          </p:cNvSpPr>
          <p:nvPr>
            <p:ph type="ftr" sz="quarter" idx="3"/>
          </p:nvPr>
        </p:nvSpPr>
        <p:spPr>
          <a:xfrm>
            <a:off x="3200400" y="6629400"/>
            <a:ext cx="8839200" cy="228600"/>
          </a:xfrm>
          <a:prstGeom prst="rect">
            <a:avLst/>
          </a:prstGeom>
        </p:spPr>
        <p:txBody>
          <a:bodyPr vert="horz" lIns="0" tIns="0" rIns="0" bIns="0" rtlCol="0" anchor="t"/>
          <a:lstStyle>
            <a:lvl1pPr algn="r">
              <a:defRPr sz="800">
                <a:solidFill>
                  <a:schemeClr val="tx1"/>
                </a:solidFill>
              </a:defRPr>
            </a:lvl1pPr>
          </a:lstStyle>
          <a:p>
            <a:r>
              <a:rPr lang="en-US"/>
              <a:t>© 2022 University of Phoenix</a:t>
            </a:r>
          </a:p>
        </p:txBody>
      </p:sp>
      <p:sp>
        <p:nvSpPr>
          <p:cNvPr id="9" name="Title Placeholder 1">
            <a:extLst>
              <a:ext uri="{FF2B5EF4-FFF2-40B4-BE49-F238E27FC236}">
                <a16:creationId xmlns:a16="http://schemas.microsoft.com/office/drawing/2014/main" id="{22C10B7F-8730-B44F-9166-9FC588037585}"/>
              </a:ext>
            </a:extLst>
          </p:cNvPr>
          <p:cNvSpPr>
            <a:spLocks noGrp="1"/>
          </p:cNvSpPr>
          <p:nvPr>
            <p:ph type="title" hasCustomPrompt="1"/>
          </p:nvPr>
        </p:nvSpPr>
        <p:spPr>
          <a:xfrm>
            <a:off x="533400" y="457200"/>
            <a:ext cx="11049000" cy="594836"/>
          </a:xfrm>
          <a:prstGeom prst="rect">
            <a:avLst/>
          </a:prstGeom>
        </p:spPr>
        <p:txBody>
          <a:bodyPr vert="horz" lIns="0" tIns="0" rIns="0" bIns="0" rtlCol="0" anchor="b">
            <a:noAutofit/>
          </a:bodyPr>
          <a:lstStyle/>
          <a:p>
            <a:r>
              <a:rPr lang="en-US"/>
              <a:t>Title</a:t>
            </a:r>
          </a:p>
        </p:txBody>
      </p:sp>
    </p:spTree>
    <p:extLst>
      <p:ext uri="{BB962C8B-B14F-4D97-AF65-F5344CB8AC3E}">
        <p14:creationId xmlns:p14="http://schemas.microsoft.com/office/powerpoint/2010/main" val="3482386772"/>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2 Column">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10" name="Content Placeholder 2"/>
          <p:cNvSpPr>
            <a:spLocks noGrp="1"/>
          </p:cNvSpPr>
          <p:nvPr>
            <p:ph idx="1"/>
          </p:nvPr>
        </p:nvSpPr>
        <p:spPr>
          <a:xfrm>
            <a:off x="533400" y="1371601"/>
            <a:ext cx="4953000" cy="4793530"/>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Content Placeholder 2"/>
          <p:cNvSpPr>
            <a:spLocks noGrp="1"/>
          </p:cNvSpPr>
          <p:nvPr>
            <p:ph idx="13"/>
          </p:nvPr>
        </p:nvSpPr>
        <p:spPr>
          <a:xfrm>
            <a:off x="6553200" y="1371600"/>
            <a:ext cx="5029200" cy="4793530"/>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Title Placeholder 1">
            <a:extLst>
              <a:ext uri="{FF2B5EF4-FFF2-40B4-BE49-F238E27FC236}">
                <a16:creationId xmlns:a16="http://schemas.microsoft.com/office/drawing/2014/main" id="{B85DE246-2C6B-8241-963A-F2375570FBCB}"/>
              </a:ext>
            </a:extLst>
          </p:cNvPr>
          <p:cNvSpPr>
            <a:spLocks noGrp="1"/>
          </p:cNvSpPr>
          <p:nvPr>
            <p:ph type="title" hasCustomPrompt="1"/>
          </p:nvPr>
        </p:nvSpPr>
        <p:spPr>
          <a:xfrm>
            <a:off x="533400" y="457200"/>
            <a:ext cx="11049000" cy="594836"/>
          </a:xfrm>
          <a:prstGeom prst="rect">
            <a:avLst/>
          </a:prstGeom>
        </p:spPr>
        <p:txBody>
          <a:bodyPr vert="horz" lIns="0" tIns="0" rIns="0" bIns="0" rtlCol="0" anchor="b">
            <a:noAutofit/>
          </a:bodyPr>
          <a:lstStyle/>
          <a:p>
            <a:r>
              <a:rPr lang="en-US"/>
              <a:t>Title</a:t>
            </a:r>
          </a:p>
        </p:txBody>
      </p:sp>
      <p:sp>
        <p:nvSpPr>
          <p:cNvPr id="8" name="Footer Placeholder 4">
            <a:extLst>
              <a:ext uri="{FF2B5EF4-FFF2-40B4-BE49-F238E27FC236}">
                <a16:creationId xmlns:a16="http://schemas.microsoft.com/office/drawing/2014/main" id="{FDD7BAE9-3AB6-5B42-8DBB-FC58B11682FA}"/>
              </a:ext>
            </a:extLst>
          </p:cNvPr>
          <p:cNvSpPr>
            <a:spLocks noGrp="1"/>
          </p:cNvSpPr>
          <p:nvPr>
            <p:ph type="ftr" sz="quarter" idx="3"/>
          </p:nvPr>
        </p:nvSpPr>
        <p:spPr>
          <a:xfrm>
            <a:off x="3200400" y="6629400"/>
            <a:ext cx="8839200" cy="228600"/>
          </a:xfrm>
          <a:prstGeom prst="rect">
            <a:avLst/>
          </a:prstGeom>
        </p:spPr>
        <p:txBody>
          <a:bodyPr vert="horz" lIns="0" tIns="0" rIns="0" bIns="0" rtlCol="0" anchor="t"/>
          <a:lstStyle>
            <a:lvl1pPr algn="r">
              <a:defRPr sz="800">
                <a:solidFill>
                  <a:schemeClr val="tx1"/>
                </a:solidFill>
              </a:defRPr>
            </a:lvl1pPr>
          </a:lstStyle>
          <a:p>
            <a:r>
              <a:rPr lang="en-US"/>
              <a:t>© 2022 University of Phoenix</a:t>
            </a:r>
          </a:p>
        </p:txBody>
      </p:sp>
    </p:spTree>
    <p:extLst>
      <p:ext uri="{BB962C8B-B14F-4D97-AF65-F5344CB8AC3E}">
        <p14:creationId xmlns:p14="http://schemas.microsoft.com/office/powerpoint/2010/main" val="3165155032"/>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1_2 Column">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11" name="Content Placeholder 2"/>
          <p:cNvSpPr>
            <a:spLocks noGrp="1"/>
          </p:cNvSpPr>
          <p:nvPr>
            <p:ph idx="13"/>
          </p:nvPr>
        </p:nvSpPr>
        <p:spPr>
          <a:xfrm>
            <a:off x="4267200" y="1371600"/>
            <a:ext cx="7315200" cy="4793530"/>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Title Placeholder 1">
            <a:extLst>
              <a:ext uri="{FF2B5EF4-FFF2-40B4-BE49-F238E27FC236}">
                <a16:creationId xmlns:a16="http://schemas.microsoft.com/office/drawing/2014/main" id="{B85DE246-2C6B-8241-963A-F2375570FBCB}"/>
              </a:ext>
            </a:extLst>
          </p:cNvPr>
          <p:cNvSpPr>
            <a:spLocks noGrp="1"/>
          </p:cNvSpPr>
          <p:nvPr>
            <p:ph type="title" hasCustomPrompt="1"/>
          </p:nvPr>
        </p:nvSpPr>
        <p:spPr>
          <a:xfrm>
            <a:off x="4267200" y="457200"/>
            <a:ext cx="7315200" cy="594836"/>
          </a:xfrm>
          <a:prstGeom prst="rect">
            <a:avLst/>
          </a:prstGeom>
        </p:spPr>
        <p:txBody>
          <a:bodyPr vert="horz" lIns="0" tIns="0" rIns="0" bIns="0" rtlCol="0" anchor="b">
            <a:noAutofit/>
          </a:bodyPr>
          <a:lstStyle/>
          <a:p>
            <a:r>
              <a:rPr lang="en-US"/>
              <a:t>Title</a:t>
            </a:r>
          </a:p>
        </p:txBody>
      </p:sp>
      <p:sp>
        <p:nvSpPr>
          <p:cNvPr id="8" name="Footer Placeholder 4">
            <a:extLst>
              <a:ext uri="{FF2B5EF4-FFF2-40B4-BE49-F238E27FC236}">
                <a16:creationId xmlns:a16="http://schemas.microsoft.com/office/drawing/2014/main" id="{FDD7BAE9-3AB6-5B42-8DBB-FC58B11682FA}"/>
              </a:ext>
            </a:extLst>
          </p:cNvPr>
          <p:cNvSpPr>
            <a:spLocks noGrp="1"/>
          </p:cNvSpPr>
          <p:nvPr>
            <p:ph type="ftr" sz="quarter" idx="3"/>
          </p:nvPr>
        </p:nvSpPr>
        <p:spPr>
          <a:xfrm>
            <a:off x="3200400" y="6629400"/>
            <a:ext cx="8839200" cy="228600"/>
          </a:xfrm>
          <a:prstGeom prst="rect">
            <a:avLst/>
          </a:prstGeom>
        </p:spPr>
        <p:txBody>
          <a:bodyPr vert="horz" lIns="0" tIns="0" rIns="0" bIns="0" rtlCol="0" anchor="t"/>
          <a:lstStyle>
            <a:lvl1pPr algn="r">
              <a:defRPr sz="800">
                <a:solidFill>
                  <a:schemeClr val="tx1"/>
                </a:solidFill>
              </a:defRPr>
            </a:lvl1pPr>
          </a:lstStyle>
          <a:p>
            <a:r>
              <a:rPr lang="en-US"/>
              <a:t>© 2022 University of Phoenix</a:t>
            </a:r>
          </a:p>
        </p:txBody>
      </p:sp>
    </p:spTree>
    <p:custDataLst>
      <p:tags r:id="rId1"/>
    </p:custDataLst>
    <p:extLst>
      <p:ext uri="{BB962C8B-B14F-4D97-AF65-F5344CB8AC3E}">
        <p14:creationId xmlns:p14="http://schemas.microsoft.com/office/powerpoint/2010/main" val="242185813"/>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2_2 Column">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11" name="Content Placeholder 2"/>
          <p:cNvSpPr>
            <a:spLocks noGrp="1"/>
          </p:cNvSpPr>
          <p:nvPr>
            <p:ph idx="13"/>
          </p:nvPr>
        </p:nvSpPr>
        <p:spPr>
          <a:xfrm>
            <a:off x="4267200" y="1371600"/>
            <a:ext cx="7315200" cy="4793530"/>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Title Placeholder 1">
            <a:extLst>
              <a:ext uri="{FF2B5EF4-FFF2-40B4-BE49-F238E27FC236}">
                <a16:creationId xmlns:a16="http://schemas.microsoft.com/office/drawing/2014/main" id="{B85DE246-2C6B-8241-963A-F2375570FBCB}"/>
              </a:ext>
            </a:extLst>
          </p:cNvPr>
          <p:cNvSpPr>
            <a:spLocks noGrp="1"/>
          </p:cNvSpPr>
          <p:nvPr>
            <p:ph type="title" hasCustomPrompt="1"/>
          </p:nvPr>
        </p:nvSpPr>
        <p:spPr>
          <a:xfrm>
            <a:off x="4267200" y="457200"/>
            <a:ext cx="7315200" cy="594836"/>
          </a:xfrm>
          <a:prstGeom prst="rect">
            <a:avLst/>
          </a:prstGeom>
        </p:spPr>
        <p:txBody>
          <a:bodyPr vert="horz" lIns="0" tIns="0" rIns="0" bIns="0" rtlCol="0" anchor="b">
            <a:noAutofit/>
          </a:bodyPr>
          <a:lstStyle/>
          <a:p>
            <a:r>
              <a:rPr lang="en-US"/>
              <a:t>Title</a:t>
            </a:r>
          </a:p>
        </p:txBody>
      </p:sp>
      <p:sp>
        <p:nvSpPr>
          <p:cNvPr id="8" name="Footer Placeholder 4">
            <a:extLst>
              <a:ext uri="{FF2B5EF4-FFF2-40B4-BE49-F238E27FC236}">
                <a16:creationId xmlns:a16="http://schemas.microsoft.com/office/drawing/2014/main" id="{FDD7BAE9-3AB6-5B42-8DBB-FC58B11682FA}"/>
              </a:ext>
            </a:extLst>
          </p:cNvPr>
          <p:cNvSpPr>
            <a:spLocks noGrp="1"/>
          </p:cNvSpPr>
          <p:nvPr>
            <p:ph type="ftr" sz="quarter" idx="3"/>
          </p:nvPr>
        </p:nvSpPr>
        <p:spPr>
          <a:xfrm>
            <a:off x="3200400" y="6629400"/>
            <a:ext cx="8839200" cy="228600"/>
          </a:xfrm>
          <a:prstGeom prst="rect">
            <a:avLst/>
          </a:prstGeom>
        </p:spPr>
        <p:txBody>
          <a:bodyPr vert="horz" lIns="0" tIns="0" rIns="0" bIns="0" rtlCol="0" anchor="t"/>
          <a:lstStyle>
            <a:lvl1pPr algn="r">
              <a:defRPr sz="800">
                <a:solidFill>
                  <a:schemeClr val="tx1"/>
                </a:solidFill>
              </a:defRPr>
            </a:lvl1pPr>
          </a:lstStyle>
          <a:p>
            <a:r>
              <a:rPr lang="en-US"/>
              <a:t>© 2022 University of Phoenix</a:t>
            </a:r>
          </a:p>
        </p:txBody>
      </p:sp>
    </p:spTree>
    <p:custDataLst>
      <p:tags r:id="rId1"/>
    </p:custDataLst>
    <p:extLst>
      <p:ext uri="{BB962C8B-B14F-4D97-AF65-F5344CB8AC3E}">
        <p14:creationId xmlns:p14="http://schemas.microsoft.com/office/powerpoint/2010/main" val="1355048106"/>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4_2 Column">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11" name="Content Placeholder 2"/>
          <p:cNvSpPr>
            <a:spLocks noGrp="1"/>
          </p:cNvSpPr>
          <p:nvPr>
            <p:ph idx="13"/>
          </p:nvPr>
        </p:nvSpPr>
        <p:spPr>
          <a:xfrm>
            <a:off x="609600" y="1371600"/>
            <a:ext cx="7315200" cy="4793530"/>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Title Placeholder 1">
            <a:extLst>
              <a:ext uri="{FF2B5EF4-FFF2-40B4-BE49-F238E27FC236}">
                <a16:creationId xmlns:a16="http://schemas.microsoft.com/office/drawing/2014/main" id="{B85DE246-2C6B-8241-963A-F2375570FBCB}"/>
              </a:ext>
            </a:extLst>
          </p:cNvPr>
          <p:cNvSpPr>
            <a:spLocks noGrp="1"/>
          </p:cNvSpPr>
          <p:nvPr>
            <p:ph type="title" hasCustomPrompt="1"/>
          </p:nvPr>
        </p:nvSpPr>
        <p:spPr>
          <a:xfrm>
            <a:off x="609600" y="457200"/>
            <a:ext cx="7315200" cy="594836"/>
          </a:xfrm>
          <a:prstGeom prst="rect">
            <a:avLst/>
          </a:prstGeom>
        </p:spPr>
        <p:txBody>
          <a:bodyPr vert="horz" lIns="0" tIns="0" rIns="0" bIns="0" rtlCol="0" anchor="b">
            <a:noAutofit/>
          </a:bodyPr>
          <a:lstStyle/>
          <a:p>
            <a:r>
              <a:rPr lang="en-US"/>
              <a:t>Title</a:t>
            </a:r>
          </a:p>
        </p:txBody>
      </p:sp>
      <p:sp>
        <p:nvSpPr>
          <p:cNvPr id="8" name="Footer Placeholder 4">
            <a:extLst>
              <a:ext uri="{FF2B5EF4-FFF2-40B4-BE49-F238E27FC236}">
                <a16:creationId xmlns:a16="http://schemas.microsoft.com/office/drawing/2014/main" id="{FDD7BAE9-3AB6-5B42-8DBB-FC58B11682FA}"/>
              </a:ext>
            </a:extLst>
          </p:cNvPr>
          <p:cNvSpPr>
            <a:spLocks noGrp="1"/>
          </p:cNvSpPr>
          <p:nvPr>
            <p:ph type="ftr" sz="quarter" idx="3"/>
          </p:nvPr>
        </p:nvSpPr>
        <p:spPr>
          <a:xfrm>
            <a:off x="3200400" y="6629400"/>
            <a:ext cx="8839200" cy="228600"/>
          </a:xfrm>
          <a:prstGeom prst="rect">
            <a:avLst/>
          </a:prstGeom>
        </p:spPr>
        <p:txBody>
          <a:bodyPr vert="horz" lIns="0" tIns="0" rIns="0" bIns="0" rtlCol="0" anchor="t"/>
          <a:lstStyle>
            <a:lvl1pPr algn="r">
              <a:defRPr sz="800">
                <a:solidFill>
                  <a:schemeClr val="tx1"/>
                </a:solidFill>
              </a:defRPr>
            </a:lvl1pPr>
          </a:lstStyle>
          <a:p>
            <a:r>
              <a:rPr lang="en-US"/>
              <a:t>© 2022 University of Phoenix</a:t>
            </a:r>
          </a:p>
        </p:txBody>
      </p:sp>
    </p:spTree>
    <p:custDataLst>
      <p:tags r:id="rId1"/>
    </p:custDataLst>
    <p:extLst>
      <p:ext uri="{BB962C8B-B14F-4D97-AF65-F5344CB8AC3E}">
        <p14:creationId xmlns:p14="http://schemas.microsoft.com/office/powerpoint/2010/main" val="3259348282"/>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5_2 Column">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11" name="Content Placeholder 2"/>
          <p:cNvSpPr>
            <a:spLocks noGrp="1"/>
          </p:cNvSpPr>
          <p:nvPr>
            <p:ph idx="13"/>
          </p:nvPr>
        </p:nvSpPr>
        <p:spPr>
          <a:xfrm>
            <a:off x="609600" y="1371600"/>
            <a:ext cx="7315200" cy="4793530"/>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Title Placeholder 1">
            <a:extLst>
              <a:ext uri="{FF2B5EF4-FFF2-40B4-BE49-F238E27FC236}">
                <a16:creationId xmlns:a16="http://schemas.microsoft.com/office/drawing/2014/main" id="{B85DE246-2C6B-8241-963A-F2375570FBCB}"/>
              </a:ext>
            </a:extLst>
          </p:cNvPr>
          <p:cNvSpPr>
            <a:spLocks noGrp="1"/>
          </p:cNvSpPr>
          <p:nvPr>
            <p:ph type="title" hasCustomPrompt="1"/>
          </p:nvPr>
        </p:nvSpPr>
        <p:spPr>
          <a:xfrm>
            <a:off x="609600" y="457200"/>
            <a:ext cx="7315200" cy="594836"/>
          </a:xfrm>
          <a:prstGeom prst="rect">
            <a:avLst/>
          </a:prstGeom>
        </p:spPr>
        <p:txBody>
          <a:bodyPr vert="horz" lIns="0" tIns="0" rIns="0" bIns="0" rtlCol="0" anchor="b">
            <a:noAutofit/>
          </a:bodyPr>
          <a:lstStyle/>
          <a:p>
            <a:r>
              <a:rPr lang="en-US"/>
              <a:t>Title</a:t>
            </a:r>
          </a:p>
        </p:txBody>
      </p:sp>
      <p:sp>
        <p:nvSpPr>
          <p:cNvPr id="8" name="Footer Placeholder 4">
            <a:extLst>
              <a:ext uri="{FF2B5EF4-FFF2-40B4-BE49-F238E27FC236}">
                <a16:creationId xmlns:a16="http://schemas.microsoft.com/office/drawing/2014/main" id="{FDD7BAE9-3AB6-5B42-8DBB-FC58B11682FA}"/>
              </a:ext>
            </a:extLst>
          </p:cNvPr>
          <p:cNvSpPr>
            <a:spLocks noGrp="1"/>
          </p:cNvSpPr>
          <p:nvPr>
            <p:ph type="ftr" sz="quarter" idx="3"/>
          </p:nvPr>
        </p:nvSpPr>
        <p:spPr>
          <a:xfrm>
            <a:off x="3200400" y="6629400"/>
            <a:ext cx="8839200" cy="228600"/>
          </a:xfrm>
          <a:prstGeom prst="rect">
            <a:avLst/>
          </a:prstGeom>
        </p:spPr>
        <p:txBody>
          <a:bodyPr vert="horz" lIns="0" tIns="0" rIns="0" bIns="0" rtlCol="0" anchor="t"/>
          <a:lstStyle>
            <a:lvl1pPr algn="r">
              <a:defRPr sz="800">
                <a:solidFill>
                  <a:schemeClr val="tx1"/>
                </a:solidFill>
              </a:defRPr>
            </a:lvl1pPr>
          </a:lstStyle>
          <a:p>
            <a:r>
              <a:rPr lang="en-US"/>
              <a:t>© 2022 University of Phoenix</a:t>
            </a:r>
          </a:p>
        </p:txBody>
      </p:sp>
    </p:spTree>
    <p:custDataLst>
      <p:tags r:id="rId1"/>
    </p:custDataLst>
    <p:extLst>
      <p:ext uri="{BB962C8B-B14F-4D97-AF65-F5344CB8AC3E}">
        <p14:creationId xmlns:p14="http://schemas.microsoft.com/office/powerpoint/2010/main" val="3700299926"/>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3_2 Column">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11" name="Content Placeholder 2"/>
          <p:cNvSpPr>
            <a:spLocks noGrp="1"/>
          </p:cNvSpPr>
          <p:nvPr>
            <p:ph idx="13"/>
          </p:nvPr>
        </p:nvSpPr>
        <p:spPr>
          <a:xfrm>
            <a:off x="4267200" y="1371600"/>
            <a:ext cx="7315200" cy="4793530"/>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Title Placeholder 1">
            <a:extLst>
              <a:ext uri="{FF2B5EF4-FFF2-40B4-BE49-F238E27FC236}">
                <a16:creationId xmlns:a16="http://schemas.microsoft.com/office/drawing/2014/main" id="{B85DE246-2C6B-8241-963A-F2375570FBCB}"/>
              </a:ext>
            </a:extLst>
          </p:cNvPr>
          <p:cNvSpPr>
            <a:spLocks noGrp="1"/>
          </p:cNvSpPr>
          <p:nvPr>
            <p:ph type="title" hasCustomPrompt="1"/>
          </p:nvPr>
        </p:nvSpPr>
        <p:spPr>
          <a:xfrm>
            <a:off x="4267200" y="457200"/>
            <a:ext cx="7315200" cy="594836"/>
          </a:xfrm>
          <a:prstGeom prst="rect">
            <a:avLst/>
          </a:prstGeom>
        </p:spPr>
        <p:txBody>
          <a:bodyPr vert="horz" lIns="0" tIns="0" rIns="0" bIns="0" rtlCol="0" anchor="b">
            <a:noAutofit/>
          </a:bodyPr>
          <a:lstStyle/>
          <a:p>
            <a:r>
              <a:rPr lang="en-US"/>
              <a:t>Title</a:t>
            </a:r>
          </a:p>
        </p:txBody>
      </p:sp>
      <p:sp>
        <p:nvSpPr>
          <p:cNvPr id="8" name="Footer Placeholder 4">
            <a:extLst>
              <a:ext uri="{FF2B5EF4-FFF2-40B4-BE49-F238E27FC236}">
                <a16:creationId xmlns:a16="http://schemas.microsoft.com/office/drawing/2014/main" id="{FDD7BAE9-3AB6-5B42-8DBB-FC58B11682FA}"/>
              </a:ext>
            </a:extLst>
          </p:cNvPr>
          <p:cNvSpPr>
            <a:spLocks noGrp="1"/>
          </p:cNvSpPr>
          <p:nvPr>
            <p:ph type="ftr" sz="quarter" idx="3"/>
          </p:nvPr>
        </p:nvSpPr>
        <p:spPr>
          <a:xfrm>
            <a:off x="3200400" y="6629400"/>
            <a:ext cx="8839200" cy="228600"/>
          </a:xfrm>
          <a:prstGeom prst="rect">
            <a:avLst/>
          </a:prstGeom>
        </p:spPr>
        <p:txBody>
          <a:bodyPr vert="horz" lIns="0" tIns="0" rIns="0" bIns="0" rtlCol="0" anchor="t"/>
          <a:lstStyle>
            <a:lvl1pPr algn="r">
              <a:defRPr sz="800">
                <a:solidFill>
                  <a:schemeClr val="tx1"/>
                </a:solidFill>
              </a:defRPr>
            </a:lvl1pPr>
          </a:lstStyle>
          <a:p>
            <a:r>
              <a:rPr lang="en-US"/>
              <a:t>© 2022 University of Phoenix</a:t>
            </a:r>
          </a:p>
        </p:txBody>
      </p:sp>
    </p:spTree>
    <p:extLst>
      <p:ext uri="{BB962C8B-B14F-4D97-AF65-F5344CB8AC3E}">
        <p14:creationId xmlns:p14="http://schemas.microsoft.com/office/powerpoint/2010/main" val="2728828303"/>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title" preserve="1">
  <p:cSld name="Title">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609600" y="2286000"/>
            <a:ext cx="9829800" cy="914400"/>
          </a:xfrm>
        </p:spPr>
        <p:txBody>
          <a:bodyPr anchor="t">
            <a:normAutofit/>
          </a:bodyPr>
          <a:lstStyle>
            <a:lvl1pPr>
              <a:defRPr sz="5400" b="0">
                <a:solidFill>
                  <a:schemeClr val="tx1"/>
                </a:solidFill>
              </a:defRPr>
            </a:lvl1pPr>
          </a:lstStyle>
          <a:p>
            <a:r>
              <a:rPr lang="en-US"/>
              <a:t>Header</a:t>
            </a:r>
          </a:p>
        </p:txBody>
      </p:sp>
      <p:sp>
        <p:nvSpPr>
          <p:cNvPr id="3" name="Subtitle 2"/>
          <p:cNvSpPr>
            <a:spLocks noGrp="1"/>
          </p:cNvSpPr>
          <p:nvPr>
            <p:ph type="subTitle" idx="1" hasCustomPrompt="1"/>
          </p:nvPr>
        </p:nvSpPr>
        <p:spPr>
          <a:xfrm>
            <a:off x="609600" y="3429000"/>
            <a:ext cx="9829800" cy="457200"/>
          </a:xfrm>
        </p:spPr>
        <p:txBody>
          <a:bodyPr>
            <a:normAutofit/>
          </a:bodyPr>
          <a:lstStyle>
            <a:lvl1pPr marL="0" indent="0" algn="l">
              <a:buNone/>
              <a:defRPr sz="2000" baseline="0">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Sub Header</a:t>
            </a:r>
          </a:p>
        </p:txBody>
      </p:sp>
      <p:sp>
        <p:nvSpPr>
          <p:cNvPr id="5" name="Footer Placeholder 4">
            <a:extLst>
              <a:ext uri="{FF2B5EF4-FFF2-40B4-BE49-F238E27FC236}">
                <a16:creationId xmlns:a16="http://schemas.microsoft.com/office/drawing/2014/main" id="{F2FD3FD6-AD04-2A4C-81EE-589B6F3D30D7}"/>
              </a:ext>
            </a:extLst>
          </p:cNvPr>
          <p:cNvSpPr>
            <a:spLocks noGrp="1"/>
          </p:cNvSpPr>
          <p:nvPr>
            <p:ph type="ftr" sz="quarter" idx="3"/>
          </p:nvPr>
        </p:nvSpPr>
        <p:spPr>
          <a:xfrm>
            <a:off x="3200400" y="6629400"/>
            <a:ext cx="8839200" cy="228600"/>
          </a:xfrm>
          <a:prstGeom prst="rect">
            <a:avLst/>
          </a:prstGeom>
        </p:spPr>
        <p:txBody>
          <a:bodyPr vert="horz" lIns="0" tIns="0" rIns="0" bIns="0" rtlCol="0" anchor="t"/>
          <a:lstStyle>
            <a:lvl1pPr algn="r">
              <a:defRPr sz="800">
                <a:solidFill>
                  <a:schemeClr val="tx1"/>
                </a:solidFill>
              </a:defRPr>
            </a:lvl1pPr>
          </a:lstStyle>
          <a:p>
            <a:r>
              <a:rPr lang="en-US"/>
              <a:t>© 2022 University of Phoenix</a:t>
            </a:r>
          </a:p>
        </p:txBody>
      </p:sp>
    </p:spTree>
    <p:custDataLst>
      <p:tags r:id="rId1"/>
    </p:custDataLst>
    <p:extLst>
      <p:ext uri="{BB962C8B-B14F-4D97-AF65-F5344CB8AC3E}">
        <p14:creationId xmlns:p14="http://schemas.microsoft.com/office/powerpoint/2010/main" val="4219435103"/>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title" preserve="1">
  <p:cSld name="1_Title">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609600" y="2743200"/>
            <a:ext cx="9829800" cy="914400"/>
          </a:xfrm>
        </p:spPr>
        <p:txBody>
          <a:bodyPr anchor="t">
            <a:normAutofit/>
          </a:bodyPr>
          <a:lstStyle>
            <a:lvl1pPr>
              <a:defRPr sz="5400" b="0">
                <a:solidFill>
                  <a:schemeClr val="tx1"/>
                </a:solidFill>
              </a:defRPr>
            </a:lvl1pPr>
          </a:lstStyle>
          <a:p>
            <a:r>
              <a:rPr lang="en-US"/>
              <a:t>Header</a:t>
            </a:r>
          </a:p>
        </p:txBody>
      </p:sp>
      <p:sp>
        <p:nvSpPr>
          <p:cNvPr id="3" name="Subtitle 2"/>
          <p:cNvSpPr>
            <a:spLocks noGrp="1"/>
          </p:cNvSpPr>
          <p:nvPr>
            <p:ph type="subTitle" idx="1" hasCustomPrompt="1"/>
          </p:nvPr>
        </p:nvSpPr>
        <p:spPr>
          <a:xfrm>
            <a:off x="609600" y="3886200"/>
            <a:ext cx="9829800" cy="457200"/>
          </a:xfrm>
        </p:spPr>
        <p:txBody>
          <a:bodyPr>
            <a:normAutofit/>
          </a:bodyPr>
          <a:lstStyle>
            <a:lvl1pPr marL="0" indent="0" algn="l">
              <a:buNone/>
              <a:defRPr sz="2000" baseline="0">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Sub Header</a:t>
            </a:r>
          </a:p>
        </p:txBody>
      </p:sp>
      <p:sp>
        <p:nvSpPr>
          <p:cNvPr id="5" name="Footer Placeholder 4">
            <a:extLst>
              <a:ext uri="{FF2B5EF4-FFF2-40B4-BE49-F238E27FC236}">
                <a16:creationId xmlns:a16="http://schemas.microsoft.com/office/drawing/2014/main" id="{F2FD3FD6-AD04-2A4C-81EE-589B6F3D30D7}"/>
              </a:ext>
            </a:extLst>
          </p:cNvPr>
          <p:cNvSpPr>
            <a:spLocks noGrp="1"/>
          </p:cNvSpPr>
          <p:nvPr>
            <p:ph type="ftr" sz="quarter" idx="3"/>
          </p:nvPr>
        </p:nvSpPr>
        <p:spPr>
          <a:xfrm>
            <a:off x="3200400" y="6629400"/>
            <a:ext cx="8839200" cy="228600"/>
          </a:xfrm>
          <a:prstGeom prst="rect">
            <a:avLst/>
          </a:prstGeom>
        </p:spPr>
        <p:txBody>
          <a:bodyPr vert="horz" lIns="0" tIns="0" rIns="0" bIns="0" rtlCol="0" anchor="t"/>
          <a:lstStyle>
            <a:lvl1pPr algn="r">
              <a:defRPr sz="800">
                <a:solidFill>
                  <a:schemeClr val="tx1"/>
                </a:solidFill>
              </a:defRPr>
            </a:lvl1pPr>
          </a:lstStyle>
          <a:p>
            <a:r>
              <a:rPr lang="en-US"/>
              <a:t>© 2022 University of Phoenix</a:t>
            </a:r>
          </a:p>
        </p:txBody>
      </p:sp>
    </p:spTree>
    <p:custDataLst>
      <p:tags r:id="rId1"/>
    </p:custDataLst>
    <p:extLst>
      <p:ext uri="{BB962C8B-B14F-4D97-AF65-F5344CB8AC3E}">
        <p14:creationId xmlns:p14="http://schemas.microsoft.com/office/powerpoint/2010/main" val="3426323751"/>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Basic">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5" name="Footer Placeholder 4">
            <a:extLst>
              <a:ext uri="{FF2B5EF4-FFF2-40B4-BE49-F238E27FC236}">
                <a16:creationId xmlns:a16="http://schemas.microsoft.com/office/drawing/2014/main" id="{A44A32B0-BC81-184A-B63D-DB50355C6D70}"/>
              </a:ext>
            </a:extLst>
          </p:cNvPr>
          <p:cNvSpPr>
            <a:spLocks noGrp="1"/>
          </p:cNvSpPr>
          <p:nvPr>
            <p:ph type="ftr" sz="quarter" idx="3"/>
          </p:nvPr>
        </p:nvSpPr>
        <p:spPr>
          <a:xfrm>
            <a:off x="3200400" y="6629400"/>
            <a:ext cx="8839200" cy="228600"/>
          </a:xfrm>
          <a:prstGeom prst="rect">
            <a:avLst/>
          </a:prstGeom>
        </p:spPr>
        <p:txBody>
          <a:bodyPr vert="horz" lIns="0" tIns="0" rIns="0" bIns="0" rtlCol="0" anchor="t"/>
          <a:lstStyle>
            <a:lvl1pPr algn="r">
              <a:defRPr sz="800">
                <a:solidFill>
                  <a:schemeClr val="tx1"/>
                </a:solidFill>
              </a:defRPr>
            </a:lvl1pPr>
          </a:lstStyle>
          <a:p>
            <a:r>
              <a:rPr lang="en-US"/>
              <a:t>© 2022 University of Phoenix</a:t>
            </a:r>
          </a:p>
        </p:txBody>
      </p:sp>
      <p:sp>
        <p:nvSpPr>
          <p:cNvPr id="10" name="Title Placeholder 1">
            <a:extLst>
              <a:ext uri="{FF2B5EF4-FFF2-40B4-BE49-F238E27FC236}">
                <a16:creationId xmlns:a16="http://schemas.microsoft.com/office/drawing/2014/main" id="{4C6FB93E-4316-9C46-9765-AB8836030AC0}"/>
              </a:ext>
            </a:extLst>
          </p:cNvPr>
          <p:cNvSpPr>
            <a:spLocks noGrp="1"/>
          </p:cNvSpPr>
          <p:nvPr>
            <p:ph type="title" hasCustomPrompt="1"/>
          </p:nvPr>
        </p:nvSpPr>
        <p:spPr>
          <a:xfrm>
            <a:off x="533400" y="457200"/>
            <a:ext cx="11049000" cy="594836"/>
          </a:xfrm>
          <a:prstGeom prst="rect">
            <a:avLst/>
          </a:prstGeom>
        </p:spPr>
        <p:txBody>
          <a:bodyPr vert="horz" lIns="0" tIns="0" rIns="0" bIns="0" rtlCol="0" anchor="b">
            <a:noAutofit/>
          </a:bodyPr>
          <a:lstStyle/>
          <a:p>
            <a:r>
              <a:rPr lang="en-US"/>
              <a:t>Title</a:t>
            </a:r>
          </a:p>
        </p:txBody>
      </p:sp>
      <p:sp>
        <p:nvSpPr>
          <p:cNvPr id="11" name="Text Placeholder 2">
            <a:extLst>
              <a:ext uri="{FF2B5EF4-FFF2-40B4-BE49-F238E27FC236}">
                <a16:creationId xmlns:a16="http://schemas.microsoft.com/office/drawing/2014/main" id="{F07CE980-908D-9446-AA92-9ED80C92B9EC}"/>
              </a:ext>
            </a:extLst>
          </p:cNvPr>
          <p:cNvSpPr>
            <a:spLocks noGrp="1"/>
          </p:cNvSpPr>
          <p:nvPr>
            <p:ph idx="1" hasCustomPrompt="1"/>
          </p:nvPr>
        </p:nvSpPr>
        <p:spPr>
          <a:xfrm>
            <a:off x="533400" y="1371600"/>
            <a:ext cx="11049000" cy="5029200"/>
          </a:xfrm>
          <a:prstGeom prst="rect">
            <a:avLst/>
          </a:prstGeom>
        </p:spPr>
        <p:txBody>
          <a:bodyPr vert="horz" lIns="0" tIns="0" rIns="0" bIns="0" rtlCol="0">
            <a:normAutofit/>
          </a:bodyPr>
          <a:lstStyle>
            <a:lvl1pPr marL="0" indent="0">
              <a:buNone/>
              <a:defRPr/>
            </a:lvl1pPr>
            <a:lvl2pPr marL="457200" indent="0">
              <a:buNone/>
              <a:defRPr/>
            </a:lvl2pPr>
            <a:lvl3pPr marL="914400" indent="0">
              <a:buNone/>
              <a:defRPr/>
            </a:lvl3pPr>
            <a:lvl4pPr marL="1371600" indent="0">
              <a:buNone/>
              <a:defRPr/>
            </a:lvl4pPr>
            <a:lvl5pPr marL="1828800" indent="0">
              <a:buNone/>
              <a:defRPr/>
            </a:lvl5pPr>
            <a:lvl6pPr marL="2286000" indent="0">
              <a:buNone/>
              <a:defRPr/>
            </a:lvl6pPr>
            <a:lvl7pPr marL="2743200" indent="0">
              <a:buNone/>
              <a:defRPr/>
            </a:lvl7pPr>
            <a:lvl8pPr marL="3200400" indent="0">
              <a:buNone/>
              <a:defRPr/>
            </a:lvl8pPr>
            <a:lvl9pPr marL="3657600" indent="0">
              <a:buNone/>
              <a:defRPr/>
            </a:lvl9pPr>
          </a:lstStyle>
          <a:p>
            <a:pPr lvl="0"/>
            <a:r>
              <a:rPr lang="en-US"/>
              <a:t>Text</a:t>
            </a:r>
          </a:p>
        </p:txBody>
      </p:sp>
    </p:spTree>
    <p:custDataLst>
      <p:tags r:id="rId1"/>
    </p:custDataLst>
    <p:extLst>
      <p:ext uri="{BB962C8B-B14F-4D97-AF65-F5344CB8AC3E}">
        <p14:creationId xmlns:p14="http://schemas.microsoft.com/office/powerpoint/2010/main" val="1727780334"/>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1_Basic">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5" name="Footer Placeholder 4">
            <a:extLst>
              <a:ext uri="{FF2B5EF4-FFF2-40B4-BE49-F238E27FC236}">
                <a16:creationId xmlns:a16="http://schemas.microsoft.com/office/drawing/2014/main" id="{A44A32B0-BC81-184A-B63D-DB50355C6D70}"/>
              </a:ext>
            </a:extLst>
          </p:cNvPr>
          <p:cNvSpPr>
            <a:spLocks noGrp="1"/>
          </p:cNvSpPr>
          <p:nvPr>
            <p:ph type="ftr" sz="quarter" idx="3"/>
          </p:nvPr>
        </p:nvSpPr>
        <p:spPr>
          <a:xfrm>
            <a:off x="3200400" y="6629400"/>
            <a:ext cx="8839200" cy="228600"/>
          </a:xfrm>
          <a:prstGeom prst="rect">
            <a:avLst/>
          </a:prstGeom>
        </p:spPr>
        <p:txBody>
          <a:bodyPr vert="horz" lIns="0" tIns="0" rIns="0" bIns="0" rtlCol="0" anchor="t"/>
          <a:lstStyle>
            <a:lvl1pPr algn="r">
              <a:defRPr sz="800">
                <a:solidFill>
                  <a:schemeClr val="tx1"/>
                </a:solidFill>
              </a:defRPr>
            </a:lvl1pPr>
          </a:lstStyle>
          <a:p>
            <a:r>
              <a:rPr lang="en-US"/>
              <a:t>© 2022 University of Phoenix</a:t>
            </a:r>
          </a:p>
        </p:txBody>
      </p:sp>
      <p:sp>
        <p:nvSpPr>
          <p:cNvPr id="10" name="Title Placeholder 1">
            <a:extLst>
              <a:ext uri="{FF2B5EF4-FFF2-40B4-BE49-F238E27FC236}">
                <a16:creationId xmlns:a16="http://schemas.microsoft.com/office/drawing/2014/main" id="{4C6FB93E-4316-9C46-9765-AB8836030AC0}"/>
              </a:ext>
            </a:extLst>
          </p:cNvPr>
          <p:cNvSpPr>
            <a:spLocks noGrp="1"/>
          </p:cNvSpPr>
          <p:nvPr>
            <p:ph type="title" hasCustomPrompt="1"/>
          </p:nvPr>
        </p:nvSpPr>
        <p:spPr>
          <a:xfrm>
            <a:off x="533400" y="457200"/>
            <a:ext cx="11049000" cy="594836"/>
          </a:xfrm>
          <a:prstGeom prst="rect">
            <a:avLst/>
          </a:prstGeom>
        </p:spPr>
        <p:txBody>
          <a:bodyPr vert="horz" lIns="0" tIns="0" rIns="0" bIns="0" rtlCol="0" anchor="b">
            <a:noAutofit/>
          </a:bodyPr>
          <a:lstStyle/>
          <a:p>
            <a:r>
              <a:rPr lang="en-US"/>
              <a:t>Title</a:t>
            </a:r>
          </a:p>
        </p:txBody>
      </p:sp>
      <p:sp>
        <p:nvSpPr>
          <p:cNvPr id="11" name="Text Placeholder 2">
            <a:extLst>
              <a:ext uri="{FF2B5EF4-FFF2-40B4-BE49-F238E27FC236}">
                <a16:creationId xmlns:a16="http://schemas.microsoft.com/office/drawing/2014/main" id="{F07CE980-908D-9446-AA92-9ED80C92B9EC}"/>
              </a:ext>
            </a:extLst>
          </p:cNvPr>
          <p:cNvSpPr>
            <a:spLocks noGrp="1"/>
          </p:cNvSpPr>
          <p:nvPr>
            <p:ph idx="1" hasCustomPrompt="1"/>
          </p:nvPr>
        </p:nvSpPr>
        <p:spPr>
          <a:xfrm>
            <a:off x="533400" y="1371600"/>
            <a:ext cx="11049000" cy="5029200"/>
          </a:xfrm>
          <a:prstGeom prst="rect">
            <a:avLst/>
          </a:prstGeom>
        </p:spPr>
        <p:txBody>
          <a:bodyPr vert="horz" lIns="0" tIns="0" rIns="0" bIns="0" rtlCol="0">
            <a:normAutofit/>
          </a:bodyPr>
          <a:lstStyle>
            <a:lvl1pPr marL="0" indent="0">
              <a:buNone/>
              <a:defRPr/>
            </a:lvl1pPr>
            <a:lvl2pPr marL="457200" indent="0">
              <a:buNone/>
              <a:defRPr/>
            </a:lvl2pPr>
            <a:lvl3pPr marL="914400" indent="0">
              <a:buNone/>
              <a:defRPr/>
            </a:lvl3pPr>
            <a:lvl4pPr marL="1371600" indent="0">
              <a:buNone/>
              <a:defRPr/>
            </a:lvl4pPr>
            <a:lvl5pPr marL="1828800" indent="0">
              <a:buNone/>
              <a:defRPr/>
            </a:lvl5pPr>
            <a:lvl6pPr marL="2286000" indent="0">
              <a:buNone/>
              <a:defRPr/>
            </a:lvl6pPr>
            <a:lvl7pPr marL="2743200" indent="0">
              <a:buNone/>
              <a:defRPr/>
            </a:lvl7pPr>
            <a:lvl8pPr marL="3200400" indent="0">
              <a:buNone/>
              <a:defRPr/>
            </a:lvl8pPr>
            <a:lvl9pPr marL="3657600" indent="0">
              <a:buNone/>
              <a:defRPr/>
            </a:lvl9pPr>
          </a:lstStyle>
          <a:p>
            <a:pPr lvl="0"/>
            <a:r>
              <a:rPr lang="en-US"/>
              <a:t>Text</a:t>
            </a:r>
          </a:p>
        </p:txBody>
      </p:sp>
    </p:spTree>
    <p:extLst>
      <p:ext uri="{BB962C8B-B14F-4D97-AF65-F5344CB8AC3E}">
        <p14:creationId xmlns:p14="http://schemas.microsoft.com/office/powerpoint/2010/main" val="999457593"/>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2 Column Thirds">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11" name="Content Placeholder 2"/>
          <p:cNvSpPr>
            <a:spLocks noGrp="1"/>
          </p:cNvSpPr>
          <p:nvPr>
            <p:ph idx="13"/>
          </p:nvPr>
        </p:nvSpPr>
        <p:spPr>
          <a:xfrm>
            <a:off x="4495800" y="1371602"/>
            <a:ext cx="7086600" cy="479727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Text Placeholder 18"/>
          <p:cNvSpPr>
            <a:spLocks noGrp="1"/>
          </p:cNvSpPr>
          <p:nvPr>
            <p:ph type="body" sz="quarter" idx="12"/>
          </p:nvPr>
        </p:nvSpPr>
        <p:spPr>
          <a:xfrm>
            <a:off x="533400" y="1368279"/>
            <a:ext cx="3200400" cy="4800600"/>
          </a:xfrm>
        </p:spPr>
        <p:txBody>
          <a:bodyPr>
            <a:normAutofit/>
          </a:bodyPr>
          <a:lstStyle>
            <a:lvl1pPr marL="0" indent="0">
              <a:buNone/>
              <a:defRPr sz="1800"/>
            </a:lvl1pPr>
          </a:lstStyle>
          <a:p>
            <a:pPr lvl="0"/>
            <a:endParaRPr lang="en-US"/>
          </a:p>
        </p:txBody>
      </p:sp>
      <p:sp>
        <p:nvSpPr>
          <p:cNvPr id="6" name="Footer Placeholder 4">
            <a:extLst>
              <a:ext uri="{FF2B5EF4-FFF2-40B4-BE49-F238E27FC236}">
                <a16:creationId xmlns:a16="http://schemas.microsoft.com/office/drawing/2014/main" id="{98E71EB1-1CFD-6746-9C20-4AF9C2215C53}"/>
              </a:ext>
            </a:extLst>
          </p:cNvPr>
          <p:cNvSpPr>
            <a:spLocks noGrp="1"/>
          </p:cNvSpPr>
          <p:nvPr>
            <p:ph type="ftr" sz="quarter" idx="3"/>
          </p:nvPr>
        </p:nvSpPr>
        <p:spPr>
          <a:xfrm>
            <a:off x="3200400" y="6629400"/>
            <a:ext cx="8839200" cy="228600"/>
          </a:xfrm>
          <a:prstGeom prst="rect">
            <a:avLst/>
          </a:prstGeom>
        </p:spPr>
        <p:txBody>
          <a:bodyPr vert="horz" lIns="0" tIns="0" rIns="0" bIns="0" rtlCol="0" anchor="t"/>
          <a:lstStyle>
            <a:lvl1pPr algn="r">
              <a:defRPr sz="800">
                <a:solidFill>
                  <a:schemeClr val="tx1"/>
                </a:solidFill>
              </a:defRPr>
            </a:lvl1pPr>
          </a:lstStyle>
          <a:p>
            <a:r>
              <a:rPr lang="en-US"/>
              <a:t>© 2022 University of Phoenix</a:t>
            </a:r>
          </a:p>
        </p:txBody>
      </p:sp>
      <p:sp>
        <p:nvSpPr>
          <p:cNvPr id="9" name="Title Placeholder 1">
            <a:extLst>
              <a:ext uri="{FF2B5EF4-FFF2-40B4-BE49-F238E27FC236}">
                <a16:creationId xmlns:a16="http://schemas.microsoft.com/office/drawing/2014/main" id="{22C10B7F-8730-B44F-9166-9FC588037585}"/>
              </a:ext>
            </a:extLst>
          </p:cNvPr>
          <p:cNvSpPr>
            <a:spLocks noGrp="1"/>
          </p:cNvSpPr>
          <p:nvPr>
            <p:ph type="title" hasCustomPrompt="1"/>
          </p:nvPr>
        </p:nvSpPr>
        <p:spPr>
          <a:xfrm>
            <a:off x="533400" y="457200"/>
            <a:ext cx="11049000" cy="594836"/>
          </a:xfrm>
          <a:prstGeom prst="rect">
            <a:avLst/>
          </a:prstGeom>
        </p:spPr>
        <p:txBody>
          <a:bodyPr vert="horz" lIns="0" tIns="0" rIns="0" bIns="0" rtlCol="0" anchor="b">
            <a:noAutofit/>
          </a:bodyPr>
          <a:lstStyle/>
          <a:p>
            <a:r>
              <a:rPr lang="en-US"/>
              <a:t>Title</a:t>
            </a:r>
          </a:p>
        </p:txBody>
      </p:sp>
    </p:spTree>
    <p:extLst>
      <p:ext uri="{BB962C8B-B14F-4D97-AF65-F5344CB8AC3E}">
        <p14:creationId xmlns:p14="http://schemas.microsoft.com/office/powerpoint/2010/main" val="1816478959"/>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2 Column">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10" name="Content Placeholder 2"/>
          <p:cNvSpPr>
            <a:spLocks noGrp="1"/>
          </p:cNvSpPr>
          <p:nvPr>
            <p:ph idx="1"/>
          </p:nvPr>
        </p:nvSpPr>
        <p:spPr>
          <a:xfrm>
            <a:off x="533400" y="1371601"/>
            <a:ext cx="4953000" cy="4793530"/>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Content Placeholder 2"/>
          <p:cNvSpPr>
            <a:spLocks noGrp="1"/>
          </p:cNvSpPr>
          <p:nvPr>
            <p:ph idx="13"/>
          </p:nvPr>
        </p:nvSpPr>
        <p:spPr>
          <a:xfrm>
            <a:off x="6553200" y="1371600"/>
            <a:ext cx="5029200" cy="4793530"/>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Title Placeholder 1">
            <a:extLst>
              <a:ext uri="{FF2B5EF4-FFF2-40B4-BE49-F238E27FC236}">
                <a16:creationId xmlns:a16="http://schemas.microsoft.com/office/drawing/2014/main" id="{B85DE246-2C6B-8241-963A-F2375570FBCB}"/>
              </a:ext>
            </a:extLst>
          </p:cNvPr>
          <p:cNvSpPr>
            <a:spLocks noGrp="1"/>
          </p:cNvSpPr>
          <p:nvPr>
            <p:ph type="title" hasCustomPrompt="1"/>
          </p:nvPr>
        </p:nvSpPr>
        <p:spPr>
          <a:xfrm>
            <a:off x="533400" y="457200"/>
            <a:ext cx="11049000" cy="594836"/>
          </a:xfrm>
          <a:prstGeom prst="rect">
            <a:avLst/>
          </a:prstGeom>
        </p:spPr>
        <p:txBody>
          <a:bodyPr vert="horz" lIns="0" tIns="0" rIns="0" bIns="0" rtlCol="0" anchor="b">
            <a:noAutofit/>
          </a:bodyPr>
          <a:lstStyle/>
          <a:p>
            <a:r>
              <a:rPr lang="en-US"/>
              <a:t>Title</a:t>
            </a:r>
          </a:p>
        </p:txBody>
      </p:sp>
      <p:sp>
        <p:nvSpPr>
          <p:cNvPr id="8" name="Footer Placeholder 4">
            <a:extLst>
              <a:ext uri="{FF2B5EF4-FFF2-40B4-BE49-F238E27FC236}">
                <a16:creationId xmlns:a16="http://schemas.microsoft.com/office/drawing/2014/main" id="{FDD7BAE9-3AB6-5B42-8DBB-FC58B11682FA}"/>
              </a:ext>
            </a:extLst>
          </p:cNvPr>
          <p:cNvSpPr>
            <a:spLocks noGrp="1"/>
          </p:cNvSpPr>
          <p:nvPr>
            <p:ph type="ftr" sz="quarter" idx="3"/>
          </p:nvPr>
        </p:nvSpPr>
        <p:spPr>
          <a:xfrm>
            <a:off x="3200400" y="6629400"/>
            <a:ext cx="8839200" cy="228600"/>
          </a:xfrm>
          <a:prstGeom prst="rect">
            <a:avLst/>
          </a:prstGeom>
        </p:spPr>
        <p:txBody>
          <a:bodyPr vert="horz" lIns="0" tIns="0" rIns="0" bIns="0" rtlCol="0" anchor="t"/>
          <a:lstStyle>
            <a:lvl1pPr algn="r">
              <a:defRPr sz="800">
                <a:solidFill>
                  <a:schemeClr val="tx1"/>
                </a:solidFill>
              </a:defRPr>
            </a:lvl1pPr>
          </a:lstStyle>
          <a:p>
            <a:r>
              <a:rPr lang="en-US"/>
              <a:t>© 2022 University of Phoenix</a:t>
            </a:r>
          </a:p>
        </p:txBody>
      </p:sp>
    </p:spTree>
    <p:extLst>
      <p:ext uri="{BB962C8B-B14F-4D97-AF65-F5344CB8AC3E}">
        <p14:creationId xmlns:p14="http://schemas.microsoft.com/office/powerpoint/2010/main" val="3775788885"/>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3_2 Column">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8" name="Footer Placeholder 4">
            <a:extLst>
              <a:ext uri="{FF2B5EF4-FFF2-40B4-BE49-F238E27FC236}">
                <a16:creationId xmlns:a16="http://schemas.microsoft.com/office/drawing/2014/main" id="{FDD7BAE9-3AB6-5B42-8DBB-FC58B11682FA}"/>
              </a:ext>
            </a:extLst>
          </p:cNvPr>
          <p:cNvSpPr>
            <a:spLocks noGrp="1"/>
          </p:cNvSpPr>
          <p:nvPr>
            <p:ph type="ftr" sz="quarter" idx="3"/>
          </p:nvPr>
        </p:nvSpPr>
        <p:spPr>
          <a:xfrm>
            <a:off x="3200400" y="6629400"/>
            <a:ext cx="8839200" cy="228600"/>
          </a:xfrm>
          <a:prstGeom prst="rect">
            <a:avLst/>
          </a:prstGeom>
        </p:spPr>
        <p:txBody>
          <a:bodyPr vert="horz" lIns="0" tIns="0" rIns="0" bIns="0" rtlCol="0" anchor="t"/>
          <a:lstStyle>
            <a:lvl1pPr algn="r">
              <a:defRPr sz="800">
                <a:solidFill>
                  <a:schemeClr val="tx1"/>
                </a:solidFill>
              </a:defRPr>
            </a:lvl1pPr>
          </a:lstStyle>
          <a:p>
            <a:r>
              <a:rPr lang="en-US"/>
              <a:t>© 2022 University of Phoenix</a:t>
            </a:r>
          </a:p>
        </p:txBody>
      </p:sp>
      <p:sp>
        <p:nvSpPr>
          <p:cNvPr id="5" name="Title Placeholder 1">
            <a:extLst>
              <a:ext uri="{FF2B5EF4-FFF2-40B4-BE49-F238E27FC236}">
                <a16:creationId xmlns:a16="http://schemas.microsoft.com/office/drawing/2014/main" id="{248D1E27-C0F0-D14C-80DC-BD172A614315}"/>
              </a:ext>
            </a:extLst>
          </p:cNvPr>
          <p:cNvSpPr>
            <a:spLocks noGrp="1"/>
          </p:cNvSpPr>
          <p:nvPr>
            <p:ph type="title" hasCustomPrompt="1"/>
          </p:nvPr>
        </p:nvSpPr>
        <p:spPr>
          <a:xfrm>
            <a:off x="533400" y="457200"/>
            <a:ext cx="11049000" cy="594836"/>
          </a:xfrm>
          <a:prstGeom prst="rect">
            <a:avLst/>
          </a:prstGeom>
        </p:spPr>
        <p:txBody>
          <a:bodyPr vert="horz" lIns="0" tIns="0" rIns="0" bIns="0" rtlCol="0" anchor="b">
            <a:noAutofit/>
          </a:bodyPr>
          <a:lstStyle/>
          <a:p>
            <a:r>
              <a:rPr lang="en-US"/>
              <a:t>Title</a:t>
            </a:r>
          </a:p>
        </p:txBody>
      </p:sp>
      <p:sp>
        <p:nvSpPr>
          <p:cNvPr id="7" name="Text Placeholder 2">
            <a:extLst>
              <a:ext uri="{FF2B5EF4-FFF2-40B4-BE49-F238E27FC236}">
                <a16:creationId xmlns:a16="http://schemas.microsoft.com/office/drawing/2014/main" id="{50108A3C-FBB1-1A41-B527-86FCE45066B5}"/>
              </a:ext>
            </a:extLst>
          </p:cNvPr>
          <p:cNvSpPr>
            <a:spLocks noGrp="1"/>
          </p:cNvSpPr>
          <p:nvPr>
            <p:ph idx="1" hasCustomPrompt="1"/>
          </p:nvPr>
        </p:nvSpPr>
        <p:spPr>
          <a:xfrm>
            <a:off x="533400" y="1371600"/>
            <a:ext cx="11049000" cy="4343400"/>
          </a:xfrm>
          <a:prstGeom prst="rect">
            <a:avLst/>
          </a:prstGeom>
        </p:spPr>
        <p:txBody>
          <a:bodyPr vert="horz" lIns="0" tIns="0" rIns="0" bIns="0" rtlCol="0">
            <a:normAutofit/>
          </a:bodyPr>
          <a:lstStyle>
            <a:lvl1pPr marL="0" indent="0">
              <a:buNone/>
              <a:defRPr/>
            </a:lvl1pPr>
            <a:lvl2pPr marL="457200" indent="0">
              <a:buNone/>
              <a:defRPr/>
            </a:lvl2pPr>
            <a:lvl3pPr marL="914400" indent="0">
              <a:buNone/>
              <a:defRPr/>
            </a:lvl3pPr>
            <a:lvl4pPr marL="1371600" indent="0">
              <a:buNone/>
              <a:defRPr/>
            </a:lvl4pPr>
            <a:lvl5pPr marL="1828800" indent="0">
              <a:buNone/>
              <a:defRPr/>
            </a:lvl5pPr>
            <a:lvl6pPr marL="2286000" indent="0">
              <a:buNone/>
              <a:defRPr/>
            </a:lvl6pPr>
            <a:lvl7pPr marL="2743200" indent="0">
              <a:buNone/>
              <a:defRPr/>
            </a:lvl7pPr>
            <a:lvl8pPr marL="3200400" indent="0">
              <a:buNone/>
              <a:defRPr/>
            </a:lvl8pPr>
            <a:lvl9pPr marL="3657600" indent="0">
              <a:buNone/>
              <a:defRPr/>
            </a:lvl9pPr>
          </a:lstStyle>
          <a:p>
            <a:pPr lvl="0"/>
            <a:r>
              <a:rPr lang="en-US"/>
              <a:t>Text</a:t>
            </a:r>
          </a:p>
        </p:txBody>
      </p:sp>
    </p:spTree>
    <p:custDataLst>
      <p:tags r:id="rId1"/>
    </p:custDataLst>
    <p:extLst>
      <p:ext uri="{BB962C8B-B14F-4D97-AF65-F5344CB8AC3E}">
        <p14:creationId xmlns:p14="http://schemas.microsoft.com/office/powerpoint/2010/main" val="1191966714"/>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 Id="rId13" Type="http://schemas.openxmlformats.org/officeDocument/2006/relationships/tags" Target="../tags/tag2.xml"/><Relationship Id="rId14" Type="http://schemas.openxmlformats.org/officeDocument/2006/relationships/image" Target="../media/image1.jpeg"/></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slideLayout" Target="../slideLayouts/slideLayout13.xml"/><Relationship Id="rId3" Type="http://schemas.openxmlformats.org/officeDocument/2006/relationships/slideLayout" Target="../slideLayouts/slideLayout14.xml"/><Relationship Id="rId4" Type="http://schemas.openxmlformats.org/officeDocument/2006/relationships/slideLayout" Target="../slideLayouts/slideLayout15.xml"/><Relationship Id="rId5" Type="http://schemas.openxmlformats.org/officeDocument/2006/relationships/slideLayout" Target="../slideLayouts/slideLayout16.xml"/><Relationship Id="rId6" Type="http://schemas.openxmlformats.org/officeDocument/2006/relationships/slideLayout" Target="../slideLayouts/slideLayout17.xml"/><Relationship Id="rId7" Type="http://schemas.openxmlformats.org/officeDocument/2006/relationships/slideLayout" Target="../slideLayouts/slideLayout18.xml"/><Relationship Id="rId8" Type="http://schemas.openxmlformats.org/officeDocument/2006/relationships/slideLayout" Target="../slideLayouts/slideLayout19.xml"/><Relationship Id="rId9" Type="http://schemas.openxmlformats.org/officeDocument/2006/relationships/slideLayout" Target="../slideLayouts/slideLayout20.xml"/><Relationship Id="rId10" Type="http://schemas.openxmlformats.org/officeDocument/2006/relationships/slideLayout" Target="../slideLayouts/slideLayout21.xml"/><Relationship Id="rId11" Type="http://schemas.openxmlformats.org/officeDocument/2006/relationships/slideLayout" Target="../slideLayouts/slideLayout22.xml"/><Relationship Id="rId12" Type="http://schemas.openxmlformats.org/officeDocument/2006/relationships/theme" Target="../theme/theme2.xml"/><Relationship Id="rId13" Type="http://schemas.openxmlformats.org/officeDocument/2006/relationships/tags" Target="../tags/tag8.xml"/><Relationship Id="rId14" Type="http://schemas.openxmlformats.org/officeDocument/2006/relationships/image" Target="../media/image10.jpeg"/></Relationships>
</file>

<file path=ppt/slideMasters/_rels/slideMaster3.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slideLayout" Target="../slideLayouts/slideLayout24.xml"/><Relationship Id="rId3" Type="http://schemas.openxmlformats.org/officeDocument/2006/relationships/slideLayout" Target="../slideLayouts/slideLayout25.xml"/><Relationship Id="rId4" Type="http://schemas.openxmlformats.org/officeDocument/2006/relationships/slideLayout" Target="../slideLayouts/slideLayout26.xml"/><Relationship Id="rId5" Type="http://schemas.openxmlformats.org/officeDocument/2006/relationships/slideLayout" Target="../slideLayouts/slideLayout27.xml"/><Relationship Id="rId6" Type="http://schemas.openxmlformats.org/officeDocument/2006/relationships/slideLayout" Target="../slideLayouts/slideLayout28.xml"/><Relationship Id="rId7" Type="http://schemas.openxmlformats.org/officeDocument/2006/relationships/slideLayout" Target="../slideLayouts/slideLayout29.xml"/><Relationship Id="rId8" Type="http://schemas.openxmlformats.org/officeDocument/2006/relationships/slideLayout" Target="../slideLayouts/slideLayout30.xml"/><Relationship Id="rId9" Type="http://schemas.openxmlformats.org/officeDocument/2006/relationships/slideLayout" Target="../slideLayouts/slideLayout31.xml"/><Relationship Id="rId10" Type="http://schemas.openxmlformats.org/officeDocument/2006/relationships/slideLayout" Target="../slideLayouts/slideLayout32.xml"/><Relationship Id="rId11" Type="http://schemas.openxmlformats.org/officeDocument/2006/relationships/slideLayout" Target="../slideLayouts/slideLayout33.xml"/><Relationship Id="rId12" Type="http://schemas.openxmlformats.org/officeDocument/2006/relationships/theme" Target="../theme/theme3.xml"/><Relationship Id="rId13" Type="http://schemas.openxmlformats.org/officeDocument/2006/relationships/image" Target="../media/image19.jpeg"/></Relationships>
</file>

<file path=ppt/slideMasters/_rels/slideMaster4.xml.rels><?xml version='1.0' encoding='UTF-8' standalone='yes'?>
<Relationships xmlns="http://schemas.openxmlformats.org/package/2006/relationships"><Relationship Id="rId1" Type="http://schemas.openxmlformats.org/officeDocument/2006/relationships/slideLayout" Target="../slideLayouts/slideLayout34.xml"/><Relationship Id="rId2" Type="http://schemas.openxmlformats.org/officeDocument/2006/relationships/slideLayout" Target="../slideLayouts/slideLayout35.xml"/><Relationship Id="rId3" Type="http://schemas.openxmlformats.org/officeDocument/2006/relationships/slideLayout" Target="../slideLayouts/slideLayout36.xml"/><Relationship Id="rId4" Type="http://schemas.openxmlformats.org/officeDocument/2006/relationships/slideLayout" Target="../slideLayouts/slideLayout37.xml"/><Relationship Id="rId5" Type="http://schemas.openxmlformats.org/officeDocument/2006/relationships/slideLayout" Target="../slideLayouts/slideLayout38.xml"/><Relationship Id="rId6" Type="http://schemas.openxmlformats.org/officeDocument/2006/relationships/slideLayout" Target="../slideLayouts/slideLayout39.xml"/><Relationship Id="rId7" Type="http://schemas.openxmlformats.org/officeDocument/2006/relationships/slideLayout" Target="../slideLayouts/slideLayout40.xml"/><Relationship Id="rId8" Type="http://schemas.openxmlformats.org/officeDocument/2006/relationships/theme" Target="../theme/theme4.xml"/><Relationship Id="rId9" Type="http://schemas.openxmlformats.org/officeDocument/2006/relationships/image" Target="../media/image28.jpeg"/></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blipFill dpi="0" rotWithShape="1">
          <a:blip r:embed="rId14">
            <a:lum/>
          </a:blip>
          <a:srcRect/>
          <a:stretch>
            <a:fillRect/>
          </a:stretch>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533400" y="457200"/>
            <a:ext cx="11049000" cy="594836"/>
          </a:xfrm>
          <a:prstGeom prst="rect">
            <a:avLst/>
          </a:prstGeom>
        </p:spPr>
        <p:txBody>
          <a:bodyPr vert="horz" lIns="0" tIns="0" rIns="0" bIns="0" rtlCol="0" anchor="b">
            <a:noAutofit/>
          </a:bodyPr>
          <a:lstStyle/>
          <a:p>
            <a:r>
              <a:rPr lang="en-US"/>
              <a:t>Click to edit Master title style</a:t>
            </a:r>
          </a:p>
        </p:txBody>
      </p:sp>
      <p:sp>
        <p:nvSpPr>
          <p:cNvPr id="3" name="Text Placeholder 2"/>
          <p:cNvSpPr>
            <a:spLocks noGrp="1"/>
          </p:cNvSpPr>
          <p:nvPr>
            <p:ph type="body" idx="1"/>
          </p:nvPr>
        </p:nvSpPr>
        <p:spPr>
          <a:xfrm>
            <a:off x="533400" y="1371600"/>
            <a:ext cx="11049000" cy="5029200"/>
          </a:xfrm>
          <a:prstGeom prst="rect">
            <a:avLst/>
          </a:prstGeom>
        </p:spPr>
        <p:txBody>
          <a:bodyPr vert="horz" lIns="0" tIns="0" rIns="0" bIns="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5" name="Footer Placeholder 4"/>
          <p:cNvSpPr>
            <a:spLocks noGrp="1"/>
          </p:cNvSpPr>
          <p:nvPr>
            <p:ph type="ftr" sz="quarter" idx="3"/>
          </p:nvPr>
        </p:nvSpPr>
        <p:spPr>
          <a:xfrm>
            <a:off x="3200400" y="6629400"/>
            <a:ext cx="8839200" cy="228600"/>
          </a:xfrm>
          <a:prstGeom prst="rect">
            <a:avLst/>
          </a:prstGeom>
        </p:spPr>
        <p:txBody>
          <a:bodyPr vert="horz" lIns="0" tIns="0" rIns="0" bIns="0" rtlCol="0" anchor="t"/>
          <a:lstStyle>
            <a:lvl1pPr algn="r">
              <a:defRPr sz="800">
                <a:solidFill>
                  <a:schemeClr val="tx1"/>
                </a:solidFill>
              </a:defRPr>
            </a:lvl1pPr>
          </a:lstStyle>
          <a:p>
            <a:r>
              <a:rPr lang="en-US"/>
              <a:t>© 2022 University of Phoenix</a:t>
            </a:r>
          </a:p>
        </p:txBody>
      </p:sp>
      <p:sp>
        <p:nvSpPr>
          <p:cNvPr id="11" name="TextBox 10"/>
          <p:cNvSpPr txBox="1"/>
          <p:nvPr/>
        </p:nvSpPr>
        <p:spPr>
          <a:xfrm>
            <a:off x="1625600" y="6553200"/>
            <a:ext cx="184731" cy="369332"/>
          </a:xfrm>
          <a:prstGeom prst="rect">
            <a:avLst/>
          </a:prstGeom>
          <a:noFill/>
        </p:spPr>
        <p:txBody>
          <a:bodyPr wrap="none" rtlCol="0">
            <a:spAutoFit/>
          </a:bodyPr>
          <a:lstStyle/>
          <a:p>
            <a:endParaRPr lang="en-US" sz="1800"/>
          </a:p>
        </p:txBody>
      </p:sp>
    </p:spTree>
    <p:custDataLst>
      <p:tags r:id="rId13"/>
    </p:custDataLst>
  </p:cSld>
  <p:clrMap bg1="lt1" tx1="dk1" bg2="lt2" tx2="dk2" accent1="accent1" accent2="accent2" accent3="accent3" accent4="accent4" accent5="accent5" accent6="accent6" hlink="hlink" folHlink="folHlink"/>
  <p:sldLayoutIdLst>
    <p:sldLayoutId id="2147483717" r:id="rId1"/>
    <p:sldLayoutId id="2147483746" r:id="rId2"/>
    <p:sldLayoutId id="2147483737" r:id="rId3"/>
    <p:sldLayoutId id="2147483774" r:id="rId4"/>
    <p:sldLayoutId id="2147483741" r:id="rId5"/>
    <p:sldLayoutId id="2147483720" r:id="rId6"/>
    <p:sldLayoutId id="2147483743" r:id="rId7"/>
    <p:sldLayoutId id="2147483775" r:id="rId8"/>
    <p:sldLayoutId id="2147483776" r:id="rId9"/>
    <p:sldLayoutId id="2147483777" r:id="rId10"/>
    <p:sldLayoutId id="2147483745" r:id="rId11"/>
  </p:sldLayoutIdLst>
  <p:hf hdr="0"/>
  <p:txStyles>
    <p:titleStyle>
      <a:lvl1pPr algn="l" defTabSz="914400" rtl="0" eaLnBrk="1" latinLnBrk="0" hangingPunct="1">
        <a:spcBef>
          <a:spcPct val="0"/>
        </a:spcBef>
        <a:buNone/>
        <a:defRPr sz="3600" b="1" kern="1200">
          <a:solidFill>
            <a:schemeClr val="tx1"/>
          </a:solidFill>
          <a:latin typeface="+mj-lt"/>
          <a:ea typeface="+mj-ea"/>
          <a:cs typeface="+mj-cs"/>
        </a:defRPr>
      </a:lvl1pPr>
    </p:titleStyle>
    <p:bodyStyle>
      <a:lvl1pPr marL="342900" indent="-342900" algn="l" defTabSz="914400" rtl="0" eaLnBrk="1" latinLnBrk="0" hangingPunct="1">
        <a:spcBef>
          <a:spcPts val="600"/>
        </a:spcBef>
        <a:spcAft>
          <a:spcPts val="600"/>
        </a:spcAft>
        <a:buFont typeface="Arial" pitchFamily="34" charset="0"/>
        <a:buChar char="•"/>
        <a:defRPr sz="2400" b="1" kern="1200">
          <a:solidFill>
            <a:schemeClr val="tx1"/>
          </a:solidFill>
          <a:latin typeface="+mn-lt"/>
          <a:ea typeface="+mn-ea"/>
          <a:cs typeface="+mn-cs"/>
        </a:defRPr>
      </a:lvl1pPr>
      <a:lvl2pPr marL="742950" indent="-285750" algn="l" defTabSz="914400" rtl="0" eaLnBrk="1" latinLnBrk="0" hangingPunct="1">
        <a:spcBef>
          <a:spcPts val="600"/>
        </a:spcBef>
        <a:spcAft>
          <a:spcPts val="600"/>
        </a:spcAft>
        <a:buFont typeface="Arial"/>
        <a:buChar char="•"/>
        <a:defRPr sz="2000" kern="1200">
          <a:solidFill>
            <a:schemeClr val="tx1"/>
          </a:solidFill>
          <a:latin typeface="+mn-lt"/>
          <a:ea typeface="+mn-ea"/>
          <a:cs typeface="+mn-cs"/>
        </a:defRPr>
      </a:lvl2pPr>
      <a:lvl3pPr marL="1143000" indent="-228600" algn="l" defTabSz="914400" rtl="0" eaLnBrk="1" latinLnBrk="0" hangingPunct="1">
        <a:spcBef>
          <a:spcPts val="600"/>
        </a:spcBef>
        <a:spcAft>
          <a:spcPts val="600"/>
        </a:spcAft>
        <a:buFont typeface="Wingdings" charset="2"/>
        <a:buChar char="§"/>
        <a:defRPr sz="1800" kern="1200">
          <a:solidFill>
            <a:schemeClr val="tx1"/>
          </a:solidFill>
          <a:latin typeface="+mn-lt"/>
          <a:ea typeface="+mn-ea"/>
          <a:cs typeface="+mn-cs"/>
        </a:defRPr>
      </a:lvl3pPr>
      <a:lvl4pPr marL="1600200" indent="-228600" algn="l" defTabSz="914400" rtl="0" eaLnBrk="1" latinLnBrk="0" hangingPunct="1">
        <a:spcBef>
          <a:spcPts val="600"/>
        </a:spcBef>
        <a:spcAft>
          <a:spcPts val="600"/>
        </a:spcAft>
        <a:buFont typeface="Arial"/>
        <a:buChar char="•"/>
        <a:defRPr sz="1600" kern="1200">
          <a:solidFill>
            <a:schemeClr val="tx1"/>
          </a:solidFill>
          <a:latin typeface="+mn-lt"/>
          <a:ea typeface="+mn-ea"/>
          <a:cs typeface="+mn-cs"/>
        </a:defRPr>
      </a:lvl4pPr>
      <a:lvl5pPr marL="2057400" indent="-228600" algn="l" defTabSz="914400" rtl="0" eaLnBrk="1" latinLnBrk="0" hangingPunct="1">
        <a:spcBef>
          <a:spcPts val="600"/>
        </a:spcBef>
        <a:spcAft>
          <a:spcPts val="600"/>
        </a:spcAft>
        <a:buFont typeface="Wingdings" charset="2"/>
        <a:buChar char="§"/>
        <a:defRPr sz="1600" kern="1200">
          <a:solidFill>
            <a:schemeClr val="tx1"/>
          </a:solidFill>
          <a:latin typeface="+mn-lt"/>
          <a:ea typeface="+mn-ea"/>
          <a:cs typeface="+mn-cs"/>
        </a:defRPr>
      </a:lvl5pPr>
      <a:lvl6pPr marL="2514600" indent="-228600" algn="l" defTabSz="914400" rtl="0" eaLnBrk="1" latinLnBrk="0" hangingPunct="1">
        <a:spcBef>
          <a:spcPts val="600"/>
        </a:spcBef>
        <a:spcAft>
          <a:spcPts val="600"/>
        </a:spcAft>
        <a:buFont typeface="Arial"/>
        <a:buChar char="•"/>
        <a:defRPr sz="1600" kern="1200">
          <a:solidFill>
            <a:schemeClr val="tx1"/>
          </a:solidFill>
          <a:latin typeface="+mn-lt"/>
          <a:ea typeface="+mn-ea"/>
          <a:cs typeface="+mn-cs"/>
        </a:defRPr>
      </a:lvl6pPr>
      <a:lvl7pPr marL="2971800" indent="-228600" algn="l" defTabSz="914400" rtl="0" eaLnBrk="1" latinLnBrk="0" hangingPunct="1">
        <a:spcBef>
          <a:spcPts val="600"/>
        </a:spcBef>
        <a:spcAft>
          <a:spcPts val="600"/>
        </a:spcAft>
        <a:buFont typeface="Wingdings" charset="2"/>
        <a:buChar char="§"/>
        <a:defRPr sz="1600" kern="1200" baseline="0">
          <a:solidFill>
            <a:schemeClr val="tx1"/>
          </a:solidFill>
          <a:latin typeface="+mn-lt"/>
          <a:ea typeface="+mn-ea"/>
          <a:cs typeface="+mn-cs"/>
        </a:defRPr>
      </a:lvl7pPr>
      <a:lvl8pPr marL="3429000" indent="-228600" algn="l" defTabSz="914400" rtl="0" eaLnBrk="1" latinLnBrk="0" hangingPunct="1">
        <a:spcBef>
          <a:spcPts val="600"/>
        </a:spcBef>
        <a:spcAft>
          <a:spcPts val="600"/>
        </a:spcAft>
        <a:buFont typeface="Arial"/>
        <a:buChar char="•"/>
        <a:defRPr sz="1600" kern="1200" baseline="0">
          <a:solidFill>
            <a:schemeClr val="tx1"/>
          </a:solidFill>
          <a:latin typeface="+mn-lt"/>
          <a:ea typeface="+mn-ea"/>
          <a:cs typeface="+mn-cs"/>
        </a:defRPr>
      </a:lvl8pPr>
      <a:lvl9pPr marL="3886200" indent="-228600" algn="l" defTabSz="914400" rtl="0" eaLnBrk="1" latinLnBrk="0" hangingPunct="1">
        <a:spcBef>
          <a:spcPts val="600"/>
        </a:spcBef>
        <a:spcAft>
          <a:spcPts val="600"/>
        </a:spcAft>
        <a:buFont typeface="Wingdings" charset="2"/>
        <a:buChar char="§"/>
        <a:defRPr sz="1600" kern="1200" baseline="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blipFill dpi="0" rotWithShape="1">
          <a:blip r:embed="rId14">
            <a:lum/>
          </a:blip>
          <a:srcRect/>
          <a:stretch>
            <a:fillRect/>
          </a:stretch>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533400" y="457200"/>
            <a:ext cx="11049000" cy="594836"/>
          </a:xfrm>
          <a:prstGeom prst="rect">
            <a:avLst/>
          </a:prstGeom>
        </p:spPr>
        <p:txBody>
          <a:bodyPr vert="horz" lIns="0" tIns="0" rIns="0" bIns="0" rtlCol="0" anchor="b">
            <a:noAutofit/>
          </a:bodyPr>
          <a:lstStyle/>
          <a:p>
            <a:r>
              <a:rPr lang="en-US"/>
              <a:t>Click to edit Master title style</a:t>
            </a:r>
          </a:p>
        </p:txBody>
      </p:sp>
      <p:sp>
        <p:nvSpPr>
          <p:cNvPr id="3" name="Text Placeholder 2"/>
          <p:cNvSpPr>
            <a:spLocks noGrp="1"/>
          </p:cNvSpPr>
          <p:nvPr>
            <p:ph type="body" idx="1"/>
          </p:nvPr>
        </p:nvSpPr>
        <p:spPr>
          <a:xfrm>
            <a:off x="533400" y="1371600"/>
            <a:ext cx="11049000" cy="5029200"/>
          </a:xfrm>
          <a:prstGeom prst="rect">
            <a:avLst/>
          </a:prstGeom>
        </p:spPr>
        <p:txBody>
          <a:bodyPr vert="horz" lIns="0" tIns="0" rIns="0" bIns="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5" name="Footer Placeholder 4"/>
          <p:cNvSpPr>
            <a:spLocks noGrp="1"/>
          </p:cNvSpPr>
          <p:nvPr>
            <p:ph type="ftr" sz="quarter" idx="3"/>
          </p:nvPr>
        </p:nvSpPr>
        <p:spPr>
          <a:xfrm>
            <a:off x="3200400" y="6629400"/>
            <a:ext cx="8839200" cy="228600"/>
          </a:xfrm>
          <a:prstGeom prst="rect">
            <a:avLst/>
          </a:prstGeom>
        </p:spPr>
        <p:txBody>
          <a:bodyPr vert="horz" lIns="0" tIns="0" rIns="0" bIns="0" rtlCol="0" anchor="t"/>
          <a:lstStyle>
            <a:lvl1pPr algn="r">
              <a:defRPr sz="800">
                <a:solidFill>
                  <a:schemeClr val="tx1"/>
                </a:solidFill>
              </a:defRPr>
            </a:lvl1pPr>
          </a:lstStyle>
          <a:p>
            <a:r>
              <a:rPr lang="en-US"/>
              <a:t>© 2022 University of Phoenix</a:t>
            </a:r>
          </a:p>
        </p:txBody>
      </p:sp>
      <p:sp>
        <p:nvSpPr>
          <p:cNvPr id="11" name="TextBox 10"/>
          <p:cNvSpPr txBox="1"/>
          <p:nvPr/>
        </p:nvSpPr>
        <p:spPr>
          <a:xfrm>
            <a:off x="1625600" y="6553200"/>
            <a:ext cx="184731" cy="369332"/>
          </a:xfrm>
          <a:prstGeom prst="rect">
            <a:avLst/>
          </a:prstGeom>
          <a:noFill/>
        </p:spPr>
        <p:txBody>
          <a:bodyPr wrap="none" rtlCol="0">
            <a:spAutoFit/>
          </a:bodyPr>
          <a:lstStyle/>
          <a:p>
            <a:endParaRPr lang="en-US" sz="1800"/>
          </a:p>
        </p:txBody>
      </p:sp>
    </p:spTree>
    <p:custDataLst>
      <p:tags r:id="rId13"/>
    </p:custDataLst>
    <p:extLst>
      <p:ext uri="{BB962C8B-B14F-4D97-AF65-F5344CB8AC3E}">
        <p14:creationId xmlns:p14="http://schemas.microsoft.com/office/powerpoint/2010/main" val="3028079309"/>
      </p:ext>
    </p:extLst>
  </p:cSld>
  <p:clrMap bg1="lt1" tx1="dk1" bg2="lt2" tx2="dk2" accent1="accent1" accent2="accent2" accent3="accent3" accent4="accent4" accent5="accent5" accent6="accent6" hlink="hlink" folHlink="folHlink"/>
  <p:sldLayoutIdLst>
    <p:sldLayoutId id="2147483748" r:id="rId1"/>
    <p:sldLayoutId id="2147483749" r:id="rId2"/>
    <p:sldLayoutId id="2147483750" r:id="rId3"/>
    <p:sldLayoutId id="2147483773" r:id="rId4"/>
    <p:sldLayoutId id="2147483754" r:id="rId5"/>
    <p:sldLayoutId id="2147483751" r:id="rId6"/>
    <p:sldLayoutId id="2147483752" r:id="rId7"/>
    <p:sldLayoutId id="2147483778" r:id="rId8"/>
    <p:sldLayoutId id="2147483779" r:id="rId9"/>
    <p:sldLayoutId id="2147483780" r:id="rId10"/>
    <p:sldLayoutId id="2147483753" r:id="rId11"/>
  </p:sldLayoutIdLst>
  <p:hf hdr="0"/>
  <p:txStyles>
    <p:titleStyle>
      <a:lvl1pPr algn="l" defTabSz="914400" rtl="0" eaLnBrk="1" latinLnBrk="0" hangingPunct="1">
        <a:spcBef>
          <a:spcPct val="0"/>
        </a:spcBef>
        <a:buNone/>
        <a:defRPr sz="3600" b="1" kern="1200">
          <a:solidFill>
            <a:schemeClr val="tx1"/>
          </a:solidFill>
          <a:latin typeface="+mj-lt"/>
          <a:ea typeface="+mj-ea"/>
          <a:cs typeface="+mj-cs"/>
        </a:defRPr>
      </a:lvl1pPr>
    </p:titleStyle>
    <p:bodyStyle>
      <a:lvl1pPr marL="342900" indent="-342900" algn="l" defTabSz="914400" rtl="0" eaLnBrk="1" latinLnBrk="0" hangingPunct="1">
        <a:spcBef>
          <a:spcPts val="600"/>
        </a:spcBef>
        <a:spcAft>
          <a:spcPts val="600"/>
        </a:spcAft>
        <a:buFont typeface="Arial" pitchFamily="34" charset="0"/>
        <a:buChar char="•"/>
        <a:defRPr sz="2400" b="1" kern="1200">
          <a:solidFill>
            <a:schemeClr val="tx1"/>
          </a:solidFill>
          <a:latin typeface="+mn-lt"/>
          <a:ea typeface="+mn-ea"/>
          <a:cs typeface="+mn-cs"/>
        </a:defRPr>
      </a:lvl1pPr>
      <a:lvl2pPr marL="742950" indent="-285750" algn="l" defTabSz="914400" rtl="0" eaLnBrk="1" latinLnBrk="0" hangingPunct="1">
        <a:spcBef>
          <a:spcPts val="600"/>
        </a:spcBef>
        <a:spcAft>
          <a:spcPts val="600"/>
        </a:spcAft>
        <a:buFont typeface="Arial"/>
        <a:buChar char="•"/>
        <a:defRPr sz="2000" kern="1200">
          <a:solidFill>
            <a:schemeClr val="tx1"/>
          </a:solidFill>
          <a:latin typeface="+mn-lt"/>
          <a:ea typeface="+mn-ea"/>
          <a:cs typeface="+mn-cs"/>
        </a:defRPr>
      </a:lvl2pPr>
      <a:lvl3pPr marL="1143000" indent="-228600" algn="l" defTabSz="914400" rtl="0" eaLnBrk="1" latinLnBrk="0" hangingPunct="1">
        <a:spcBef>
          <a:spcPts val="600"/>
        </a:spcBef>
        <a:spcAft>
          <a:spcPts val="600"/>
        </a:spcAft>
        <a:buFont typeface="Wingdings" charset="2"/>
        <a:buChar char="§"/>
        <a:defRPr sz="1800" kern="1200">
          <a:solidFill>
            <a:schemeClr val="tx1"/>
          </a:solidFill>
          <a:latin typeface="+mn-lt"/>
          <a:ea typeface="+mn-ea"/>
          <a:cs typeface="+mn-cs"/>
        </a:defRPr>
      </a:lvl3pPr>
      <a:lvl4pPr marL="1600200" indent="-228600" algn="l" defTabSz="914400" rtl="0" eaLnBrk="1" latinLnBrk="0" hangingPunct="1">
        <a:spcBef>
          <a:spcPts val="600"/>
        </a:spcBef>
        <a:spcAft>
          <a:spcPts val="600"/>
        </a:spcAft>
        <a:buFont typeface="Arial"/>
        <a:buChar char="•"/>
        <a:defRPr sz="1600" kern="1200">
          <a:solidFill>
            <a:schemeClr val="tx1"/>
          </a:solidFill>
          <a:latin typeface="+mn-lt"/>
          <a:ea typeface="+mn-ea"/>
          <a:cs typeface="+mn-cs"/>
        </a:defRPr>
      </a:lvl4pPr>
      <a:lvl5pPr marL="2057400" indent="-228600" algn="l" defTabSz="914400" rtl="0" eaLnBrk="1" latinLnBrk="0" hangingPunct="1">
        <a:spcBef>
          <a:spcPts val="600"/>
        </a:spcBef>
        <a:spcAft>
          <a:spcPts val="600"/>
        </a:spcAft>
        <a:buFont typeface="Wingdings" charset="2"/>
        <a:buChar char="§"/>
        <a:defRPr sz="1600" kern="1200">
          <a:solidFill>
            <a:schemeClr val="tx1"/>
          </a:solidFill>
          <a:latin typeface="+mn-lt"/>
          <a:ea typeface="+mn-ea"/>
          <a:cs typeface="+mn-cs"/>
        </a:defRPr>
      </a:lvl5pPr>
      <a:lvl6pPr marL="2514600" indent="-228600" algn="l" defTabSz="914400" rtl="0" eaLnBrk="1" latinLnBrk="0" hangingPunct="1">
        <a:spcBef>
          <a:spcPts val="600"/>
        </a:spcBef>
        <a:spcAft>
          <a:spcPts val="600"/>
        </a:spcAft>
        <a:buFont typeface="Arial"/>
        <a:buChar char="•"/>
        <a:defRPr sz="1600" kern="1200">
          <a:solidFill>
            <a:schemeClr val="tx1"/>
          </a:solidFill>
          <a:latin typeface="+mn-lt"/>
          <a:ea typeface="+mn-ea"/>
          <a:cs typeface="+mn-cs"/>
        </a:defRPr>
      </a:lvl6pPr>
      <a:lvl7pPr marL="2971800" indent="-228600" algn="l" defTabSz="914400" rtl="0" eaLnBrk="1" latinLnBrk="0" hangingPunct="1">
        <a:spcBef>
          <a:spcPts val="600"/>
        </a:spcBef>
        <a:spcAft>
          <a:spcPts val="600"/>
        </a:spcAft>
        <a:buFont typeface="Wingdings" charset="2"/>
        <a:buChar char="§"/>
        <a:defRPr sz="1600" kern="1200" baseline="0">
          <a:solidFill>
            <a:schemeClr val="tx1"/>
          </a:solidFill>
          <a:latin typeface="+mn-lt"/>
          <a:ea typeface="+mn-ea"/>
          <a:cs typeface="+mn-cs"/>
        </a:defRPr>
      </a:lvl7pPr>
      <a:lvl8pPr marL="3429000" indent="-228600" algn="l" defTabSz="914400" rtl="0" eaLnBrk="1" latinLnBrk="0" hangingPunct="1">
        <a:spcBef>
          <a:spcPts val="600"/>
        </a:spcBef>
        <a:spcAft>
          <a:spcPts val="600"/>
        </a:spcAft>
        <a:buFont typeface="Arial"/>
        <a:buChar char="•"/>
        <a:defRPr sz="1600" kern="1200" baseline="0">
          <a:solidFill>
            <a:schemeClr val="tx1"/>
          </a:solidFill>
          <a:latin typeface="+mn-lt"/>
          <a:ea typeface="+mn-ea"/>
          <a:cs typeface="+mn-cs"/>
        </a:defRPr>
      </a:lvl8pPr>
      <a:lvl9pPr marL="3886200" indent="-228600" algn="l" defTabSz="914400" rtl="0" eaLnBrk="1" latinLnBrk="0" hangingPunct="1">
        <a:spcBef>
          <a:spcPts val="600"/>
        </a:spcBef>
        <a:spcAft>
          <a:spcPts val="600"/>
        </a:spcAft>
        <a:buFont typeface="Wingdings" charset="2"/>
        <a:buChar char="§"/>
        <a:defRPr sz="1600" kern="1200" baseline="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blipFill dpi="0" rotWithShape="1">
          <a:blip r:embed="rId13">
            <a:lum/>
          </a:blip>
          <a:srcRect/>
          <a:stretch>
            <a:fillRect/>
          </a:stretch>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533400" y="457200"/>
            <a:ext cx="11049000" cy="594836"/>
          </a:xfrm>
          <a:prstGeom prst="rect">
            <a:avLst/>
          </a:prstGeom>
        </p:spPr>
        <p:txBody>
          <a:bodyPr vert="horz" lIns="0" tIns="0" rIns="0" bIns="0" rtlCol="0" anchor="b">
            <a:noAutofit/>
          </a:bodyPr>
          <a:lstStyle/>
          <a:p>
            <a:r>
              <a:rPr lang="en-US"/>
              <a:t>Click to edit Master title style</a:t>
            </a:r>
          </a:p>
        </p:txBody>
      </p:sp>
      <p:sp>
        <p:nvSpPr>
          <p:cNvPr id="3" name="Text Placeholder 2"/>
          <p:cNvSpPr>
            <a:spLocks noGrp="1"/>
          </p:cNvSpPr>
          <p:nvPr>
            <p:ph type="body" idx="1"/>
          </p:nvPr>
        </p:nvSpPr>
        <p:spPr>
          <a:xfrm>
            <a:off x="533400" y="1371600"/>
            <a:ext cx="11049000" cy="5029200"/>
          </a:xfrm>
          <a:prstGeom prst="rect">
            <a:avLst/>
          </a:prstGeom>
        </p:spPr>
        <p:txBody>
          <a:bodyPr vert="horz" lIns="0" tIns="0" rIns="0" bIns="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5" name="Footer Placeholder 4"/>
          <p:cNvSpPr>
            <a:spLocks noGrp="1"/>
          </p:cNvSpPr>
          <p:nvPr>
            <p:ph type="ftr" sz="quarter" idx="3"/>
          </p:nvPr>
        </p:nvSpPr>
        <p:spPr>
          <a:xfrm>
            <a:off x="3200400" y="6629400"/>
            <a:ext cx="8839200" cy="228600"/>
          </a:xfrm>
          <a:prstGeom prst="rect">
            <a:avLst/>
          </a:prstGeom>
        </p:spPr>
        <p:txBody>
          <a:bodyPr vert="horz" lIns="0" tIns="0" rIns="0" bIns="0" rtlCol="0" anchor="t"/>
          <a:lstStyle>
            <a:lvl1pPr algn="r">
              <a:defRPr sz="800">
                <a:solidFill>
                  <a:schemeClr val="tx1"/>
                </a:solidFill>
              </a:defRPr>
            </a:lvl1pPr>
          </a:lstStyle>
          <a:p>
            <a:r>
              <a:rPr lang="en-US"/>
              <a:t>© 2022 University of Phoenix</a:t>
            </a:r>
          </a:p>
        </p:txBody>
      </p:sp>
      <p:sp>
        <p:nvSpPr>
          <p:cNvPr id="11" name="TextBox 10"/>
          <p:cNvSpPr txBox="1"/>
          <p:nvPr/>
        </p:nvSpPr>
        <p:spPr>
          <a:xfrm>
            <a:off x="1625600" y="6553200"/>
            <a:ext cx="184731" cy="369332"/>
          </a:xfrm>
          <a:prstGeom prst="rect">
            <a:avLst/>
          </a:prstGeom>
          <a:noFill/>
        </p:spPr>
        <p:txBody>
          <a:bodyPr wrap="none" rtlCol="0">
            <a:spAutoFit/>
          </a:bodyPr>
          <a:lstStyle/>
          <a:p>
            <a:endParaRPr lang="en-US" sz="1800"/>
          </a:p>
        </p:txBody>
      </p:sp>
    </p:spTree>
    <p:extLst>
      <p:ext uri="{BB962C8B-B14F-4D97-AF65-F5344CB8AC3E}">
        <p14:creationId xmlns:p14="http://schemas.microsoft.com/office/powerpoint/2010/main" val="2624250356"/>
      </p:ext>
    </p:extLst>
  </p:cSld>
  <p:clrMap bg1="lt1" tx1="dk1" bg2="lt2" tx2="dk2" accent1="accent1" accent2="accent2" accent3="accent3" accent4="accent4" accent5="accent5" accent6="accent6" hlink="hlink" folHlink="folHlink"/>
  <p:sldLayoutIdLst>
    <p:sldLayoutId id="2147483756" r:id="rId1"/>
    <p:sldLayoutId id="2147483757" r:id="rId2"/>
    <p:sldLayoutId id="2147483758" r:id="rId3"/>
    <p:sldLayoutId id="2147483772" r:id="rId4"/>
    <p:sldLayoutId id="2147483762" r:id="rId5"/>
    <p:sldLayoutId id="2147483759" r:id="rId6"/>
    <p:sldLayoutId id="2147483760" r:id="rId7"/>
    <p:sldLayoutId id="2147483781" r:id="rId8"/>
    <p:sldLayoutId id="2147483782" r:id="rId9"/>
    <p:sldLayoutId id="2147483783" r:id="rId10"/>
    <p:sldLayoutId id="2147483761" r:id="rId11"/>
  </p:sldLayoutIdLst>
  <p:hf hdr="0"/>
  <p:txStyles>
    <p:titleStyle>
      <a:lvl1pPr algn="l" defTabSz="914400" rtl="0" eaLnBrk="1" latinLnBrk="0" hangingPunct="1">
        <a:spcBef>
          <a:spcPct val="0"/>
        </a:spcBef>
        <a:buNone/>
        <a:defRPr sz="3600" b="1" kern="1200">
          <a:solidFill>
            <a:schemeClr val="tx1"/>
          </a:solidFill>
          <a:latin typeface="+mj-lt"/>
          <a:ea typeface="+mj-ea"/>
          <a:cs typeface="+mj-cs"/>
        </a:defRPr>
      </a:lvl1pPr>
    </p:titleStyle>
    <p:bodyStyle>
      <a:lvl1pPr marL="342900" indent="-342900" algn="l" defTabSz="914400" rtl="0" eaLnBrk="1" latinLnBrk="0" hangingPunct="1">
        <a:spcBef>
          <a:spcPts val="600"/>
        </a:spcBef>
        <a:spcAft>
          <a:spcPts val="600"/>
        </a:spcAft>
        <a:buFont typeface="Arial" pitchFamily="34" charset="0"/>
        <a:buChar char="•"/>
        <a:defRPr sz="2400" b="1" kern="1200">
          <a:solidFill>
            <a:schemeClr val="tx1"/>
          </a:solidFill>
          <a:latin typeface="+mn-lt"/>
          <a:ea typeface="+mn-ea"/>
          <a:cs typeface="+mn-cs"/>
        </a:defRPr>
      </a:lvl1pPr>
      <a:lvl2pPr marL="742950" indent="-285750" algn="l" defTabSz="914400" rtl="0" eaLnBrk="1" latinLnBrk="0" hangingPunct="1">
        <a:spcBef>
          <a:spcPts val="600"/>
        </a:spcBef>
        <a:spcAft>
          <a:spcPts val="600"/>
        </a:spcAft>
        <a:buFont typeface="Arial"/>
        <a:buChar char="•"/>
        <a:defRPr sz="2000" kern="1200">
          <a:solidFill>
            <a:schemeClr val="tx1"/>
          </a:solidFill>
          <a:latin typeface="+mn-lt"/>
          <a:ea typeface="+mn-ea"/>
          <a:cs typeface="+mn-cs"/>
        </a:defRPr>
      </a:lvl2pPr>
      <a:lvl3pPr marL="1143000" indent="-228600" algn="l" defTabSz="914400" rtl="0" eaLnBrk="1" latinLnBrk="0" hangingPunct="1">
        <a:spcBef>
          <a:spcPts val="600"/>
        </a:spcBef>
        <a:spcAft>
          <a:spcPts val="600"/>
        </a:spcAft>
        <a:buFont typeface="Wingdings" charset="2"/>
        <a:buChar char="§"/>
        <a:defRPr sz="1800" kern="1200">
          <a:solidFill>
            <a:schemeClr val="tx1"/>
          </a:solidFill>
          <a:latin typeface="+mn-lt"/>
          <a:ea typeface="+mn-ea"/>
          <a:cs typeface="+mn-cs"/>
        </a:defRPr>
      </a:lvl3pPr>
      <a:lvl4pPr marL="1600200" indent="-228600" algn="l" defTabSz="914400" rtl="0" eaLnBrk="1" latinLnBrk="0" hangingPunct="1">
        <a:spcBef>
          <a:spcPts val="600"/>
        </a:spcBef>
        <a:spcAft>
          <a:spcPts val="600"/>
        </a:spcAft>
        <a:buFont typeface="Arial"/>
        <a:buChar char="•"/>
        <a:defRPr sz="1600" kern="1200">
          <a:solidFill>
            <a:schemeClr val="tx1"/>
          </a:solidFill>
          <a:latin typeface="+mn-lt"/>
          <a:ea typeface="+mn-ea"/>
          <a:cs typeface="+mn-cs"/>
        </a:defRPr>
      </a:lvl4pPr>
      <a:lvl5pPr marL="2057400" indent="-228600" algn="l" defTabSz="914400" rtl="0" eaLnBrk="1" latinLnBrk="0" hangingPunct="1">
        <a:spcBef>
          <a:spcPts val="600"/>
        </a:spcBef>
        <a:spcAft>
          <a:spcPts val="600"/>
        </a:spcAft>
        <a:buFont typeface="Wingdings" charset="2"/>
        <a:buChar char="§"/>
        <a:defRPr sz="1600" kern="1200">
          <a:solidFill>
            <a:schemeClr val="tx1"/>
          </a:solidFill>
          <a:latin typeface="+mn-lt"/>
          <a:ea typeface="+mn-ea"/>
          <a:cs typeface="+mn-cs"/>
        </a:defRPr>
      </a:lvl5pPr>
      <a:lvl6pPr marL="2514600" indent="-228600" algn="l" defTabSz="914400" rtl="0" eaLnBrk="1" latinLnBrk="0" hangingPunct="1">
        <a:spcBef>
          <a:spcPts val="600"/>
        </a:spcBef>
        <a:spcAft>
          <a:spcPts val="600"/>
        </a:spcAft>
        <a:buFont typeface="Arial"/>
        <a:buChar char="•"/>
        <a:defRPr sz="1600" kern="1200">
          <a:solidFill>
            <a:schemeClr val="tx1"/>
          </a:solidFill>
          <a:latin typeface="+mn-lt"/>
          <a:ea typeface="+mn-ea"/>
          <a:cs typeface="+mn-cs"/>
        </a:defRPr>
      </a:lvl6pPr>
      <a:lvl7pPr marL="2971800" indent="-228600" algn="l" defTabSz="914400" rtl="0" eaLnBrk="1" latinLnBrk="0" hangingPunct="1">
        <a:spcBef>
          <a:spcPts val="600"/>
        </a:spcBef>
        <a:spcAft>
          <a:spcPts val="600"/>
        </a:spcAft>
        <a:buFont typeface="Wingdings" charset="2"/>
        <a:buChar char="§"/>
        <a:defRPr sz="1600" kern="1200" baseline="0">
          <a:solidFill>
            <a:schemeClr val="tx1"/>
          </a:solidFill>
          <a:latin typeface="+mn-lt"/>
          <a:ea typeface="+mn-ea"/>
          <a:cs typeface="+mn-cs"/>
        </a:defRPr>
      </a:lvl7pPr>
      <a:lvl8pPr marL="3429000" indent="-228600" algn="l" defTabSz="914400" rtl="0" eaLnBrk="1" latinLnBrk="0" hangingPunct="1">
        <a:spcBef>
          <a:spcPts val="600"/>
        </a:spcBef>
        <a:spcAft>
          <a:spcPts val="600"/>
        </a:spcAft>
        <a:buFont typeface="Arial"/>
        <a:buChar char="•"/>
        <a:defRPr sz="1600" kern="1200" baseline="0">
          <a:solidFill>
            <a:schemeClr val="tx1"/>
          </a:solidFill>
          <a:latin typeface="+mn-lt"/>
          <a:ea typeface="+mn-ea"/>
          <a:cs typeface="+mn-cs"/>
        </a:defRPr>
      </a:lvl8pPr>
      <a:lvl9pPr marL="3886200" indent="-228600" algn="l" defTabSz="914400" rtl="0" eaLnBrk="1" latinLnBrk="0" hangingPunct="1">
        <a:spcBef>
          <a:spcPts val="600"/>
        </a:spcBef>
        <a:spcAft>
          <a:spcPts val="600"/>
        </a:spcAft>
        <a:buFont typeface="Wingdings" charset="2"/>
        <a:buChar char="§"/>
        <a:defRPr sz="1600" kern="1200" baseline="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Pr>
        <a:blipFill dpi="0" rotWithShape="1">
          <a:blip r:embed="rId9">
            <a:lum/>
          </a:blip>
          <a:srcRect/>
          <a:stretch>
            <a:fillRect/>
          </a:stretch>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533400" y="457200"/>
            <a:ext cx="11049000" cy="594836"/>
          </a:xfrm>
          <a:prstGeom prst="rect">
            <a:avLst/>
          </a:prstGeom>
        </p:spPr>
        <p:txBody>
          <a:bodyPr vert="horz" lIns="0" tIns="0" rIns="0" bIns="0" rtlCol="0" anchor="b">
            <a:noAutofit/>
          </a:bodyPr>
          <a:lstStyle/>
          <a:p>
            <a:r>
              <a:rPr lang="en-US"/>
              <a:t>Click to edit Master title style</a:t>
            </a:r>
          </a:p>
        </p:txBody>
      </p:sp>
      <p:sp>
        <p:nvSpPr>
          <p:cNvPr id="3" name="Text Placeholder 2"/>
          <p:cNvSpPr>
            <a:spLocks noGrp="1"/>
          </p:cNvSpPr>
          <p:nvPr>
            <p:ph type="body" idx="1"/>
          </p:nvPr>
        </p:nvSpPr>
        <p:spPr>
          <a:xfrm>
            <a:off x="533400" y="1371600"/>
            <a:ext cx="11049000" cy="5029200"/>
          </a:xfrm>
          <a:prstGeom prst="rect">
            <a:avLst/>
          </a:prstGeom>
        </p:spPr>
        <p:txBody>
          <a:bodyPr vert="horz" lIns="0" tIns="0" rIns="0" bIns="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5" name="Footer Placeholder 4"/>
          <p:cNvSpPr>
            <a:spLocks noGrp="1"/>
          </p:cNvSpPr>
          <p:nvPr>
            <p:ph type="ftr" sz="quarter" idx="3"/>
          </p:nvPr>
        </p:nvSpPr>
        <p:spPr>
          <a:xfrm>
            <a:off x="3200400" y="6629400"/>
            <a:ext cx="8839200" cy="228600"/>
          </a:xfrm>
          <a:prstGeom prst="rect">
            <a:avLst/>
          </a:prstGeom>
        </p:spPr>
        <p:txBody>
          <a:bodyPr vert="horz" lIns="0" tIns="0" rIns="0" bIns="0" rtlCol="0" anchor="t"/>
          <a:lstStyle>
            <a:lvl1pPr algn="r">
              <a:defRPr sz="800">
                <a:solidFill>
                  <a:schemeClr val="tx1"/>
                </a:solidFill>
              </a:defRPr>
            </a:lvl1pPr>
          </a:lstStyle>
          <a:p>
            <a:r>
              <a:rPr lang="en-US"/>
              <a:t>© 2022 University of Phoenix</a:t>
            </a:r>
          </a:p>
        </p:txBody>
      </p:sp>
      <p:sp>
        <p:nvSpPr>
          <p:cNvPr id="11" name="TextBox 10"/>
          <p:cNvSpPr txBox="1"/>
          <p:nvPr/>
        </p:nvSpPr>
        <p:spPr>
          <a:xfrm>
            <a:off x="1625600" y="6553200"/>
            <a:ext cx="184731" cy="369332"/>
          </a:xfrm>
          <a:prstGeom prst="rect">
            <a:avLst/>
          </a:prstGeom>
          <a:noFill/>
        </p:spPr>
        <p:txBody>
          <a:bodyPr wrap="none" rtlCol="0">
            <a:spAutoFit/>
          </a:bodyPr>
          <a:lstStyle/>
          <a:p>
            <a:endParaRPr lang="en-US" sz="1800"/>
          </a:p>
        </p:txBody>
      </p:sp>
    </p:spTree>
    <p:extLst>
      <p:ext uri="{BB962C8B-B14F-4D97-AF65-F5344CB8AC3E}">
        <p14:creationId xmlns:p14="http://schemas.microsoft.com/office/powerpoint/2010/main" val="2163424909"/>
      </p:ext>
    </p:extLst>
  </p:cSld>
  <p:clrMap bg1="lt1" tx1="dk1" bg2="lt2" tx2="dk2" accent1="accent1" accent2="accent2" accent3="accent3" accent4="accent4" accent5="accent5" accent6="accent6" hlink="hlink" folHlink="folHlink"/>
  <p:sldLayoutIdLst>
    <p:sldLayoutId id="2147483764" r:id="rId1"/>
    <p:sldLayoutId id="2147483765" r:id="rId2"/>
    <p:sldLayoutId id="2147483766" r:id="rId3"/>
    <p:sldLayoutId id="2147483771" r:id="rId4"/>
    <p:sldLayoutId id="2147483770" r:id="rId5"/>
    <p:sldLayoutId id="2147483767" r:id="rId6"/>
    <p:sldLayoutId id="2147483769" r:id="rId7"/>
  </p:sldLayoutIdLst>
  <p:hf hdr="0"/>
  <p:txStyles>
    <p:titleStyle>
      <a:lvl1pPr algn="l" defTabSz="914400" rtl="0" eaLnBrk="1" latinLnBrk="0" hangingPunct="1">
        <a:spcBef>
          <a:spcPct val="0"/>
        </a:spcBef>
        <a:buNone/>
        <a:defRPr sz="3600" b="1" kern="1200">
          <a:solidFill>
            <a:schemeClr val="tx1"/>
          </a:solidFill>
          <a:latin typeface="+mj-lt"/>
          <a:ea typeface="+mj-ea"/>
          <a:cs typeface="+mj-cs"/>
        </a:defRPr>
      </a:lvl1pPr>
    </p:titleStyle>
    <p:bodyStyle>
      <a:lvl1pPr marL="342900" indent="-342900" algn="l" defTabSz="914400" rtl="0" eaLnBrk="1" latinLnBrk="0" hangingPunct="1">
        <a:spcBef>
          <a:spcPts val="600"/>
        </a:spcBef>
        <a:spcAft>
          <a:spcPts val="600"/>
        </a:spcAft>
        <a:buFont typeface="Arial" pitchFamily="34" charset="0"/>
        <a:buChar char="•"/>
        <a:defRPr sz="2400" b="1" kern="1200">
          <a:solidFill>
            <a:schemeClr val="tx1"/>
          </a:solidFill>
          <a:latin typeface="+mn-lt"/>
          <a:ea typeface="+mn-ea"/>
          <a:cs typeface="+mn-cs"/>
        </a:defRPr>
      </a:lvl1pPr>
      <a:lvl2pPr marL="742950" indent="-285750" algn="l" defTabSz="914400" rtl="0" eaLnBrk="1" latinLnBrk="0" hangingPunct="1">
        <a:spcBef>
          <a:spcPts val="600"/>
        </a:spcBef>
        <a:spcAft>
          <a:spcPts val="600"/>
        </a:spcAft>
        <a:buFont typeface="Arial"/>
        <a:buChar char="•"/>
        <a:defRPr sz="2000" kern="1200">
          <a:solidFill>
            <a:schemeClr val="tx1"/>
          </a:solidFill>
          <a:latin typeface="+mn-lt"/>
          <a:ea typeface="+mn-ea"/>
          <a:cs typeface="+mn-cs"/>
        </a:defRPr>
      </a:lvl2pPr>
      <a:lvl3pPr marL="1143000" indent="-228600" algn="l" defTabSz="914400" rtl="0" eaLnBrk="1" latinLnBrk="0" hangingPunct="1">
        <a:spcBef>
          <a:spcPts val="600"/>
        </a:spcBef>
        <a:spcAft>
          <a:spcPts val="600"/>
        </a:spcAft>
        <a:buFont typeface="Wingdings" charset="2"/>
        <a:buChar char="§"/>
        <a:defRPr sz="1800" kern="1200">
          <a:solidFill>
            <a:schemeClr val="tx1"/>
          </a:solidFill>
          <a:latin typeface="+mn-lt"/>
          <a:ea typeface="+mn-ea"/>
          <a:cs typeface="+mn-cs"/>
        </a:defRPr>
      </a:lvl3pPr>
      <a:lvl4pPr marL="1600200" indent="-228600" algn="l" defTabSz="914400" rtl="0" eaLnBrk="1" latinLnBrk="0" hangingPunct="1">
        <a:spcBef>
          <a:spcPts val="600"/>
        </a:spcBef>
        <a:spcAft>
          <a:spcPts val="600"/>
        </a:spcAft>
        <a:buFont typeface="Arial"/>
        <a:buChar char="•"/>
        <a:defRPr sz="1600" kern="1200">
          <a:solidFill>
            <a:schemeClr val="tx1"/>
          </a:solidFill>
          <a:latin typeface="+mn-lt"/>
          <a:ea typeface="+mn-ea"/>
          <a:cs typeface="+mn-cs"/>
        </a:defRPr>
      </a:lvl4pPr>
      <a:lvl5pPr marL="2057400" indent="-228600" algn="l" defTabSz="914400" rtl="0" eaLnBrk="1" latinLnBrk="0" hangingPunct="1">
        <a:spcBef>
          <a:spcPts val="600"/>
        </a:spcBef>
        <a:spcAft>
          <a:spcPts val="600"/>
        </a:spcAft>
        <a:buFont typeface="Wingdings" charset="2"/>
        <a:buChar char="§"/>
        <a:defRPr sz="1600" kern="1200">
          <a:solidFill>
            <a:schemeClr val="tx1"/>
          </a:solidFill>
          <a:latin typeface="+mn-lt"/>
          <a:ea typeface="+mn-ea"/>
          <a:cs typeface="+mn-cs"/>
        </a:defRPr>
      </a:lvl5pPr>
      <a:lvl6pPr marL="2514600" indent="-228600" algn="l" defTabSz="914400" rtl="0" eaLnBrk="1" latinLnBrk="0" hangingPunct="1">
        <a:spcBef>
          <a:spcPts val="600"/>
        </a:spcBef>
        <a:spcAft>
          <a:spcPts val="600"/>
        </a:spcAft>
        <a:buFont typeface="Arial"/>
        <a:buChar char="•"/>
        <a:defRPr sz="1600" kern="1200">
          <a:solidFill>
            <a:schemeClr val="tx1"/>
          </a:solidFill>
          <a:latin typeface="+mn-lt"/>
          <a:ea typeface="+mn-ea"/>
          <a:cs typeface="+mn-cs"/>
        </a:defRPr>
      </a:lvl6pPr>
      <a:lvl7pPr marL="2971800" indent="-228600" algn="l" defTabSz="914400" rtl="0" eaLnBrk="1" latinLnBrk="0" hangingPunct="1">
        <a:spcBef>
          <a:spcPts val="600"/>
        </a:spcBef>
        <a:spcAft>
          <a:spcPts val="600"/>
        </a:spcAft>
        <a:buFont typeface="Wingdings" charset="2"/>
        <a:buChar char="§"/>
        <a:defRPr sz="1600" kern="1200" baseline="0">
          <a:solidFill>
            <a:schemeClr val="tx1"/>
          </a:solidFill>
          <a:latin typeface="+mn-lt"/>
          <a:ea typeface="+mn-ea"/>
          <a:cs typeface="+mn-cs"/>
        </a:defRPr>
      </a:lvl7pPr>
      <a:lvl8pPr marL="3429000" indent="-228600" algn="l" defTabSz="914400" rtl="0" eaLnBrk="1" latinLnBrk="0" hangingPunct="1">
        <a:spcBef>
          <a:spcPts val="600"/>
        </a:spcBef>
        <a:spcAft>
          <a:spcPts val="600"/>
        </a:spcAft>
        <a:buFont typeface="Arial"/>
        <a:buChar char="•"/>
        <a:defRPr sz="1600" kern="1200" baseline="0">
          <a:solidFill>
            <a:schemeClr val="tx1"/>
          </a:solidFill>
          <a:latin typeface="+mn-lt"/>
          <a:ea typeface="+mn-ea"/>
          <a:cs typeface="+mn-cs"/>
        </a:defRPr>
      </a:lvl8pPr>
      <a:lvl9pPr marL="3886200" indent="-228600" algn="l" defTabSz="914400" rtl="0" eaLnBrk="1" latinLnBrk="0" hangingPunct="1">
        <a:spcBef>
          <a:spcPts val="600"/>
        </a:spcBef>
        <a:spcAft>
          <a:spcPts val="600"/>
        </a:spcAft>
        <a:buFont typeface="Wingdings" charset="2"/>
        <a:buChar char="§"/>
        <a:defRPr sz="1600" kern="1200" baseline="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tags" Target="../tags/tag27.xml"/><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2.xml.rels><?xml version='1.0' encoding='UTF-8' standalone='yes'?>
<Relationships xmlns="http://schemas.openxmlformats.org/package/2006/relationships"><Relationship Id="rId1" Type="http://schemas.openxmlformats.org/officeDocument/2006/relationships/tags" Target="../tags/tag28.xml"/><Relationship Id="rId2" Type="http://schemas.openxmlformats.org/officeDocument/2006/relationships/slideLayout" Target="../slideLayouts/slideLayout3.xml"/><Relationship Id="rId3" Type="http://schemas.openxmlformats.org/officeDocument/2006/relationships/notesSlide" Target="../notesSlides/notesSlide3.xml"/></Relationships>
</file>

<file path=ppt/slides/_rels/slide3.xml.rels><?xml version='1.0' encoding='UTF-8' standalone='yes'?>
<Relationships xmlns="http://schemas.openxmlformats.org/package/2006/relationships"><Relationship Id="rId1" Type="http://schemas.openxmlformats.org/officeDocument/2006/relationships/tags" Target="../tags/tag29.xml"/><Relationship Id="rId2" Type="http://schemas.openxmlformats.org/officeDocument/2006/relationships/slideLayout" Target="../slideLayouts/slideLayout3.xml"/><Relationship Id="rId3" Type="http://schemas.openxmlformats.org/officeDocument/2006/relationships/notesSlide" Target="../notesSlides/notesSlide4.xml"/></Relationships>
</file>

<file path=ppt/slides/_rels/slide4.xml.rels><?xml version='1.0' encoding='UTF-8' standalone='yes'?>
<Relationships xmlns="http://schemas.openxmlformats.org/package/2006/relationships"><Relationship Id="rId1" Type="http://schemas.openxmlformats.org/officeDocument/2006/relationships/tags" Target="../tags/tag29.xml"/><Relationship Id="rId2" Type="http://schemas.openxmlformats.org/officeDocument/2006/relationships/slideLayout" Target="../slideLayouts/slideLayout3.xml"/><Relationship Id="rId3" Type="http://schemas.openxmlformats.org/officeDocument/2006/relationships/chart" Target="../charts/chart1.xml"/><Relationship Id="rId4" Type="http://schemas.openxmlformats.org/officeDocument/2006/relationships/notesSlide" Target="../notesSlides/notesSlide1.xml"/></Relationships>
</file>

<file path=ppt/slides/_rels/slide5.xml.rels><?xml version='1.0' encoding='UTF-8' standalone='yes'?>
<Relationships xmlns="http://schemas.openxmlformats.org/package/2006/relationships"><Relationship Id="rId1" Type="http://schemas.openxmlformats.org/officeDocument/2006/relationships/tags" Target="../tags/tag30.xml"/><Relationship Id="rId2" Type="http://schemas.openxmlformats.org/officeDocument/2006/relationships/slideLayout" Target="../slideLayouts/slideLayout3.xml"/><Relationship Id="rId3" Type="http://schemas.openxmlformats.org/officeDocument/2006/relationships/notesSlide" Target="../notesSlides/notesSlide5.xml"/><Relationship Id="rId4" Type="http://schemas.openxmlformats.org/officeDocument/2006/relationships/chart" Target="../charts/chart2.xml"/></Relationships>
</file>

<file path=ppt/slides/_rels/slide6.xml.rels><?xml version='1.0' encoding='UTF-8' standalone='yes'?>
<Relationships xmlns="http://schemas.openxmlformats.org/package/2006/relationships"><Relationship Id="rId1" Type="http://schemas.openxmlformats.org/officeDocument/2006/relationships/tags" Target="../tags/tag30.xml"/><Relationship Id="rId2" Type="http://schemas.openxmlformats.org/officeDocument/2006/relationships/slideLayout" Target="../slideLayouts/slideLayout3.xml"/><Relationship Id="rId3" Type="http://schemas.openxmlformats.org/officeDocument/2006/relationships/notesSlide" Target="../notesSlides/notesSlide10.xml"/></Relationships>
</file>

<file path=ppt/slides/_rels/slide7.xml.rels><?xml version='1.0' encoding='UTF-8' standalone='yes'?>
<Relationships xmlns="http://schemas.openxmlformats.org/package/2006/relationships"><Relationship Id="rId1" Type="http://schemas.openxmlformats.org/officeDocument/2006/relationships/tags" Target="../tags/tag30.xml"/><Relationship Id="rId2" Type="http://schemas.openxmlformats.org/officeDocument/2006/relationships/slideLayout" Target="../slideLayouts/slideLayout3.xml"/><Relationship Id="rId3" Type="http://schemas.openxmlformats.org/officeDocument/2006/relationships/notesSlide" Target="../notesSlides/notesSlide11.xml"/></Relationships>
</file>

<file path=ppt/slides/_rels/slide8.xml.rels><?xml version='1.0' encoding='UTF-8' standalone='yes'?>
<Relationships xmlns="http://schemas.openxmlformats.org/package/2006/relationships"><Relationship Id="rId1" Type="http://schemas.openxmlformats.org/officeDocument/2006/relationships/tags" Target="../tags/tag31.xml"/><Relationship Id="rId2" Type="http://schemas.openxmlformats.org/officeDocument/2006/relationships/slideLayout" Target="../slideLayouts/slideLayout3.xml"/><Relationship Id="rId3" Type="http://schemas.openxmlformats.org/officeDocument/2006/relationships/notesSlide" Target="../notesSlides/notesSlide6.xml"/></Relationships>
</file>

<file path=ppt/slides/_rels/slide9.xml.rels><?xml version='1.0' encoding='UTF-8' standalone='yes'?>
<Relationships xmlns="http://schemas.openxmlformats.org/package/2006/relationships"><Relationship Id="rId1" Type="http://schemas.openxmlformats.org/officeDocument/2006/relationships/tags" Target="../tags/tag32.xml"/><Relationship Id="rId2" Type="http://schemas.openxmlformats.org/officeDocument/2006/relationships/slideLayout" Target="../slideLayouts/slideLayout3.xml"/><Relationship Id="rId3" Type="http://schemas.openxmlformats.org/officeDocument/2006/relationships/notesSlide" Target="../notesSlides/notesSlide7.xml"/></Relationships>
</file>

<file path=ppt/slides/_rels/slide10.xml.rels><?xml version='1.0' encoding='UTF-8' standalone='yes'?>
<Relationships xmlns="http://schemas.openxmlformats.org/package/2006/relationships"><Relationship Id="rId1" Type="http://schemas.openxmlformats.org/officeDocument/2006/relationships/tags" Target="../tags/tag33.xml"/><Relationship Id="rId2" Type="http://schemas.openxmlformats.org/officeDocument/2006/relationships/slideLayout" Target="../slideLayouts/slideLayout3.xml"/><Relationship Id="rId3" Type="http://schemas.openxmlformats.org/officeDocument/2006/relationships/notesSlide" Target="../notesSlides/notesSlide8.xml"/></Relationships>
</file>

<file path=ppt/slides/_rels/slide11.xml.rels><?xml version='1.0' encoding='UTF-8' standalone='yes'?>
<Relationships xmlns="http://schemas.openxmlformats.org/package/2006/relationships"><Relationship Id="rId1" Type="http://schemas.openxmlformats.org/officeDocument/2006/relationships/tags" Target="../tags/tag34.xml"/><Relationship Id="rId2" Type="http://schemas.openxmlformats.org/officeDocument/2006/relationships/slideLayout" Target="../slideLayouts/slideLayout4.xml"/><Relationship Id="rId3" Type="http://schemas.openxmlformats.org/officeDocument/2006/relationships/notesSlide" Target="../notesSlides/notesSlide9.xml"/><Relationship Id="rId4" Type="http://schemas.openxmlformats.org/officeDocument/2006/relationships/hyperlink" Target="https://multimedia.phoenix.edu/cms/citation" TargetMode="External"/><Relationship Id="rId5" Type="http://schemas.openxmlformats.org/officeDocument/2006/relationships/hyperlink" Target="https://doi.org/10.1037"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280021-055C-8B4D-B107-55821AB2A7FC}"/>
              </a:ext>
            </a:extLst>
          </p:cNvPr>
          <p:cNvSpPr>
            <a:spLocks noGrp="1"/>
          </p:cNvSpPr>
          <p:nvPr>
            <p:ph type="ctrTitle"/>
          </p:nvPr>
        </p:nvSpPr>
        <p:spPr>
          <a:xfrm>
            <a:off x="609599" y="1417320"/>
            <a:ext cx="10702565" cy="1600200"/>
          </a:xfrm>
        </p:spPr>
        <p:txBody>
          <a:bodyPr anchor="b">
            <a:normAutofit/>
          </a:bodyPr>
          <a:lstStyle/>
          <a:p>
            <a:r>
              <a:rPr lang="en-US" sz="3400"/>
              <a:t>Optimizing DHL Group's Organizational Structure for a Changing Workforce and Technology Landscape</a:t>
            </a:r>
          </a:p>
        </p:txBody>
      </p:sp>
      <p:sp>
        <p:nvSpPr>
          <p:cNvPr id="3" name="Subtitle 2">
            <a:extLst>
              <a:ext uri="{FF2B5EF4-FFF2-40B4-BE49-F238E27FC236}">
                <a16:creationId xmlns:a16="http://schemas.microsoft.com/office/drawing/2014/main" id="{EE97EFF7-C042-BD4D-9D74-2D5AD8924FC3}"/>
              </a:ext>
            </a:extLst>
          </p:cNvPr>
          <p:cNvSpPr>
            <a:spLocks noGrp="1"/>
          </p:cNvSpPr>
          <p:nvPr>
            <p:ph type="subTitle" idx="1"/>
          </p:nvPr>
        </p:nvSpPr>
        <p:spPr>
          <a:xfrm>
            <a:off x="609600" y="3429000"/>
            <a:ext cx="9829800" cy="712694"/>
          </a:xfrm>
        </p:spPr>
        <p:txBody>
          <a:bodyPr>
            <a:normAutofit/>
          </a:bodyPr>
          <a:lstStyle/>
          <a:p>
            <a:r>
              <a:rPr lang="en-US" sz="1700"/>
              <a:t>MGT/526: Managing in a Changing Environment</a:t>
            </a:r>
          </a:p>
          <a:p>
            <a:r>
              <a:rPr lang="en-US" sz="1700" err="1"/>
              <a:t>Wk</a:t>
            </a:r>
            <a:r>
              <a:rPr lang="en-US" sz="1700"/>
              <a:t> 6 Summative Assessment: Organizational Structure Presentation</a:t>
            </a:r>
            <a:endParaRPr lang="en-US"/>
          </a:p>
        </p:txBody>
      </p:sp>
      <p:sp>
        <p:nvSpPr>
          <p:cNvPr id="4" name="Footer Placeholder 3">
            <a:extLst>
              <a:ext uri="{FF2B5EF4-FFF2-40B4-BE49-F238E27FC236}">
                <a16:creationId xmlns:a16="http://schemas.microsoft.com/office/drawing/2014/main" id="{4F67CF19-6FD0-494D-A14F-CF5F8DE49379}"/>
              </a:ext>
            </a:extLst>
          </p:cNvPr>
          <p:cNvSpPr>
            <a:spLocks noGrp="1"/>
          </p:cNvSpPr>
          <p:nvPr>
            <p:ph type="ftr" sz="quarter" idx="3"/>
          </p:nvPr>
        </p:nvSpPr>
        <p:spPr/>
        <p:txBody>
          <a:bodyPr/>
          <a:lstStyle/>
          <a:p>
            <a:r>
              <a:rPr lang="en-US"/>
              <a:t>© 2025 University of Phoenix</a:t>
            </a:r>
          </a:p>
        </p:txBody>
      </p:sp>
      <p:sp>
        <p:nvSpPr>
          <p:cNvPr id="6" name="Subtitle 2">
            <a:extLst>
              <a:ext uri="{FF2B5EF4-FFF2-40B4-BE49-F238E27FC236}">
                <a16:creationId xmlns:a16="http://schemas.microsoft.com/office/drawing/2014/main" id="{2EA4E9C0-E803-549A-5D34-04D5D01A8E3C}"/>
              </a:ext>
            </a:extLst>
          </p:cNvPr>
          <p:cNvSpPr txBox="1">
            <a:spLocks/>
          </p:cNvSpPr>
          <p:nvPr/>
        </p:nvSpPr>
        <p:spPr>
          <a:xfrm>
            <a:off x="609600" y="4694548"/>
            <a:ext cx="5486400" cy="1611984"/>
          </a:xfrm>
          <a:prstGeom prst="rect">
            <a:avLst/>
          </a:prstGeom>
        </p:spPr>
        <p:txBody>
          <a:bodyPr vert="horz" lIns="0" tIns="0" rIns="0" bIns="0" rtlCol="0">
            <a:normAutofit/>
          </a:bodyPr>
          <a:lstStyle>
            <a:lvl1pPr marL="0" indent="0" algn="l" defTabSz="914400" rtl="0" eaLnBrk="1" latinLnBrk="0" hangingPunct="1">
              <a:spcBef>
                <a:spcPts val="600"/>
              </a:spcBef>
              <a:spcAft>
                <a:spcPts val="600"/>
              </a:spcAft>
              <a:buFont typeface="Arial" pitchFamily="34" charset="0"/>
              <a:buNone/>
              <a:defRPr sz="2000" b="1" kern="1200" baseline="0">
                <a:solidFill>
                  <a:schemeClr val="bg1"/>
                </a:solidFill>
                <a:latin typeface="+mn-lt"/>
                <a:ea typeface="+mn-ea"/>
                <a:cs typeface="+mn-cs"/>
              </a:defRPr>
            </a:lvl1pPr>
            <a:lvl2pPr marL="457200" indent="0" algn="ctr" defTabSz="914400" rtl="0" eaLnBrk="1" latinLnBrk="0" hangingPunct="1">
              <a:spcBef>
                <a:spcPts val="600"/>
              </a:spcBef>
              <a:spcAft>
                <a:spcPts val="600"/>
              </a:spcAft>
              <a:buFont typeface="Arial"/>
              <a:buNone/>
              <a:defRPr sz="2000" kern="1200">
                <a:solidFill>
                  <a:schemeClr val="tx1">
                    <a:tint val="75000"/>
                  </a:schemeClr>
                </a:solidFill>
                <a:latin typeface="+mn-lt"/>
                <a:ea typeface="+mn-ea"/>
                <a:cs typeface="+mn-cs"/>
              </a:defRPr>
            </a:lvl2pPr>
            <a:lvl3pPr marL="914400" indent="0" algn="ctr" defTabSz="914400" rtl="0" eaLnBrk="1" latinLnBrk="0" hangingPunct="1">
              <a:spcBef>
                <a:spcPts val="600"/>
              </a:spcBef>
              <a:spcAft>
                <a:spcPts val="600"/>
              </a:spcAft>
              <a:buFont typeface="Wingdings" charset="2"/>
              <a:buNone/>
              <a:defRPr sz="1800" kern="1200">
                <a:solidFill>
                  <a:schemeClr val="tx1">
                    <a:tint val="75000"/>
                  </a:schemeClr>
                </a:solidFill>
                <a:latin typeface="+mn-lt"/>
                <a:ea typeface="+mn-ea"/>
                <a:cs typeface="+mn-cs"/>
              </a:defRPr>
            </a:lvl3pPr>
            <a:lvl4pPr marL="1371600" indent="0" algn="ctr" defTabSz="914400" rtl="0" eaLnBrk="1" latinLnBrk="0" hangingPunct="1">
              <a:spcBef>
                <a:spcPts val="600"/>
              </a:spcBef>
              <a:spcAft>
                <a:spcPts val="600"/>
              </a:spcAft>
              <a:buFont typeface="Arial"/>
              <a:buNone/>
              <a:defRPr sz="1600" kern="1200">
                <a:solidFill>
                  <a:schemeClr val="tx1">
                    <a:tint val="75000"/>
                  </a:schemeClr>
                </a:solidFill>
                <a:latin typeface="+mn-lt"/>
                <a:ea typeface="+mn-ea"/>
                <a:cs typeface="+mn-cs"/>
              </a:defRPr>
            </a:lvl4pPr>
            <a:lvl5pPr marL="1828800" indent="0" algn="ctr" defTabSz="914400" rtl="0" eaLnBrk="1" latinLnBrk="0" hangingPunct="1">
              <a:spcBef>
                <a:spcPts val="600"/>
              </a:spcBef>
              <a:spcAft>
                <a:spcPts val="600"/>
              </a:spcAft>
              <a:buFont typeface="Wingdings" charset="2"/>
              <a:buNone/>
              <a:defRPr sz="1600" kern="1200">
                <a:solidFill>
                  <a:schemeClr val="tx1">
                    <a:tint val="75000"/>
                  </a:schemeClr>
                </a:solidFill>
                <a:latin typeface="+mn-lt"/>
                <a:ea typeface="+mn-ea"/>
                <a:cs typeface="+mn-cs"/>
              </a:defRPr>
            </a:lvl5pPr>
            <a:lvl6pPr marL="2286000" indent="0" algn="ctr" defTabSz="914400" rtl="0" eaLnBrk="1" latinLnBrk="0" hangingPunct="1">
              <a:spcBef>
                <a:spcPts val="600"/>
              </a:spcBef>
              <a:spcAft>
                <a:spcPts val="600"/>
              </a:spcAft>
              <a:buFont typeface="Arial"/>
              <a:buNone/>
              <a:defRPr sz="1600" kern="1200">
                <a:solidFill>
                  <a:schemeClr val="tx1">
                    <a:tint val="75000"/>
                  </a:schemeClr>
                </a:solidFill>
                <a:latin typeface="+mn-lt"/>
                <a:ea typeface="+mn-ea"/>
                <a:cs typeface="+mn-cs"/>
              </a:defRPr>
            </a:lvl6pPr>
            <a:lvl7pPr marL="2743200" indent="0" algn="ctr" defTabSz="914400" rtl="0" eaLnBrk="1" latinLnBrk="0" hangingPunct="1">
              <a:spcBef>
                <a:spcPts val="600"/>
              </a:spcBef>
              <a:spcAft>
                <a:spcPts val="600"/>
              </a:spcAft>
              <a:buFont typeface="Wingdings" charset="2"/>
              <a:buNone/>
              <a:defRPr sz="1600" kern="1200" baseline="0">
                <a:solidFill>
                  <a:schemeClr val="tx1">
                    <a:tint val="75000"/>
                  </a:schemeClr>
                </a:solidFill>
                <a:latin typeface="+mn-lt"/>
                <a:ea typeface="+mn-ea"/>
                <a:cs typeface="+mn-cs"/>
              </a:defRPr>
            </a:lvl7pPr>
            <a:lvl8pPr marL="3200400" indent="0" algn="ctr" defTabSz="914400" rtl="0" eaLnBrk="1" latinLnBrk="0" hangingPunct="1">
              <a:spcBef>
                <a:spcPts val="600"/>
              </a:spcBef>
              <a:spcAft>
                <a:spcPts val="600"/>
              </a:spcAft>
              <a:buFont typeface="Arial"/>
              <a:buNone/>
              <a:defRPr sz="1600" kern="1200" baseline="0">
                <a:solidFill>
                  <a:schemeClr val="tx1">
                    <a:tint val="75000"/>
                  </a:schemeClr>
                </a:solidFill>
                <a:latin typeface="+mn-lt"/>
                <a:ea typeface="+mn-ea"/>
                <a:cs typeface="+mn-cs"/>
              </a:defRPr>
            </a:lvl8pPr>
            <a:lvl9pPr marL="3657600" indent="0" algn="ctr" defTabSz="914400" rtl="0" eaLnBrk="1" latinLnBrk="0" hangingPunct="1">
              <a:spcBef>
                <a:spcPts val="600"/>
              </a:spcBef>
              <a:spcAft>
                <a:spcPts val="600"/>
              </a:spcAft>
              <a:buFont typeface="Wingdings" charset="2"/>
              <a:buNone/>
              <a:defRPr sz="1600" kern="1200" baseline="0">
                <a:solidFill>
                  <a:schemeClr val="tx1">
                    <a:tint val="75000"/>
                  </a:schemeClr>
                </a:solidFill>
                <a:latin typeface="+mn-lt"/>
                <a:ea typeface="+mn-ea"/>
                <a:cs typeface="+mn-cs"/>
              </a:defRPr>
            </a:lvl9pPr>
          </a:lstStyle>
          <a:p>
            <a:pPr>
              <a:spcAft>
                <a:spcPts val="0"/>
              </a:spcAft>
            </a:pPr>
            <a:r>
              <a:rPr lang="en-US" b="0"/>
              <a:t>Student name: Amar Mohite</a:t>
            </a:r>
          </a:p>
          <a:p>
            <a:pPr>
              <a:spcAft>
                <a:spcPts val="0"/>
              </a:spcAft>
            </a:pPr>
            <a:r>
              <a:rPr lang="en-US" b="0"/>
              <a:t>Faculty member name: [Add faculty name]</a:t>
            </a:r>
          </a:p>
          <a:p>
            <a:pPr>
              <a:spcAft>
                <a:spcPts val="0"/>
              </a:spcAft>
            </a:pPr>
            <a:r>
              <a:rPr lang="en-US" b="0"/>
              <a:t>Date submitted: [Add date]</a:t>
            </a:r>
          </a:p>
        </p:txBody>
      </p:sp>
    </p:spTree>
    <p:custDataLst>
      <p:tags r:id="rId1"/>
    </p:custDataLst>
    <p:extLst>
      <p:ext uri="{BB962C8B-B14F-4D97-AF65-F5344CB8AC3E}">
        <p14:creationId xmlns:p14="http://schemas.microsoft.com/office/powerpoint/2010/main" val="317782591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4F94BCD2-C44D-0E47-9ADE-BC77893EDDAE}"/>
              </a:ext>
            </a:extLst>
          </p:cNvPr>
          <p:cNvSpPr>
            <a:spLocks noGrp="1"/>
          </p:cNvSpPr>
          <p:nvPr>
            <p:ph type="title"/>
          </p:nvPr>
        </p:nvSpPr>
        <p:spPr/>
        <p:txBody>
          <a:bodyPr/>
          <a:lstStyle/>
          <a:p>
            <a:r>
              <a:rPr lang="en-US" sz="2800"/>
              <a:t>Introduction: DHL and Its Strategic Goals</a:t>
            </a:r>
          </a:p>
        </p:txBody>
      </p:sp>
      <p:sp>
        <p:nvSpPr>
          <p:cNvPr id="2" name="Footer Placeholder 1">
            <a:extLst>
              <a:ext uri="{FF2B5EF4-FFF2-40B4-BE49-F238E27FC236}">
                <a16:creationId xmlns:a16="http://schemas.microsoft.com/office/drawing/2014/main" id="{E7CEDCBB-E4FC-F547-9D07-1FD42594A004}"/>
              </a:ext>
            </a:extLst>
          </p:cNvPr>
          <p:cNvSpPr>
            <a:spLocks noGrp="1"/>
          </p:cNvSpPr>
          <p:nvPr>
            <p:ph type="ftr" sz="quarter" idx="3"/>
          </p:nvPr>
        </p:nvSpPr>
        <p:spPr/>
        <p:txBody>
          <a:bodyPr/>
          <a:lstStyle/>
          <a:p>
            <a:r>
              <a:rPr lang="en-US"/>
              <a:t>© 2025 University of Phoenix</a:t>
            </a:r>
          </a:p>
        </p:txBody>
      </p:sp>
      <p:sp>
        <p:nvSpPr>
          <p:cNvPr id="4" name="TextBox 3"/>
          <p:cNvSpPr txBox="1"/>
          <p:nvPr/>
        </p:nvSpPr>
        <p:spPr>
          <a:xfrm>
            <a:off x="530352" y="1280160"/>
            <a:ext cx="5212080" cy="320040"/>
          </a:xfrm>
          <a:prstGeom prst="rect">
            <a:avLst/>
          </a:prstGeom>
          <a:noFill/>
        </p:spPr>
        <p:txBody>
          <a:bodyPr wrap="square" anchor="t" lIns="0" tIns="0" rIns="0" bIns="0">
            <a:spAutoFit/>
          </a:bodyPr>
          <a:lstStyle/>
          <a:p>
            <a:pPr algn="l" marL="0" indent="0">
              <a:spcBef>
                <a:spcPts val="0"/>
              </a:spcBef>
              <a:spcAft>
                <a:spcPts val="400"/>
              </a:spcAft>
              <a:buNone/>
            </a:pPr>
            <a:r>
              <a:rPr sz="1800" b="1" i="0">
                <a:solidFill>
                  <a:srgbClr val="001823"/>
                </a:solidFill>
              </a:rPr>
              <a:t>The organization and industry</a:t>
            </a:r>
          </a:p>
        </p:txBody>
      </p:sp>
      <p:sp>
        <p:nvSpPr>
          <p:cNvPr id="5" name="Stat card"/>
          <p:cNvSpPr/>
          <p:nvPr/>
        </p:nvSpPr>
        <p:spPr>
          <a:xfrm>
            <a:off x="530352" y="1691640"/>
            <a:ext cx="2560320" cy="1371600"/>
          </a:xfrm>
          <a:prstGeom prst="rect">
            <a:avLst/>
          </a:prstGeom>
          <a:solidFill>
            <a:srgbClr val="EEF2F4"/>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109728" tIns="73152" rIns="109728" bIns="73152"/>
          <a:lstStyle/>
          <a:p>
            <a:pPr algn="l" marL="0" indent="0">
              <a:spcBef>
                <a:spcPts val="0"/>
              </a:spcBef>
              <a:spcAft>
                <a:spcPts val="200"/>
              </a:spcAft>
              <a:buNone/>
            </a:pPr>
            <a:r>
              <a:rPr sz="3200" b="1" i="0">
                <a:solidFill>
                  <a:srgbClr val="DB3724"/>
                </a:solidFill>
              </a:rPr>
              <a:t>583,998</a:t>
            </a:r>
          </a:p>
          <a:p>
            <a:pPr algn="l" marL="0" indent="0">
              <a:spcBef>
                <a:spcPts val="0"/>
              </a:spcBef>
              <a:spcAft>
                <a:spcPts val="400"/>
              </a:spcAft>
              <a:buNone/>
            </a:pPr>
            <a:r>
              <a:rPr sz="1400" b="0" i="0">
                <a:solidFill>
                  <a:srgbClr val="001823"/>
                </a:solidFill>
              </a:rPr>
              <a:t>employees worldwide (2025)</a:t>
            </a:r>
          </a:p>
        </p:txBody>
      </p:sp>
      <p:sp>
        <p:nvSpPr>
          <p:cNvPr id="6" name="Stat card"/>
          <p:cNvSpPr/>
          <p:nvPr/>
        </p:nvSpPr>
        <p:spPr>
          <a:xfrm>
            <a:off x="3182112" y="1691640"/>
            <a:ext cx="2560320" cy="1371600"/>
          </a:xfrm>
          <a:prstGeom prst="rect">
            <a:avLst/>
          </a:prstGeom>
          <a:solidFill>
            <a:srgbClr val="EEF2F4"/>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109728" tIns="73152" rIns="109728" bIns="73152"/>
          <a:lstStyle/>
          <a:p>
            <a:pPr algn="l" marL="0" indent="0">
              <a:spcBef>
                <a:spcPts val="0"/>
              </a:spcBef>
              <a:spcAft>
                <a:spcPts val="200"/>
              </a:spcAft>
              <a:buNone/>
            </a:pPr>
            <a:r>
              <a:rPr sz="3200" b="1" i="0">
                <a:solidFill>
                  <a:srgbClr val="DB3724"/>
                </a:solidFill>
              </a:rPr>
              <a:t>220+</a:t>
            </a:r>
          </a:p>
          <a:p>
            <a:pPr algn="l" marL="0" indent="0">
              <a:spcBef>
                <a:spcPts val="0"/>
              </a:spcBef>
              <a:spcAft>
                <a:spcPts val="400"/>
              </a:spcAft>
              <a:buNone/>
            </a:pPr>
            <a:r>
              <a:rPr sz="1400" b="0" i="0">
                <a:solidFill>
                  <a:srgbClr val="001823"/>
                </a:solidFill>
              </a:rPr>
              <a:t>countries and territories</a:t>
            </a:r>
          </a:p>
        </p:txBody>
      </p:sp>
      <p:sp>
        <p:nvSpPr>
          <p:cNvPr id="7" name="Stat card"/>
          <p:cNvSpPr/>
          <p:nvPr/>
        </p:nvSpPr>
        <p:spPr>
          <a:xfrm>
            <a:off x="530352" y="3154680"/>
            <a:ext cx="2560320" cy="1371600"/>
          </a:xfrm>
          <a:prstGeom prst="rect">
            <a:avLst/>
          </a:prstGeom>
          <a:solidFill>
            <a:srgbClr val="EEF2F4"/>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109728" tIns="73152" rIns="109728" bIns="73152"/>
          <a:lstStyle/>
          <a:p>
            <a:pPr algn="l" marL="0" indent="0">
              <a:spcBef>
                <a:spcPts val="0"/>
              </a:spcBef>
              <a:spcAft>
                <a:spcPts val="200"/>
              </a:spcAft>
              <a:buNone/>
            </a:pPr>
            <a:r>
              <a:rPr sz="3200" b="1" i="0">
                <a:solidFill>
                  <a:srgbClr val="DB3724"/>
                </a:solidFill>
              </a:rPr>
              <a:t>€82.9B</a:t>
            </a:r>
          </a:p>
          <a:p>
            <a:pPr algn="l" marL="0" indent="0">
              <a:spcBef>
                <a:spcPts val="0"/>
              </a:spcBef>
              <a:spcAft>
                <a:spcPts val="400"/>
              </a:spcAft>
              <a:buNone/>
            </a:pPr>
            <a:r>
              <a:rPr sz="1400" b="0" i="0">
                <a:solidFill>
                  <a:srgbClr val="001823"/>
                </a:solidFill>
              </a:rPr>
              <a:t>revenue in 2025</a:t>
            </a:r>
          </a:p>
        </p:txBody>
      </p:sp>
      <p:sp>
        <p:nvSpPr>
          <p:cNvPr id="8" name="Stat card"/>
          <p:cNvSpPr/>
          <p:nvPr/>
        </p:nvSpPr>
        <p:spPr>
          <a:xfrm>
            <a:off x="3182112" y="3154680"/>
            <a:ext cx="2560320" cy="1371600"/>
          </a:xfrm>
          <a:prstGeom prst="rect">
            <a:avLst/>
          </a:prstGeom>
          <a:solidFill>
            <a:srgbClr val="EEF2F4"/>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109728" tIns="73152" rIns="109728" bIns="73152"/>
          <a:lstStyle/>
          <a:p>
            <a:pPr algn="l" marL="0" indent="0">
              <a:spcBef>
                <a:spcPts val="0"/>
              </a:spcBef>
              <a:spcAft>
                <a:spcPts val="200"/>
              </a:spcAft>
              <a:buNone/>
            </a:pPr>
            <a:r>
              <a:rPr sz="3200" b="1" i="0">
                <a:solidFill>
                  <a:srgbClr val="DB3724"/>
                </a:solidFill>
              </a:rPr>
              <a:t>€6.1B</a:t>
            </a:r>
          </a:p>
          <a:p>
            <a:pPr algn="l" marL="0" indent="0">
              <a:spcBef>
                <a:spcPts val="0"/>
              </a:spcBef>
              <a:spcAft>
                <a:spcPts val="400"/>
              </a:spcAft>
              <a:buNone/>
            </a:pPr>
            <a:r>
              <a:rPr sz="1400" b="0" i="0">
                <a:solidFill>
                  <a:srgbClr val="001823"/>
                </a:solidFill>
              </a:rPr>
              <a:t>operating profit (EBIT) in 2025</a:t>
            </a:r>
          </a:p>
        </p:txBody>
      </p:sp>
      <p:sp>
        <p:nvSpPr>
          <p:cNvPr id="9" name="Industry card"/>
          <p:cNvSpPr/>
          <p:nvPr/>
        </p:nvSpPr>
        <p:spPr>
          <a:xfrm>
            <a:off x="530352" y="4663440"/>
            <a:ext cx="5212080" cy="1508760"/>
          </a:xfrm>
          <a:prstGeom prst="rect">
            <a:avLst/>
          </a:prstGeom>
          <a:solidFill>
            <a:srgbClr val="15333E"/>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09728" tIns="73152" rIns="109728" bIns="73152"/>
          <a:lstStyle/>
          <a:p>
            <a:pPr algn="l" marL="0" indent="0">
              <a:spcBef>
                <a:spcPts val="0"/>
              </a:spcBef>
              <a:spcAft>
                <a:spcPts val="400"/>
              </a:spcAft>
              <a:buNone/>
            </a:pPr>
            <a:r>
              <a:rPr sz="1600" b="1" i="0">
                <a:solidFill>
                  <a:srgbClr val="FFFFFF"/>
                </a:solidFill>
              </a:rPr>
              <a:t>Industry: global logistics</a:t>
            </a:r>
          </a:p>
          <a:p>
            <a:pPr algn="l" marL="0" indent="0">
              <a:spcBef>
                <a:spcPts val="0"/>
              </a:spcBef>
              <a:spcAft>
                <a:spcPts val="400"/>
              </a:spcAft>
              <a:buNone/>
            </a:pPr>
            <a:r>
              <a:rPr sz="1400" b="0" i="0">
                <a:solidFill>
                  <a:srgbClr val="FFFFFF"/>
                </a:solidFill>
              </a:rPr>
              <a:t>Express, freight forwarding, contract logistics, e-commerce, and postal services in five divisions: Express, Global Forwarding, Supply Chain, eCommerce, and Post &amp; Parcel Germany.</a:t>
            </a:r>
          </a:p>
        </p:txBody>
      </p:sp>
      <p:sp>
        <p:nvSpPr>
          <p:cNvPr id="10" name="TextBox 9"/>
          <p:cNvSpPr txBox="1"/>
          <p:nvPr/>
        </p:nvSpPr>
        <p:spPr>
          <a:xfrm>
            <a:off x="6080760" y="1280160"/>
            <a:ext cx="5486400" cy="320040"/>
          </a:xfrm>
          <a:prstGeom prst="rect">
            <a:avLst/>
          </a:prstGeom>
          <a:noFill/>
        </p:spPr>
        <p:txBody>
          <a:bodyPr wrap="square" anchor="t" lIns="0" tIns="0" rIns="0" bIns="0">
            <a:spAutoFit/>
          </a:bodyPr>
          <a:lstStyle/>
          <a:p>
            <a:pPr algn="l" marL="0" indent="0">
              <a:spcBef>
                <a:spcPts val="0"/>
              </a:spcBef>
              <a:spcAft>
                <a:spcPts val="400"/>
              </a:spcAft>
              <a:buNone/>
            </a:pPr>
            <a:r>
              <a:rPr sz="1800" b="1" i="0">
                <a:solidFill>
                  <a:srgbClr val="001823"/>
                </a:solidFill>
              </a:rPr>
              <a:t>Strategy 2030: "Accelerate sustainable growth"</a:t>
            </a:r>
          </a:p>
        </p:txBody>
      </p:sp>
      <p:sp>
        <p:nvSpPr>
          <p:cNvPr id="11" name="Number badge"/>
          <p:cNvSpPr/>
          <p:nvPr/>
        </p:nvSpPr>
        <p:spPr>
          <a:xfrm>
            <a:off x="6080760" y="1801368"/>
            <a:ext cx="457200" cy="457200"/>
          </a:xfrm>
          <a:prstGeom prst="ellipse">
            <a:avLst/>
          </a:prstGeom>
          <a:solidFill>
            <a:srgbClr val="DB3724"/>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0" tIns="0" rIns="0" bIns="0"/>
          <a:lstStyle/>
          <a:p>
            <a:pPr algn="ctr" marL="0" indent="0">
              <a:spcBef>
                <a:spcPts val="0"/>
              </a:spcBef>
              <a:spcAft>
                <a:spcPts val="400"/>
              </a:spcAft>
              <a:buNone/>
            </a:pPr>
            <a:r>
              <a:rPr sz="1600" b="1" i="0">
                <a:solidFill>
                  <a:srgbClr val="FFFFFF"/>
                </a:solidFill>
              </a:rPr>
              <a:t>1</a:t>
            </a:r>
          </a:p>
        </p:txBody>
      </p:sp>
      <p:sp>
        <p:nvSpPr>
          <p:cNvPr id="12" name="Goal text"/>
          <p:cNvSpPr txBox="1"/>
          <p:nvPr/>
        </p:nvSpPr>
        <p:spPr>
          <a:xfrm>
            <a:off x="6720840" y="1691640"/>
            <a:ext cx="4846320" cy="1005840"/>
          </a:xfrm>
          <a:prstGeom prst="rect">
            <a:avLst/>
          </a:prstGeom>
          <a:noFill/>
        </p:spPr>
        <p:txBody>
          <a:bodyPr wrap="square" anchor="t" lIns="0" tIns="0" rIns="0" bIns="0">
            <a:spAutoFit/>
          </a:bodyPr>
          <a:lstStyle/>
          <a:p>
            <a:pPr algn="l" marL="0" indent="0">
              <a:spcBef>
                <a:spcPts val="0"/>
              </a:spcBef>
              <a:spcAft>
                <a:spcPts val="200"/>
              </a:spcAft>
              <a:buNone/>
            </a:pPr>
            <a:r>
              <a:rPr sz="1600" b="1" i="0">
                <a:solidFill>
                  <a:srgbClr val="001823"/>
                </a:solidFill>
              </a:rPr>
              <a:t>Employer of Choice</a:t>
            </a:r>
          </a:p>
          <a:p>
            <a:pPr algn="l" marL="0" indent="0">
              <a:spcBef>
                <a:spcPts val="0"/>
              </a:spcBef>
              <a:spcAft>
                <a:spcPts val="400"/>
              </a:spcAft>
              <a:buNone/>
            </a:pPr>
            <a:r>
              <a:rPr sz="1400" b="0" i="0">
                <a:solidFill>
                  <a:srgbClr val="001823"/>
                </a:solidFill>
              </a:rPr>
              <a:t>Engagement ≥ 80% (82% in 2025); women in management ≥ 34% by 2030</a:t>
            </a:r>
          </a:p>
        </p:txBody>
      </p:sp>
      <p:sp>
        <p:nvSpPr>
          <p:cNvPr id="13" name="Number badge"/>
          <p:cNvSpPr/>
          <p:nvPr/>
        </p:nvSpPr>
        <p:spPr>
          <a:xfrm>
            <a:off x="6080760" y="2916936"/>
            <a:ext cx="457200" cy="457200"/>
          </a:xfrm>
          <a:prstGeom prst="ellipse">
            <a:avLst/>
          </a:prstGeom>
          <a:solidFill>
            <a:srgbClr val="DB3724"/>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0" tIns="0" rIns="0" bIns="0"/>
          <a:lstStyle/>
          <a:p>
            <a:pPr algn="ctr" marL="0" indent="0">
              <a:spcBef>
                <a:spcPts val="0"/>
              </a:spcBef>
              <a:spcAft>
                <a:spcPts val="400"/>
              </a:spcAft>
              <a:buNone/>
            </a:pPr>
            <a:r>
              <a:rPr sz="1600" b="1" i="0">
                <a:solidFill>
                  <a:srgbClr val="FFFFFF"/>
                </a:solidFill>
              </a:rPr>
              <a:t>2</a:t>
            </a:r>
          </a:p>
        </p:txBody>
      </p:sp>
      <p:sp>
        <p:nvSpPr>
          <p:cNvPr id="14" name="Goal text"/>
          <p:cNvSpPr txBox="1"/>
          <p:nvPr/>
        </p:nvSpPr>
        <p:spPr>
          <a:xfrm>
            <a:off x="6720840" y="2807208"/>
            <a:ext cx="4846320" cy="1005840"/>
          </a:xfrm>
          <a:prstGeom prst="rect">
            <a:avLst/>
          </a:prstGeom>
          <a:noFill/>
        </p:spPr>
        <p:txBody>
          <a:bodyPr wrap="square" anchor="t" lIns="0" tIns="0" rIns="0" bIns="0">
            <a:spAutoFit/>
          </a:bodyPr>
          <a:lstStyle/>
          <a:p>
            <a:pPr algn="l" marL="0" indent="0">
              <a:spcBef>
                <a:spcPts val="0"/>
              </a:spcBef>
              <a:spcAft>
                <a:spcPts val="200"/>
              </a:spcAft>
              <a:buNone/>
            </a:pPr>
            <a:r>
              <a:rPr sz="1600" b="1" i="0">
                <a:solidFill>
                  <a:srgbClr val="001823"/>
                </a:solidFill>
              </a:rPr>
              <a:t>Provider of Choice</a:t>
            </a:r>
          </a:p>
          <a:p>
            <a:pPr algn="l" marL="0" indent="0">
              <a:spcBef>
                <a:spcPts val="0"/>
              </a:spcBef>
              <a:spcAft>
                <a:spcPts val="400"/>
              </a:spcAft>
              <a:buNone/>
            </a:pPr>
            <a:r>
              <a:rPr sz="1400" b="0" i="0">
                <a:solidFill>
                  <a:srgbClr val="001823"/>
                </a:solidFill>
              </a:rPr>
              <a:t>Outgrow the industry via e-commerce, Life Sciences &amp; Healthcare, New Energy, and priority markets</a:t>
            </a:r>
          </a:p>
        </p:txBody>
      </p:sp>
      <p:sp>
        <p:nvSpPr>
          <p:cNvPr id="15" name="Number badge"/>
          <p:cNvSpPr/>
          <p:nvPr/>
        </p:nvSpPr>
        <p:spPr>
          <a:xfrm>
            <a:off x="6080760" y="4032504"/>
            <a:ext cx="457200" cy="457200"/>
          </a:xfrm>
          <a:prstGeom prst="ellipse">
            <a:avLst/>
          </a:prstGeom>
          <a:solidFill>
            <a:srgbClr val="DB3724"/>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0" tIns="0" rIns="0" bIns="0"/>
          <a:lstStyle/>
          <a:p>
            <a:pPr algn="ctr" marL="0" indent="0">
              <a:spcBef>
                <a:spcPts val="0"/>
              </a:spcBef>
              <a:spcAft>
                <a:spcPts val="400"/>
              </a:spcAft>
              <a:buNone/>
            </a:pPr>
            <a:r>
              <a:rPr sz="1600" b="1" i="0">
                <a:solidFill>
                  <a:srgbClr val="FFFFFF"/>
                </a:solidFill>
              </a:rPr>
              <a:t>3</a:t>
            </a:r>
          </a:p>
        </p:txBody>
      </p:sp>
      <p:sp>
        <p:nvSpPr>
          <p:cNvPr id="16" name="Goal text"/>
          <p:cNvSpPr txBox="1"/>
          <p:nvPr/>
        </p:nvSpPr>
        <p:spPr>
          <a:xfrm>
            <a:off x="6720840" y="3922776"/>
            <a:ext cx="4846320" cy="1005840"/>
          </a:xfrm>
          <a:prstGeom prst="rect">
            <a:avLst/>
          </a:prstGeom>
          <a:noFill/>
        </p:spPr>
        <p:txBody>
          <a:bodyPr wrap="square" anchor="t" lIns="0" tIns="0" rIns="0" bIns="0">
            <a:spAutoFit/>
          </a:bodyPr>
          <a:lstStyle/>
          <a:p>
            <a:pPr algn="l" marL="0" indent="0">
              <a:spcBef>
                <a:spcPts val="0"/>
              </a:spcBef>
              <a:spcAft>
                <a:spcPts val="200"/>
              </a:spcAft>
              <a:buNone/>
            </a:pPr>
            <a:r>
              <a:rPr sz="1600" b="1" i="0">
                <a:solidFill>
                  <a:srgbClr val="001823"/>
                </a:solidFill>
              </a:rPr>
              <a:t>Investment of Choice</a:t>
            </a:r>
          </a:p>
          <a:p>
            <a:pPr algn="l" marL="0" indent="0">
              <a:spcBef>
                <a:spcPts val="0"/>
              </a:spcBef>
              <a:spcAft>
                <a:spcPts val="400"/>
              </a:spcAft>
              <a:buNone/>
            </a:pPr>
            <a:r>
              <a:rPr sz="1400" b="0" i="0">
                <a:solidFill>
                  <a:srgbClr val="001823"/>
                </a:solidFill>
              </a:rPr>
              <a:t>2026 EBIT guidance above €6.2B, supported by the "Fit for Growth" cost program</a:t>
            </a:r>
          </a:p>
        </p:txBody>
      </p:sp>
      <p:sp>
        <p:nvSpPr>
          <p:cNvPr id="17" name="Number badge"/>
          <p:cNvSpPr/>
          <p:nvPr/>
        </p:nvSpPr>
        <p:spPr>
          <a:xfrm>
            <a:off x="6080760" y="5148072"/>
            <a:ext cx="457200" cy="457200"/>
          </a:xfrm>
          <a:prstGeom prst="ellipse">
            <a:avLst/>
          </a:prstGeom>
          <a:solidFill>
            <a:srgbClr val="DB3724"/>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0" tIns="0" rIns="0" bIns="0"/>
          <a:lstStyle/>
          <a:p>
            <a:pPr algn="ctr" marL="0" indent="0">
              <a:spcBef>
                <a:spcPts val="0"/>
              </a:spcBef>
              <a:spcAft>
                <a:spcPts val="400"/>
              </a:spcAft>
              <a:buNone/>
            </a:pPr>
            <a:r>
              <a:rPr sz="1600" b="1" i="0">
                <a:solidFill>
                  <a:srgbClr val="FFFFFF"/>
                </a:solidFill>
              </a:rPr>
              <a:t>4</a:t>
            </a:r>
          </a:p>
        </p:txBody>
      </p:sp>
      <p:sp>
        <p:nvSpPr>
          <p:cNvPr id="18" name="Goal text"/>
          <p:cNvSpPr txBox="1"/>
          <p:nvPr/>
        </p:nvSpPr>
        <p:spPr>
          <a:xfrm>
            <a:off x="6720840" y="5038344"/>
            <a:ext cx="4846320" cy="1005840"/>
          </a:xfrm>
          <a:prstGeom prst="rect">
            <a:avLst/>
          </a:prstGeom>
          <a:noFill/>
        </p:spPr>
        <p:txBody>
          <a:bodyPr wrap="square" anchor="t" lIns="0" tIns="0" rIns="0" bIns="0">
            <a:spAutoFit/>
          </a:bodyPr>
          <a:lstStyle/>
          <a:p>
            <a:pPr algn="l" marL="0" indent="0">
              <a:spcBef>
                <a:spcPts val="0"/>
              </a:spcBef>
              <a:spcAft>
                <a:spcPts val="200"/>
              </a:spcAft>
              <a:buNone/>
            </a:pPr>
            <a:r>
              <a:rPr sz="1600" b="1" i="0">
                <a:solidFill>
                  <a:srgbClr val="001823"/>
                </a:solidFill>
              </a:rPr>
              <a:t>Green Logistics of Choice</a:t>
            </a:r>
          </a:p>
          <a:p>
            <a:pPr algn="l" marL="0" indent="0">
              <a:spcBef>
                <a:spcPts val="0"/>
              </a:spcBef>
              <a:spcAft>
                <a:spcPts val="400"/>
              </a:spcAft>
              <a:buNone/>
            </a:pPr>
            <a:r>
              <a:rPr sz="1400" b="0" i="0">
                <a:solidFill>
                  <a:srgbClr val="001823"/>
                </a:solidFill>
              </a:rPr>
              <a:t>Emissions below 29M t CO₂e by 2030; net zero by 2050</a:t>
            </a:r>
          </a:p>
        </p:txBody>
      </p:sp>
      <p:sp>
        <p:nvSpPr>
          <p:cNvPr id="19" name="Source line"/>
          <p:cNvSpPr txBox="1"/>
          <p:nvPr/>
        </p:nvSpPr>
        <p:spPr>
          <a:xfrm>
            <a:off x="530352" y="6291072"/>
            <a:ext cx="11045952" cy="274320"/>
          </a:xfrm>
          <a:prstGeom prst="rect">
            <a:avLst/>
          </a:prstGeom>
          <a:noFill/>
        </p:spPr>
        <p:txBody>
          <a:bodyPr wrap="square" anchor="t" lIns="0" tIns="0" rIns="0" bIns="0">
            <a:spAutoFit/>
          </a:bodyPr>
          <a:lstStyle/>
          <a:p>
            <a:pPr algn="l" marL="0" indent="0">
              <a:spcBef>
                <a:spcPts val="0"/>
              </a:spcBef>
              <a:spcAft>
                <a:spcPts val="400"/>
              </a:spcAft>
              <a:buNone/>
            </a:pPr>
            <a:r>
              <a:rPr sz="1100" b="0" i="0">
                <a:solidFill>
                  <a:srgbClr val="5E7079"/>
                </a:solidFill>
              </a:rPr>
              <a:t>Sources: DHL Group (n.d., 2026a, 2026e). Goals synthesized from Strategy 2030 and the annual report.</a:t>
            </a:r>
          </a:p>
        </p:txBody>
      </p:sp>
    </p:spTree>
    <p:custDataLst>
      <p:tags r:id="rId1"/>
    </p:custDataLst>
    <p:extLst>
      <p:ext uri="{BB962C8B-B14F-4D97-AF65-F5344CB8AC3E}">
        <p14:creationId xmlns:p14="http://schemas.microsoft.com/office/powerpoint/2010/main" val="264440359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41FAC9F0-23B2-F7E0-93F5-ED6305B5F7F2}"/>
              </a:ext>
            </a:extLst>
          </p:cNvPr>
          <p:cNvSpPr>
            <a:spLocks noGrp="1"/>
          </p:cNvSpPr>
          <p:nvPr>
            <p:ph type="title"/>
          </p:nvPr>
        </p:nvSpPr>
        <p:spPr/>
        <p:txBody>
          <a:bodyPr/>
          <a:lstStyle/>
          <a:p>
            <a:r>
              <a:rPr lang="en-US" sz="2800"/>
              <a:t>Current Structure: Five Divisions, One Center</a:t>
            </a:r>
          </a:p>
        </p:txBody>
      </p:sp>
      <p:sp>
        <p:nvSpPr>
          <p:cNvPr id="2" name="Footer Placeholder 1">
            <a:extLst>
              <a:ext uri="{FF2B5EF4-FFF2-40B4-BE49-F238E27FC236}">
                <a16:creationId xmlns:a16="http://schemas.microsoft.com/office/drawing/2014/main" id="{40C7D576-176C-8B09-FF42-B52EF3CF28D8}"/>
              </a:ext>
            </a:extLst>
          </p:cNvPr>
          <p:cNvSpPr>
            <a:spLocks noGrp="1"/>
          </p:cNvSpPr>
          <p:nvPr>
            <p:ph type="ftr" sz="quarter" idx="3"/>
          </p:nvPr>
        </p:nvSpPr>
        <p:spPr/>
        <p:txBody>
          <a:bodyPr/>
          <a:lstStyle/>
          <a:p>
            <a:r>
              <a:rPr lang="en-US"/>
              <a:t>© 2025 University of Phoenix</a:t>
            </a:r>
          </a:p>
        </p:txBody>
      </p:sp>
      <p:sp>
        <p:nvSpPr>
          <p:cNvPr id="4" name="Org: parent"/>
          <p:cNvSpPr/>
          <p:nvPr/>
        </p:nvSpPr>
        <p:spPr>
          <a:xfrm>
            <a:off x="1984248" y="1280160"/>
            <a:ext cx="8229600" cy="566928"/>
          </a:xfrm>
          <a:prstGeom prst="rect">
            <a:avLst/>
          </a:prstGeom>
          <a:solidFill>
            <a:srgbClr val="001823"/>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109728" tIns="73152" rIns="109728" bIns="73152"/>
          <a:lstStyle/>
          <a:p>
            <a:pPr algn="ctr" marL="0" indent="0">
              <a:spcBef>
                <a:spcPts val="0"/>
              </a:spcBef>
              <a:spcAft>
                <a:spcPts val="400"/>
              </a:spcAft>
              <a:buNone/>
            </a:pPr>
            <a:r>
              <a:rPr sz="1400" b="1" i="0">
                <a:solidFill>
                  <a:srgbClr val="FFFFFF"/>
                </a:solidFill>
              </a:rPr>
              <a:t>DHL AG</a:t>
            </a:r>
            <a:r>
              <a:rPr sz="1400" b="0" i="0">
                <a:solidFill>
                  <a:srgbClr val="FFFFFF"/>
                </a:solidFill>
              </a:rPr>
              <a:t> (listed parent, since Sept. 1, 2026): Group strategy, governance, cross-divisional functions</a:t>
            </a:r>
          </a:p>
        </p:txBody>
      </p:sp>
      <p:cxnSp>
        <p:nvCxnSpPr>
          <p:cNvPr id="5" name="Connector 4"/>
          <p:cNvCxnSpPr/>
          <p:nvPr/>
        </p:nvCxnSpPr>
        <p:spPr>
          <a:xfrm>
            <a:off x="6099048" y="1847088"/>
            <a:ext cx="0" cy="164592"/>
          </a:xfrm>
          <a:prstGeom prst="line">
            <a:avLst/>
          </a:prstGeom>
          <a:ln w="19050">
            <a:solidFill>
              <a:srgbClr val="B2BBBF"/>
            </a:solidFill>
          </a:ln>
        </p:spPr>
        <p:style>
          <a:lnRef idx="2">
            <a:schemeClr val="accent1"/>
          </a:lnRef>
          <a:fillRef idx="0">
            <a:schemeClr val="accent1"/>
          </a:fillRef>
          <a:effectRef idx="0">
            <a:schemeClr val="accent1"/>
          </a:effectRef>
          <a:fontRef idx="minor">
            <a:schemeClr val="tx1"/>
          </a:fontRef>
        </p:style>
      </p:cxnSp>
      <p:sp>
        <p:nvSpPr>
          <p:cNvPr id="6" name="Org: corporate center"/>
          <p:cNvSpPr/>
          <p:nvPr/>
        </p:nvSpPr>
        <p:spPr>
          <a:xfrm>
            <a:off x="530352" y="2011680"/>
            <a:ext cx="11045952" cy="566928"/>
          </a:xfrm>
          <a:prstGeom prst="rect">
            <a:avLst/>
          </a:prstGeom>
          <a:solidFill>
            <a:srgbClr val="15333E"/>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109728" tIns="73152" rIns="109728" bIns="73152"/>
          <a:lstStyle/>
          <a:p>
            <a:pPr algn="ctr" marL="0" indent="0">
              <a:spcBef>
                <a:spcPts val="0"/>
              </a:spcBef>
              <a:spcAft>
                <a:spcPts val="400"/>
              </a:spcAft>
              <a:buNone/>
            </a:pPr>
            <a:r>
              <a:rPr sz="1400" b="1" i="0">
                <a:solidFill>
                  <a:srgbClr val="FFFFFF"/>
                </a:solidFill>
              </a:rPr>
              <a:t>Corporate Center: </a:t>
            </a:r>
            <a:r>
              <a:rPr sz="1400" b="0" i="0">
                <a:solidFill>
                  <a:srgbClr val="FFFFFF"/>
                </a:solidFill>
              </a:rPr>
              <a:t>CEO · Finance · Human Resources · Global Business Services (GBS) · Customer Solutions &amp; Innovation (CSI)</a:t>
            </a:r>
          </a:p>
        </p:txBody>
      </p:sp>
      <p:cxnSp>
        <p:nvCxnSpPr>
          <p:cNvPr id="7" name="Connector 6"/>
          <p:cNvCxnSpPr/>
          <p:nvPr/>
        </p:nvCxnSpPr>
        <p:spPr>
          <a:xfrm>
            <a:off x="6099048" y="2578608"/>
            <a:ext cx="0" cy="146304"/>
          </a:xfrm>
          <a:prstGeom prst="line">
            <a:avLst/>
          </a:prstGeom>
          <a:ln w="19050">
            <a:solidFill>
              <a:srgbClr val="B2BBBF"/>
            </a:solidFill>
          </a:ln>
        </p:spPr>
        <p:style>
          <a:lnRef idx="2">
            <a:schemeClr val="accent1"/>
          </a:lnRef>
          <a:fillRef idx="0">
            <a:schemeClr val="accent1"/>
          </a:fillRef>
          <a:effectRef idx="0">
            <a:schemeClr val="accent1"/>
          </a:effectRef>
          <a:fontRef idx="minor">
            <a:schemeClr val="tx1"/>
          </a:fontRef>
        </p:style>
      </p:cxnSp>
      <p:cxnSp>
        <p:nvCxnSpPr>
          <p:cNvPr id="8" name="Connector 7"/>
          <p:cNvCxnSpPr/>
          <p:nvPr/>
        </p:nvCxnSpPr>
        <p:spPr>
          <a:xfrm>
            <a:off x="1591055" y="2724912"/>
            <a:ext cx="8924545" cy="0"/>
          </a:xfrm>
          <a:prstGeom prst="line">
            <a:avLst/>
          </a:prstGeom>
          <a:ln w="19050">
            <a:solidFill>
              <a:srgbClr val="B2BBBF"/>
            </a:solidFill>
          </a:ln>
        </p:spPr>
        <p:style>
          <a:lnRef idx="2">
            <a:schemeClr val="accent1"/>
          </a:lnRef>
          <a:fillRef idx="0">
            <a:schemeClr val="accent1"/>
          </a:fillRef>
          <a:effectRef idx="0">
            <a:schemeClr val="accent1"/>
          </a:effectRef>
          <a:fontRef idx="minor">
            <a:schemeClr val="tx1"/>
          </a:fontRef>
        </p:style>
      </p:cxnSp>
      <p:cxnSp>
        <p:nvCxnSpPr>
          <p:cNvPr id="9" name="Connector 8"/>
          <p:cNvCxnSpPr/>
          <p:nvPr/>
        </p:nvCxnSpPr>
        <p:spPr>
          <a:xfrm>
            <a:off x="1591055" y="2724912"/>
            <a:ext cx="0" cy="128016"/>
          </a:xfrm>
          <a:prstGeom prst="line">
            <a:avLst/>
          </a:prstGeom>
          <a:ln w="19050">
            <a:solidFill>
              <a:srgbClr val="B2BBBF"/>
            </a:solidFill>
          </a:ln>
        </p:spPr>
        <p:style>
          <a:lnRef idx="2">
            <a:schemeClr val="accent1"/>
          </a:lnRef>
          <a:fillRef idx="0">
            <a:schemeClr val="accent1"/>
          </a:fillRef>
          <a:effectRef idx="0">
            <a:schemeClr val="accent1"/>
          </a:effectRef>
          <a:fontRef idx="minor">
            <a:schemeClr val="tx1"/>
          </a:fontRef>
        </p:style>
      </p:cxnSp>
      <p:sp>
        <p:nvSpPr>
          <p:cNvPr id="10" name="Org: division"/>
          <p:cNvSpPr/>
          <p:nvPr/>
        </p:nvSpPr>
        <p:spPr>
          <a:xfrm>
            <a:off x="530352" y="2852928"/>
            <a:ext cx="2121408" cy="1188720"/>
          </a:xfrm>
          <a:prstGeom prst="rect">
            <a:avLst/>
          </a:prstGeom>
          <a:solidFill>
            <a:srgbClr val="DDE5E9"/>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109728" tIns="73152" rIns="109728" bIns="73152"/>
          <a:lstStyle/>
          <a:p>
            <a:pPr algn="ctr" marL="0" indent="0">
              <a:spcBef>
                <a:spcPts val="0"/>
              </a:spcBef>
              <a:spcAft>
                <a:spcPts val="300"/>
              </a:spcAft>
              <a:buNone/>
            </a:pPr>
            <a:r>
              <a:rPr sz="1400" b="1" i="0">
                <a:solidFill>
                  <a:srgbClr val="001823"/>
                </a:solidFill>
              </a:rPr>
              <a:t>Express</a:t>
            </a:r>
          </a:p>
          <a:p>
            <a:pPr algn="ctr" marL="0" indent="0">
              <a:spcBef>
                <a:spcPts val="0"/>
              </a:spcBef>
              <a:spcAft>
                <a:spcPts val="0"/>
              </a:spcAft>
              <a:buNone/>
            </a:pPr>
            <a:r>
              <a:rPr sz="1300" b="0" i="0">
                <a:solidFill>
                  <a:srgbClr val="001823"/>
                </a:solidFill>
              </a:rPr>
              <a:t>110,626 employees</a:t>
            </a:r>
          </a:p>
          <a:p>
            <a:pPr algn="ctr" marL="0" indent="0">
              <a:spcBef>
                <a:spcPts val="0"/>
              </a:spcBef>
              <a:spcAft>
                <a:spcPts val="0"/>
              </a:spcAft>
              <a:buNone/>
            </a:pPr>
            <a:r>
              <a:rPr sz="1300" b="0" i="0">
                <a:solidFill>
                  <a:srgbClr val="001823"/>
                </a:solidFill>
              </a:rPr>
              <a:t>28.7% of revenue</a:t>
            </a:r>
          </a:p>
        </p:txBody>
      </p:sp>
      <p:cxnSp>
        <p:nvCxnSpPr>
          <p:cNvPr id="11" name="Connector 10"/>
          <p:cNvCxnSpPr/>
          <p:nvPr/>
        </p:nvCxnSpPr>
        <p:spPr>
          <a:xfrm>
            <a:off x="3822191" y="2724912"/>
            <a:ext cx="0" cy="128016"/>
          </a:xfrm>
          <a:prstGeom prst="line">
            <a:avLst/>
          </a:prstGeom>
          <a:ln w="19050">
            <a:solidFill>
              <a:srgbClr val="B2BBBF"/>
            </a:solidFill>
          </a:ln>
        </p:spPr>
        <p:style>
          <a:lnRef idx="2">
            <a:schemeClr val="accent1"/>
          </a:lnRef>
          <a:fillRef idx="0">
            <a:schemeClr val="accent1"/>
          </a:fillRef>
          <a:effectRef idx="0">
            <a:schemeClr val="accent1"/>
          </a:effectRef>
          <a:fontRef idx="minor">
            <a:schemeClr val="tx1"/>
          </a:fontRef>
        </p:style>
      </p:cxnSp>
      <p:sp>
        <p:nvSpPr>
          <p:cNvPr id="12" name="Org: division"/>
          <p:cNvSpPr/>
          <p:nvPr/>
        </p:nvSpPr>
        <p:spPr>
          <a:xfrm>
            <a:off x="2761488" y="2852928"/>
            <a:ext cx="2121408" cy="1188720"/>
          </a:xfrm>
          <a:prstGeom prst="rect">
            <a:avLst/>
          </a:prstGeom>
          <a:solidFill>
            <a:srgbClr val="DDE5E9"/>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109728" tIns="73152" rIns="109728" bIns="73152"/>
          <a:lstStyle/>
          <a:p>
            <a:pPr algn="ctr" marL="0" indent="0">
              <a:spcBef>
                <a:spcPts val="0"/>
              </a:spcBef>
              <a:spcAft>
                <a:spcPts val="300"/>
              </a:spcAft>
              <a:buNone/>
            </a:pPr>
            <a:r>
              <a:rPr sz="1400" b="1" i="0">
                <a:solidFill>
                  <a:srgbClr val="001823"/>
                </a:solidFill>
              </a:rPr>
              <a:t>Global Forwarding, Freight</a:t>
            </a:r>
          </a:p>
          <a:p>
            <a:pPr algn="ctr" marL="0" indent="0">
              <a:spcBef>
                <a:spcPts val="0"/>
              </a:spcBef>
              <a:spcAft>
                <a:spcPts val="0"/>
              </a:spcAft>
              <a:buNone/>
            </a:pPr>
            <a:r>
              <a:rPr sz="1300" b="0" i="0">
                <a:solidFill>
                  <a:srgbClr val="001823"/>
                </a:solidFill>
              </a:rPr>
              <a:t>44,888 employees</a:t>
            </a:r>
          </a:p>
          <a:p>
            <a:pPr algn="ctr" marL="0" indent="0">
              <a:spcBef>
                <a:spcPts val="0"/>
              </a:spcBef>
              <a:spcAft>
                <a:spcPts val="0"/>
              </a:spcAft>
              <a:buNone/>
            </a:pPr>
            <a:r>
              <a:rPr sz="1300" b="0" i="0">
                <a:solidFill>
                  <a:srgbClr val="001823"/>
                </a:solidFill>
              </a:rPr>
              <a:t>20.9% of revenue</a:t>
            </a:r>
          </a:p>
        </p:txBody>
      </p:sp>
      <p:cxnSp>
        <p:nvCxnSpPr>
          <p:cNvPr id="13" name="Connector 12"/>
          <p:cNvCxnSpPr/>
          <p:nvPr/>
        </p:nvCxnSpPr>
        <p:spPr>
          <a:xfrm>
            <a:off x="6053328" y="2724912"/>
            <a:ext cx="0" cy="128016"/>
          </a:xfrm>
          <a:prstGeom prst="line">
            <a:avLst/>
          </a:prstGeom>
          <a:ln w="19050">
            <a:solidFill>
              <a:srgbClr val="B2BBBF"/>
            </a:solidFill>
          </a:ln>
        </p:spPr>
        <p:style>
          <a:lnRef idx="2">
            <a:schemeClr val="accent1"/>
          </a:lnRef>
          <a:fillRef idx="0">
            <a:schemeClr val="accent1"/>
          </a:fillRef>
          <a:effectRef idx="0">
            <a:schemeClr val="accent1"/>
          </a:effectRef>
          <a:fontRef idx="minor">
            <a:schemeClr val="tx1"/>
          </a:fontRef>
        </p:style>
      </p:cxnSp>
      <p:sp>
        <p:nvSpPr>
          <p:cNvPr id="14" name="Org: division"/>
          <p:cNvSpPr/>
          <p:nvPr/>
        </p:nvSpPr>
        <p:spPr>
          <a:xfrm>
            <a:off x="4992624" y="2852928"/>
            <a:ext cx="2121408" cy="1188720"/>
          </a:xfrm>
          <a:prstGeom prst="rect">
            <a:avLst/>
          </a:prstGeom>
          <a:solidFill>
            <a:srgbClr val="DDE5E9"/>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109728" tIns="73152" rIns="109728" bIns="73152"/>
          <a:lstStyle/>
          <a:p>
            <a:pPr algn="ctr" marL="0" indent="0">
              <a:spcBef>
                <a:spcPts val="0"/>
              </a:spcBef>
              <a:spcAft>
                <a:spcPts val="300"/>
              </a:spcAft>
              <a:buNone/>
            </a:pPr>
            <a:r>
              <a:rPr sz="1400" b="1" i="0">
                <a:solidFill>
                  <a:srgbClr val="001823"/>
                </a:solidFill>
              </a:rPr>
              <a:t>Supply Chain</a:t>
            </a:r>
          </a:p>
          <a:p>
            <a:pPr algn="ctr" marL="0" indent="0">
              <a:spcBef>
                <a:spcPts val="0"/>
              </a:spcBef>
              <a:spcAft>
                <a:spcPts val="0"/>
              </a:spcAft>
              <a:buNone/>
            </a:pPr>
            <a:r>
              <a:rPr sz="1300" b="0" i="0">
                <a:solidFill>
                  <a:srgbClr val="001823"/>
                </a:solidFill>
              </a:rPr>
              <a:t>186,554 employees</a:t>
            </a:r>
          </a:p>
          <a:p>
            <a:pPr algn="ctr" marL="0" indent="0">
              <a:spcBef>
                <a:spcPts val="0"/>
              </a:spcBef>
              <a:spcAft>
                <a:spcPts val="0"/>
              </a:spcAft>
              <a:buNone/>
            </a:pPr>
            <a:r>
              <a:rPr sz="1300" b="0" i="0">
                <a:solidFill>
                  <a:srgbClr val="001823"/>
                </a:solidFill>
              </a:rPr>
              <a:t>21.3% of revenue</a:t>
            </a:r>
          </a:p>
        </p:txBody>
      </p:sp>
      <p:cxnSp>
        <p:nvCxnSpPr>
          <p:cNvPr id="15" name="Connector 14"/>
          <p:cNvCxnSpPr/>
          <p:nvPr/>
        </p:nvCxnSpPr>
        <p:spPr>
          <a:xfrm>
            <a:off x="8284464" y="2724912"/>
            <a:ext cx="0" cy="128016"/>
          </a:xfrm>
          <a:prstGeom prst="line">
            <a:avLst/>
          </a:prstGeom>
          <a:ln w="19050">
            <a:solidFill>
              <a:srgbClr val="B2BBBF"/>
            </a:solidFill>
          </a:ln>
        </p:spPr>
        <p:style>
          <a:lnRef idx="2">
            <a:schemeClr val="accent1"/>
          </a:lnRef>
          <a:fillRef idx="0">
            <a:schemeClr val="accent1"/>
          </a:fillRef>
          <a:effectRef idx="0">
            <a:schemeClr val="accent1"/>
          </a:effectRef>
          <a:fontRef idx="minor">
            <a:schemeClr val="tx1"/>
          </a:fontRef>
        </p:style>
      </p:cxnSp>
      <p:sp>
        <p:nvSpPr>
          <p:cNvPr id="16" name="Org: division"/>
          <p:cNvSpPr/>
          <p:nvPr/>
        </p:nvSpPr>
        <p:spPr>
          <a:xfrm>
            <a:off x="7223760" y="2852928"/>
            <a:ext cx="2121408" cy="1188720"/>
          </a:xfrm>
          <a:prstGeom prst="rect">
            <a:avLst/>
          </a:prstGeom>
          <a:solidFill>
            <a:srgbClr val="DDE5E9"/>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109728" tIns="73152" rIns="109728" bIns="73152"/>
          <a:lstStyle/>
          <a:p>
            <a:pPr algn="ctr" marL="0" indent="0">
              <a:spcBef>
                <a:spcPts val="0"/>
              </a:spcBef>
              <a:spcAft>
                <a:spcPts val="300"/>
              </a:spcAft>
              <a:buNone/>
            </a:pPr>
            <a:r>
              <a:rPr sz="1400" b="1" i="0">
                <a:solidFill>
                  <a:srgbClr val="001823"/>
                </a:solidFill>
              </a:rPr>
              <a:t>eCommerce</a:t>
            </a:r>
          </a:p>
          <a:p>
            <a:pPr algn="ctr" marL="0" indent="0">
              <a:spcBef>
                <a:spcPts val="0"/>
              </a:spcBef>
              <a:spcAft>
                <a:spcPts val="0"/>
              </a:spcAft>
              <a:buNone/>
            </a:pPr>
            <a:r>
              <a:rPr sz="1300" b="0" i="0">
                <a:solidFill>
                  <a:srgbClr val="001823"/>
                </a:solidFill>
              </a:rPr>
              <a:t>47,262 employees</a:t>
            </a:r>
          </a:p>
          <a:p>
            <a:pPr algn="ctr" marL="0" indent="0">
              <a:spcBef>
                <a:spcPts val="0"/>
              </a:spcBef>
              <a:spcAft>
                <a:spcPts val="0"/>
              </a:spcAft>
              <a:buNone/>
            </a:pPr>
            <a:r>
              <a:rPr sz="1300" b="0" i="0">
                <a:solidFill>
                  <a:srgbClr val="001823"/>
                </a:solidFill>
              </a:rPr>
              <a:t>8.0% of revenue</a:t>
            </a:r>
          </a:p>
        </p:txBody>
      </p:sp>
      <p:cxnSp>
        <p:nvCxnSpPr>
          <p:cNvPr id="17" name="Connector 16"/>
          <p:cNvCxnSpPr/>
          <p:nvPr/>
        </p:nvCxnSpPr>
        <p:spPr>
          <a:xfrm>
            <a:off x="10515600" y="2724912"/>
            <a:ext cx="0" cy="128016"/>
          </a:xfrm>
          <a:prstGeom prst="line">
            <a:avLst/>
          </a:prstGeom>
          <a:ln w="19050">
            <a:solidFill>
              <a:srgbClr val="B2BBBF"/>
            </a:solidFill>
          </a:ln>
        </p:spPr>
        <p:style>
          <a:lnRef idx="2">
            <a:schemeClr val="accent1"/>
          </a:lnRef>
          <a:fillRef idx="0">
            <a:schemeClr val="accent1"/>
          </a:fillRef>
          <a:effectRef idx="0">
            <a:schemeClr val="accent1"/>
          </a:effectRef>
          <a:fontRef idx="minor">
            <a:schemeClr val="tx1"/>
          </a:fontRef>
        </p:style>
      </p:cxnSp>
      <p:sp>
        <p:nvSpPr>
          <p:cNvPr id="18" name="Org: division"/>
          <p:cNvSpPr/>
          <p:nvPr/>
        </p:nvSpPr>
        <p:spPr>
          <a:xfrm>
            <a:off x="9454896" y="2852928"/>
            <a:ext cx="2121408" cy="1188720"/>
          </a:xfrm>
          <a:prstGeom prst="rect">
            <a:avLst/>
          </a:prstGeom>
          <a:solidFill>
            <a:srgbClr val="DDE5E9"/>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109728" tIns="73152" rIns="109728" bIns="73152"/>
          <a:lstStyle/>
          <a:p>
            <a:pPr algn="ctr" marL="0" indent="0">
              <a:spcBef>
                <a:spcPts val="0"/>
              </a:spcBef>
              <a:spcAft>
                <a:spcPts val="300"/>
              </a:spcAft>
              <a:buNone/>
            </a:pPr>
            <a:r>
              <a:rPr sz="1400" b="1" i="0">
                <a:solidFill>
                  <a:srgbClr val="001823"/>
                </a:solidFill>
              </a:rPr>
              <a:t>Post &amp; Parcel Germany</a:t>
            </a:r>
          </a:p>
          <a:p>
            <a:pPr algn="ctr" marL="0" indent="0">
              <a:spcBef>
                <a:spcPts val="0"/>
              </a:spcBef>
              <a:spcAft>
                <a:spcPts val="0"/>
              </a:spcAft>
              <a:buNone/>
            </a:pPr>
            <a:r>
              <a:rPr sz="1300" b="0" i="0">
                <a:solidFill>
                  <a:srgbClr val="001823"/>
                </a:solidFill>
              </a:rPr>
              <a:t>181,743 employees</a:t>
            </a:r>
          </a:p>
          <a:p>
            <a:pPr algn="ctr" marL="0" indent="0">
              <a:spcBef>
                <a:spcPts val="0"/>
              </a:spcBef>
              <a:spcAft>
                <a:spcPts val="0"/>
              </a:spcAft>
              <a:buNone/>
            </a:pPr>
            <a:r>
              <a:rPr sz="1300" b="0" i="0">
                <a:solidFill>
                  <a:srgbClr val="001823"/>
                </a:solidFill>
              </a:rPr>
              <a:t>21.0% of revenue</a:t>
            </a:r>
          </a:p>
        </p:txBody>
      </p:sp>
      <p:sp>
        <p:nvSpPr>
          <p:cNvPr id="19" name="Org caption"/>
          <p:cNvSpPr txBox="1"/>
          <p:nvPr/>
        </p:nvSpPr>
        <p:spPr>
          <a:xfrm>
            <a:off x="530352" y="4087368"/>
            <a:ext cx="11045952" cy="256032"/>
          </a:xfrm>
          <a:prstGeom prst="rect">
            <a:avLst/>
          </a:prstGeom>
          <a:noFill/>
        </p:spPr>
        <p:txBody>
          <a:bodyPr wrap="square" anchor="t" lIns="0" tIns="0" rIns="0" bIns="0">
            <a:spAutoFit/>
          </a:bodyPr>
          <a:lstStyle/>
          <a:p>
            <a:pPr algn="l" marL="0" indent="0">
              <a:spcBef>
                <a:spcPts val="0"/>
              </a:spcBef>
              <a:spcAft>
                <a:spcPts val="400"/>
              </a:spcAft>
              <a:buNone/>
            </a:pPr>
            <a:r>
              <a:rPr sz="1200" b="0" i="1">
                <a:solidFill>
                  <a:srgbClr val="5E7079"/>
                </a:solidFill>
              </a:rPr>
              <a:t>Each division is a standalone legal entity with its own headquarters, regions, and functions. Headcount: Dec. 31, 2025; revenue share: FY 2025.</a:t>
            </a:r>
          </a:p>
        </p:txBody>
      </p:sp>
      <p:sp>
        <p:nvSpPr>
          <p:cNvPr id="20" name="Card: structure type"/>
          <p:cNvSpPr/>
          <p:nvPr/>
        </p:nvSpPr>
        <p:spPr>
          <a:xfrm>
            <a:off x="530352" y="4434840"/>
            <a:ext cx="5440680" cy="1783080"/>
          </a:xfrm>
          <a:prstGeom prst="rect">
            <a:avLst/>
          </a:prstGeom>
          <a:solidFill>
            <a:srgbClr val="EEF2F4"/>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09728" tIns="73152" rIns="109728" bIns="73152"/>
          <a:lstStyle/>
          <a:p>
            <a:pPr algn="l" marL="0" indent="0">
              <a:spcBef>
                <a:spcPts val="0"/>
              </a:spcBef>
              <a:spcAft>
                <a:spcPts val="400"/>
              </a:spcAft>
              <a:buNone/>
            </a:pPr>
            <a:r>
              <a:rPr sz="1600" b="1" i="0">
                <a:solidFill>
                  <a:srgbClr val="001823"/>
                </a:solidFill>
              </a:rPr>
              <a:t>Structure type (our assessment)</a:t>
            </a:r>
          </a:p>
          <a:p>
            <a:pPr algn="l" marL="182880" indent="-182880">
              <a:spcBef>
                <a:spcPts val="0"/>
              </a:spcBef>
              <a:spcAft>
                <a:spcPts val="300"/>
              </a:spcAft>
              <a:buChar char="•"/>
            </a:pPr>
            <a:r>
              <a:rPr sz="1400" b="0" i="0">
                <a:solidFill>
                  <a:srgbClr val="001823"/>
                </a:solidFill>
              </a:rPr>
              <a:t>Multi-divisional hierarchy: five divisions, each with its own HQ and regional units</a:t>
            </a:r>
          </a:p>
          <a:p>
            <a:pPr algn="l" marL="182880" indent="-182880">
              <a:spcBef>
                <a:spcPts val="0"/>
              </a:spcBef>
              <a:spcAft>
                <a:spcPts val="300"/>
              </a:spcAft>
              <a:buChar char="•"/>
            </a:pPr>
            <a:r>
              <a:rPr sz="1400" b="0" i="0">
                <a:solidFill>
                  <a:srgbClr val="001823"/>
                </a:solidFill>
              </a:rPr>
              <a:t>Centralized Corporate Center owns Group strategy and shared services</a:t>
            </a:r>
          </a:p>
          <a:p>
            <a:pPr algn="l" marL="182880" indent="-182880">
              <a:spcBef>
                <a:spcPts val="0"/>
              </a:spcBef>
              <a:spcAft>
                <a:spcPts val="400"/>
              </a:spcAft>
              <a:buChar char="•"/>
            </a:pPr>
            <a:r>
              <a:rPr sz="1400" b="0" i="0">
                <a:solidFill>
                  <a:srgbClr val="001823"/>
                </a:solidFill>
              </a:rPr>
              <a:t>Matrix overlays: cross-divisional bodies for Life Sciences &amp; Healthcare and New Energy</a:t>
            </a:r>
          </a:p>
        </p:txBody>
      </p:sp>
      <p:sp>
        <p:nvSpPr>
          <p:cNvPr id="21" name="Card: alignment"/>
          <p:cNvSpPr/>
          <p:nvPr/>
        </p:nvSpPr>
        <p:spPr>
          <a:xfrm>
            <a:off x="6135624" y="4434840"/>
            <a:ext cx="5440680" cy="1783080"/>
          </a:xfrm>
          <a:prstGeom prst="rect">
            <a:avLst/>
          </a:prstGeom>
          <a:solidFill>
            <a:srgbClr val="EEF2F4"/>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09728" tIns="73152" rIns="109728" bIns="73152"/>
          <a:lstStyle/>
          <a:p>
            <a:pPr algn="l" marL="0" indent="0">
              <a:spcBef>
                <a:spcPts val="0"/>
              </a:spcBef>
              <a:spcAft>
                <a:spcPts val="400"/>
              </a:spcAft>
              <a:buNone/>
            </a:pPr>
            <a:r>
              <a:rPr sz="1600" b="1" i="0">
                <a:solidFill>
                  <a:srgbClr val="001823"/>
                </a:solidFill>
              </a:rPr>
              <a:t>Alignment with Strategy 2030</a:t>
            </a:r>
          </a:p>
          <a:p>
            <a:pPr algn="l" marL="182880" indent="-182880">
              <a:spcBef>
                <a:spcPts val="0"/>
              </a:spcBef>
              <a:spcAft>
                <a:spcPts val="300"/>
              </a:spcAft>
              <a:buChar char="•"/>
            </a:pPr>
            <a:r>
              <a:rPr sz="1400" b="1" i="0">
                <a:solidFill>
                  <a:srgbClr val="3A4F59"/>
                </a:solidFill>
              </a:rPr>
              <a:t>Strong: </a:t>
            </a:r>
            <a:r>
              <a:rPr sz="1400" b="0" i="0">
                <a:solidFill>
                  <a:srgbClr val="001823"/>
                </a:solidFill>
              </a:rPr>
              <a:t>divisional focus and legal alignment support growth</a:t>
            </a:r>
          </a:p>
          <a:p>
            <a:pPr algn="l" marL="182880" indent="-182880">
              <a:spcBef>
                <a:spcPts val="0"/>
              </a:spcBef>
              <a:spcAft>
                <a:spcPts val="300"/>
              </a:spcAft>
              <a:buChar char="•"/>
            </a:pPr>
            <a:r>
              <a:rPr sz="1400" b="1" i="0">
                <a:solidFill>
                  <a:srgbClr val="3A4F59"/>
                </a:solidFill>
              </a:rPr>
              <a:t>Strong: </a:t>
            </a:r>
            <a:r>
              <a:rPr sz="1400" b="0" i="0">
                <a:solidFill>
                  <a:srgbClr val="001823"/>
                </a:solidFill>
              </a:rPr>
              <a:t>Corporate Center and GBS give scale and consistent services</a:t>
            </a:r>
          </a:p>
          <a:p>
            <a:pPr algn="l" marL="182880" indent="-182880">
              <a:spcBef>
                <a:spcPts val="0"/>
              </a:spcBef>
              <a:spcAft>
                <a:spcPts val="400"/>
              </a:spcAft>
              <a:buChar char="•"/>
            </a:pPr>
            <a:r>
              <a:rPr sz="1400" b="1" i="0">
                <a:solidFill>
                  <a:srgbClr val="DB3724"/>
                </a:solidFill>
              </a:rPr>
              <a:t>Watch: </a:t>
            </a:r>
            <a:r>
              <a:rPr sz="1400" b="0" i="0">
                <a:solidFill>
                  <a:srgbClr val="001823"/>
                </a:solidFill>
              </a:rPr>
              <a:t>division autonomy can slow Group-wide data and AI standards</a:t>
            </a:r>
          </a:p>
        </p:txBody>
      </p:sp>
      <p:sp>
        <p:nvSpPr>
          <p:cNvPr id="22" name="Source line"/>
          <p:cNvSpPr txBox="1"/>
          <p:nvPr/>
        </p:nvSpPr>
        <p:spPr>
          <a:xfrm>
            <a:off x="530352" y="6291072"/>
            <a:ext cx="11045952" cy="274320"/>
          </a:xfrm>
          <a:prstGeom prst="rect">
            <a:avLst/>
          </a:prstGeom>
          <a:noFill/>
        </p:spPr>
        <p:txBody>
          <a:bodyPr wrap="square" anchor="t" lIns="0" tIns="0" rIns="0" bIns="0">
            <a:spAutoFit/>
          </a:bodyPr>
          <a:lstStyle/>
          <a:p>
            <a:pPr algn="l" marL="0" indent="0">
              <a:spcBef>
                <a:spcPts val="0"/>
              </a:spcBef>
              <a:spcAft>
                <a:spcPts val="400"/>
              </a:spcAft>
              <a:buNone/>
            </a:pPr>
            <a:r>
              <a:rPr sz="1100" b="0" i="0">
                <a:solidFill>
                  <a:srgbClr val="5E7079"/>
                </a:solidFill>
              </a:rPr>
              <a:t>Sources: DHL Group (2026e, 2026f). The structure-type label is the presenter's interpretation.</a:t>
            </a:r>
          </a:p>
        </p:txBody>
      </p:sp>
    </p:spTree>
    <p:custDataLst>
      <p:tags r:id="rId1"/>
    </p:custDataLst>
    <p:extLst>
      <p:ext uri="{BB962C8B-B14F-4D97-AF65-F5344CB8AC3E}">
        <p14:creationId xmlns:p14="http://schemas.microsoft.com/office/powerpoint/2010/main" val="42023585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41FAC9F0-23B2-F7E0-93F5-ED6305B5F7F2}"/>
              </a:ext>
            </a:extLst>
          </p:cNvPr>
          <p:cNvSpPr>
            <a:spLocks noGrp="1"/>
          </p:cNvSpPr>
          <p:nvPr>
            <p:ph type="title"/>
          </p:nvPr>
        </p:nvSpPr>
        <p:spPr/>
        <p:txBody>
          <a:bodyPr/>
          <a:lstStyle/>
          <a:p>
            <a:r>
              <a:rPr lang="en-US" sz="2800"/>
              <a:t>Structure Gaps: Where Alignment Breaks Down</a:t>
            </a:r>
          </a:p>
        </p:txBody>
      </p:sp>
      <p:sp>
        <p:nvSpPr>
          <p:cNvPr id="2" name="Footer Placeholder 1">
            <a:extLst>
              <a:ext uri="{FF2B5EF4-FFF2-40B4-BE49-F238E27FC236}">
                <a16:creationId xmlns:a16="http://schemas.microsoft.com/office/drawing/2014/main" id="{40C7D576-176C-8B09-FF42-B52EF3CF28D8}"/>
              </a:ext>
            </a:extLst>
          </p:cNvPr>
          <p:cNvSpPr>
            <a:spLocks noGrp="1"/>
          </p:cNvSpPr>
          <p:nvPr>
            <p:ph type="ftr" sz="quarter" idx="3"/>
          </p:nvPr>
        </p:nvSpPr>
        <p:spPr/>
        <p:txBody>
          <a:bodyPr/>
          <a:lstStyle/>
          <a:p>
            <a:r>
              <a:rPr lang="en-US"/>
              <a:t>© 2025 University of Phoenix</a:t>
            </a:r>
          </a:p>
        </p:txBody>
      </p:sp>
      <p:sp>
        <p:nvSpPr>
          <p:cNvPr id="4" name="Gap card"/>
          <p:cNvSpPr/>
          <p:nvPr/>
        </p:nvSpPr>
        <p:spPr>
          <a:xfrm>
            <a:off x="530352" y="1280160"/>
            <a:ext cx="6812280" cy="1536192"/>
          </a:xfrm>
          <a:prstGeom prst="rect">
            <a:avLst/>
          </a:prstGeom>
          <a:solidFill>
            <a:srgbClr val="EEF2F4"/>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09728" tIns="73152" rIns="109728" bIns="73152"/>
          <a:lstStyle/>
          <a:p>
            <a:pPr algn="ctr"/>
          </a:p>
        </p:txBody>
      </p:sp>
      <p:sp>
        <p:nvSpPr>
          <p:cNvPr id="5" name="Number badge"/>
          <p:cNvSpPr/>
          <p:nvPr/>
        </p:nvSpPr>
        <p:spPr>
          <a:xfrm>
            <a:off x="685800" y="1819655"/>
            <a:ext cx="457200" cy="457200"/>
          </a:xfrm>
          <a:prstGeom prst="ellipse">
            <a:avLst/>
          </a:prstGeom>
          <a:solidFill>
            <a:srgbClr val="DB3724"/>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0" tIns="0" rIns="0" bIns="0"/>
          <a:lstStyle/>
          <a:p>
            <a:pPr algn="ctr" marL="0" indent="0">
              <a:spcBef>
                <a:spcPts val="0"/>
              </a:spcBef>
              <a:spcAft>
                <a:spcPts val="400"/>
              </a:spcAft>
              <a:buNone/>
            </a:pPr>
            <a:r>
              <a:rPr sz="1600" b="1" i="0">
                <a:solidFill>
                  <a:srgbClr val="FFFFFF"/>
                </a:solidFill>
              </a:rPr>
              <a:t>1</a:t>
            </a:r>
          </a:p>
        </p:txBody>
      </p:sp>
      <p:sp>
        <p:nvSpPr>
          <p:cNvPr id="6" name="Gap text"/>
          <p:cNvSpPr txBox="1"/>
          <p:nvPr/>
        </p:nvSpPr>
        <p:spPr>
          <a:xfrm>
            <a:off x="1325880" y="1280160"/>
            <a:ext cx="5852160" cy="1536192"/>
          </a:xfrm>
          <a:prstGeom prst="rect">
            <a:avLst/>
          </a:prstGeom>
          <a:noFill/>
        </p:spPr>
        <p:txBody>
          <a:bodyPr wrap="square" anchor="ctr" lIns="0" tIns="0" rIns="0" bIns="0">
            <a:spAutoFit/>
          </a:bodyPr>
          <a:lstStyle/>
          <a:p>
            <a:pPr algn="l" marL="0" indent="0">
              <a:spcBef>
                <a:spcPts val="0"/>
              </a:spcBef>
              <a:spcAft>
                <a:spcPts val="300"/>
              </a:spcAft>
              <a:buNone/>
            </a:pPr>
            <a:r>
              <a:rPr sz="1700" b="1" i="0">
                <a:solidFill>
                  <a:srgbClr val="001823"/>
                </a:solidFill>
              </a:rPr>
              <a:t>Siloed AI and data</a:t>
            </a:r>
          </a:p>
          <a:p>
            <a:pPr algn="l" marL="0" indent="0">
              <a:spcBef>
                <a:spcPts val="0"/>
              </a:spcBef>
              <a:spcAft>
                <a:spcPts val="400"/>
              </a:spcAft>
              <a:buNone/>
            </a:pPr>
            <a:r>
              <a:rPr sz="1500" b="0" i="0">
                <a:solidFill>
                  <a:srgbClr val="001823"/>
                </a:solidFill>
              </a:rPr>
              <a:t>Five standalone divisions advance AI separately: robotics (Supply Chain), item recognition (Express), Alibaba agentic-AI pilot (Global Forwarding). Risk: duplicate spend and inconsistent standards.</a:t>
            </a:r>
          </a:p>
        </p:txBody>
      </p:sp>
      <p:sp>
        <p:nvSpPr>
          <p:cNvPr id="7" name="Gap card"/>
          <p:cNvSpPr/>
          <p:nvPr/>
        </p:nvSpPr>
        <p:spPr>
          <a:xfrm>
            <a:off x="530352" y="2926080"/>
            <a:ext cx="6812280" cy="1536192"/>
          </a:xfrm>
          <a:prstGeom prst="rect">
            <a:avLst/>
          </a:prstGeom>
          <a:solidFill>
            <a:srgbClr val="EEF2F4"/>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09728" tIns="73152" rIns="109728" bIns="73152"/>
          <a:lstStyle/>
          <a:p>
            <a:pPr algn="ctr"/>
          </a:p>
        </p:txBody>
      </p:sp>
      <p:sp>
        <p:nvSpPr>
          <p:cNvPr id="8" name="Number badge"/>
          <p:cNvSpPr/>
          <p:nvPr/>
        </p:nvSpPr>
        <p:spPr>
          <a:xfrm>
            <a:off x="685800" y="3465576"/>
            <a:ext cx="457200" cy="457200"/>
          </a:xfrm>
          <a:prstGeom prst="ellipse">
            <a:avLst/>
          </a:prstGeom>
          <a:solidFill>
            <a:srgbClr val="DB3724"/>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0" tIns="0" rIns="0" bIns="0"/>
          <a:lstStyle/>
          <a:p>
            <a:pPr algn="ctr" marL="0" indent="0">
              <a:spcBef>
                <a:spcPts val="0"/>
              </a:spcBef>
              <a:spcAft>
                <a:spcPts val="400"/>
              </a:spcAft>
              <a:buNone/>
            </a:pPr>
            <a:r>
              <a:rPr sz="1600" b="1" i="0">
                <a:solidFill>
                  <a:srgbClr val="FFFFFF"/>
                </a:solidFill>
              </a:rPr>
              <a:t>2</a:t>
            </a:r>
          </a:p>
        </p:txBody>
      </p:sp>
      <p:sp>
        <p:nvSpPr>
          <p:cNvPr id="9" name="Gap text"/>
          <p:cNvSpPr txBox="1"/>
          <p:nvPr/>
        </p:nvSpPr>
        <p:spPr>
          <a:xfrm>
            <a:off x="1325880" y="2926080"/>
            <a:ext cx="5852160" cy="1536192"/>
          </a:xfrm>
          <a:prstGeom prst="rect">
            <a:avLst/>
          </a:prstGeom>
          <a:noFill/>
        </p:spPr>
        <p:txBody>
          <a:bodyPr wrap="square" anchor="ctr" lIns="0" tIns="0" rIns="0" bIns="0">
            <a:spAutoFit/>
          </a:bodyPr>
          <a:lstStyle/>
          <a:p>
            <a:pPr algn="l" marL="0" indent="0">
              <a:spcBef>
                <a:spcPts val="0"/>
              </a:spcBef>
              <a:spcAft>
                <a:spcPts val="300"/>
              </a:spcAft>
              <a:buNone/>
            </a:pPr>
            <a:r>
              <a:rPr sz="1700" b="1" i="0">
                <a:solidFill>
                  <a:srgbClr val="001823"/>
                </a:solidFill>
              </a:rPr>
              <a:t>Governance still catching up</a:t>
            </a:r>
          </a:p>
          <a:p>
            <a:pPr algn="l" marL="0" indent="0">
              <a:spcBef>
                <a:spcPts val="0"/>
              </a:spcBef>
              <a:spcAft>
                <a:spcPts val="400"/>
              </a:spcAft>
              <a:buNone/>
            </a:pPr>
            <a:r>
              <a:rPr sz="1500" b="0" i="0">
                <a:solidFill>
                  <a:srgbClr val="001823"/>
                </a:solidFill>
              </a:rPr>
              <a:t>A single Group-wide AI governance framework is still being built: a Head of Global Legal AI Governance started in July 2026, while pilots are already live.</a:t>
            </a:r>
          </a:p>
        </p:txBody>
      </p:sp>
      <p:sp>
        <p:nvSpPr>
          <p:cNvPr id="10" name="Gap card"/>
          <p:cNvSpPr/>
          <p:nvPr/>
        </p:nvSpPr>
        <p:spPr>
          <a:xfrm>
            <a:off x="530352" y="4572000"/>
            <a:ext cx="6812280" cy="1536192"/>
          </a:xfrm>
          <a:prstGeom prst="rect">
            <a:avLst/>
          </a:prstGeom>
          <a:solidFill>
            <a:srgbClr val="EEF2F4"/>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09728" tIns="73152" rIns="109728" bIns="73152"/>
          <a:lstStyle/>
          <a:p>
            <a:pPr algn="ctr"/>
          </a:p>
        </p:txBody>
      </p:sp>
      <p:sp>
        <p:nvSpPr>
          <p:cNvPr id="11" name="Number badge"/>
          <p:cNvSpPr/>
          <p:nvPr/>
        </p:nvSpPr>
        <p:spPr>
          <a:xfrm>
            <a:off x="685800" y="5111496"/>
            <a:ext cx="457200" cy="457200"/>
          </a:xfrm>
          <a:prstGeom prst="ellipse">
            <a:avLst/>
          </a:prstGeom>
          <a:solidFill>
            <a:srgbClr val="DB3724"/>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0" tIns="0" rIns="0" bIns="0"/>
          <a:lstStyle/>
          <a:p>
            <a:pPr algn="ctr" marL="0" indent="0">
              <a:spcBef>
                <a:spcPts val="0"/>
              </a:spcBef>
              <a:spcAft>
                <a:spcPts val="400"/>
              </a:spcAft>
              <a:buNone/>
            </a:pPr>
            <a:r>
              <a:rPr sz="1600" b="1" i="0">
                <a:solidFill>
                  <a:srgbClr val="FFFFFF"/>
                </a:solidFill>
              </a:rPr>
              <a:t>3</a:t>
            </a:r>
          </a:p>
        </p:txBody>
      </p:sp>
      <p:sp>
        <p:nvSpPr>
          <p:cNvPr id="12" name="Gap text"/>
          <p:cNvSpPr txBox="1"/>
          <p:nvPr/>
        </p:nvSpPr>
        <p:spPr>
          <a:xfrm>
            <a:off x="1325880" y="4572000"/>
            <a:ext cx="5852160" cy="1536192"/>
          </a:xfrm>
          <a:prstGeom prst="rect">
            <a:avLst/>
          </a:prstGeom>
          <a:noFill/>
        </p:spPr>
        <p:txBody>
          <a:bodyPr wrap="square" anchor="ctr" lIns="0" tIns="0" rIns="0" bIns="0">
            <a:spAutoFit/>
          </a:bodyPr>
          <a:lstStyle/>
          <a:p>
            <a:pPr algn="l" marL="0" indent="0">
              <a:spcBef>
                <a:spcPts val="0"/>
              </a:spcBef>
              <a:spcAft>
                <a:spcPts val="300"/>
              </a:spcAft>
              <a:buNone/>
            </a:pPr>
            <a:r>
              <a:rPr sz="1700" b="1" i="0">
                <a:solidFill>
                  <a:srgbClr val="001823"/>
                </a:solidFill>
              </a:rPr>
              <a:t>People investment lags the technology</a:t>
            </a:r>
          </a:p>
          <a:p>
            <a:pPr algn="l" marL="0" indent="0">
              <a:spcBef>
                <a:spcPts val="0"/>
              </a:spcBef>
              <a:spcAft>
                <a:spcPts val="400"/>
              </a:spcAft>
              <a:buNone/>
            </a:pPr>
            <a:r>
              <a:rPr sz="1500" b="0" i="0">
                <a:solidFill>
                  <a:srgbClr val="001823"/>
                </a:solidFill>
              </a:rPr>
              <a:t>Training fell from 6.3M to 5.0M hours in 2025 and about 20% of staff turn over yearly, while DHL expects AI to reshape hundreds of roles.</a:t>
            </a:r>
          </a:p>
        </p:txBody>
      </p:sp>
      <p:sp>
        <p:nvSpPr>
          <p:cNvPr id="13" name="Chart card"/>
          <p:cNvSpPr/>
          <p:nvPr/>
        </p:nvSpPr>
        <p:spPr>
          <a:xfrm>
            <a:off x="7498079" y="1280160"/>
            <a:ext cx="4078224" cy="4828032"/>
          </a:xfrm>
          <a:prstGeom prst="rect">
            <a:avLst/>
          </a:prstGeom>
          <a:solidFill>
            <a:srgbClr val="EEF2F4"/>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09728" tIns="73152" rIns="109728" bIns="73152"/>
          <a:lstStyle/>
          <a:p>
            <a:pPr algn="ctr"/>
          </a:p>
        </p:txBody>
      </p:sp>
      <p:sp>
        <p:nvSpPr>
          <p:cNvPr id="14" name="TextBox 13"/>
          <p:cNvSpPr txBox="1"/>
          <p:nvPr/>
        </p:nvSpPr>
        <p:spPr>
          <a:xfrm>
            <a:off x="7680960" y="1371600"/>
            <a:ext cx="3749039" cy="548640"/>
          </a:xfrm>
          <a:prstGeom prst="rect">
            <a:avLst/>
          </a:prstGeom>
          <a:noFill/>
        </p:spPr>
        <p:txBody>
          <a:bodyPr wrap="square" anchor="t" lIns="0" tIns="0" rIns="0" bIns="0">
            <a:spAutoFit/>
          </a:bodyPr>
          <a:lstStyle/>
          <a:p>
            <a:pPr algn="l" marL="0" indent="0">
              <a:spcBef>
                <a:spcPts val="0"/>
              </a:spcBef>
              <a:spcAft>
                <a:spcPts val="0"/>
              </a:spcAft>
              <a:buNone/>
            </a:pPr>
            <a:r>
              <a:rPr sz="1600" b="1" i="0">
                <a:solidFill>
                  <a:srgbClr val="001823"/>
                </a:solidFill>
              </a:rPr>
              <a:t>Training hours per employee</a:t>
            </a:r>
          </a:p>
          <a:p>
            <a:pPr algn="l" marL="0" indent="0">
              <a:spcBef>
                <a:spcPts val="0"/>
              </a:spcBef>
              <a:spcAft>
                <a:spcPts val="400"/>
              </a:spcAft>
              <a:buNone/>
            </a:pPr>
            <a:r>
              <a:rPr sz="1200" b="0" i="0">
                <a:solidFill>
                  <a:srgbClr val="5E7079"/>
                </a:solidFill>
              </a:rPr>
              <a:t>DHL Group, 2024 vs. 2025</a:t>
            </a:r>
          </a:p>
        </p:txBody>
      </p:sp>
      <p:graphicFrame>
        <p:nvGraphicFramePr>
          <p:cNvPr id="15" name="Chart: training hours"/>
          <p:cNvGraphicFramePr>
            <a:graphicFrameLocks noGrp="1"/>
          </p:cNvGraphicFramePr>
          <p:nvPr/>
        </p:nvGraphicFramePr>
        <p:xfrm>
          <a:off x="7680960" y="1965960"/>
          <a:ext cx="3712463" cy="2651760"/>
        </p:xfrm>
        <a:graphic>
          <a:graphicData uri="http://schemas.openxmlformats.org/drawingml/2006/chart">
            <c:chart xmlns:c="http://schemas.openxmlformats.org/drawingml/2006/chart" r:id="rId3"/>
          </a:graphicData>
        </a:graphic>
      </p:graphicFrame>
      <p:sp>
        <p:nvSpPr>
          <p:cNvPr id="16" name="TextBox 15"/>
          <p:cNvSpPr txBox="1"/>
          <p:nvPr/>
        </p:nvSpPr>
        <p:spPr>
          <a:xfrm>
            <a:off x="7680960" y="4754880"/>
            <a:ext cx="3712463" cy="1280160"/>
          </a:xfrm>
          <a:prstGeom prst="rect">
            <a:avLst/>
          </a:prstGeom>
          <a:noFill/>
        </p:spPr>
        <p:txBody>
          <a:bodyPr wrap="square" anchor="t" lIns="0" tIns="0" rIns="0" bIns="0">
            <a:spAutoFit/>
          </a:bodyPr>
          <a:lstStyle/>
          <a:p>
            <a:pPr algn="l" marL="0" indent="0">
              <a:spcBef>
                <a:spcPts val="0"/>
              </a:spcBef>
              <a:spcAft>
                <a:spcPts val="400"/>
              </a:spcAft>
              <a:buNone/>
            </a:pPr>
            <a:r>
              <a:rPr sz="2000" b="1" i="0">
                <a:solidFill>
                  <a:srgbClr val="DB3724"/>
                </a:solidFill>
              </a:rPr>
              <a:t>−21% </a:t>
            </a:r>
            <a:r>
              <a:rPr sz="1400" b="0" i="0">
                <a:solidFill>
                  <a:srgbClr val="001823"/>
                </a:solidFill>
              </a:rPr>
              <a:t>total training hours (6.3M to 5.0M)</a:t>
            </a:r>
          </a:p>
          <a:p>
            <a:pPr algn="l" marL="0" indent="0">
              <a:spcBef>
                <a:spcPts val="0"/>
              </a:spcBef>
              <a:spcAft>
                <a:spcPts val="400"/>
              </a:spcAft>
              <a:buNone/>
            </a:pPr>
            <a:r>
              <a:rPr sz="2000" b="1" i="0">
                <a:solidFill>
                  <a:srgbClr val="DB3724"/>
                </a:solidFill>
              </a:rPr>
              <a:t>~20% </a:t>
            </a:r>
            <a:r>
              <a:rPr sz="1400" b="0" i="0">
                <a:solidFill>
                  <a:srgbClr val="001823"/>
                </a:solidFill>
              </a:rPr>
              <a:t>of employees left in 2025</a:t>
            </a:r>
          </a:p>
        </p:txBody>
      </p:sp>
      <p:sp>
        <p:nvSpPr>
          <p:cNvPr id="17" name="Source line"/>
          <p:cNvSpPr txBox="1"/>
          <p:nvPr/>
        </p:nvSpPr>
        <p:spPr>
          <a:xfrm>
            <a:off x="530352" y="6291072"/>
            <a:ext cx="11045952" cy="274320"/>
          </a:xfrm>
          <a:prstGeom prst="rect">
            <a:avLst/>
          </a:prstGeom>
          <a:noFill/>
        </p:spPr>
        <p:txBody>
          <a:bodyPr wrap="square" anchor="t" lIns="0" tIns="0" rIns="0" bIns="0">
            <a:spAutoFit/>
          </a:bodyPr>
          <a:lstStyle/>
          <a:p>
            <a:pPr algn="l" marL="0" indent="0">
              <a:spcBef>
                <a:spcPts val="0"/>
              </a:spcBef>
              <a:spcAft>
                <a:spcPts val="400"/>
              </a:spcAft>
              <a:buNone/>
            </a:pPr>
            <a:r>
              <a:rPr sz="1100" b="0" i="0">
                <a:solidFill>
                  <a:srgbClr val="5E7079"/>
                </a:solidFill>
              </a:rPr>
              <a:t>Sources: DHL Group (2026b, 2026c, 2026d, 2026e); Boston Dynamics (2025); Leaders League (2026). Gaps are the presenter's inferences.</a:t>
            </a:r>
          </a:p>
        </p:txBody>
      </p:sp>
    </p:spTree>
    <p:custDataLst>
      <p:tags r:id="rId1"/>
    </p:custDataLst>
    <p:extLst>
      <p:ext uri="{BB962C8B-B14F-4D97-AF65-F5344CB8AC3E}">
        <p14:creationId xmlns:p14="http://schemas.microsoft.com/office/powerpoint/2010/main" val="42023585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6148C1A9-502D-3835-2663-EEA34AD7C4E4}"/>
              </a:ext>
              <a:ext uri="{C183D7F6-B498-43B3-948B-1728B52AA6E4}">
                <adec:decorative xmlns:adec="http://schemas.microsoft.com/office/drawing/2017/decorative" val="0"/>
              </a:ext>
            </a:extLst>
          </p:cNvPr>
          <p:cNvSpPr>
            <a:spLocks noGrp="1"/>
          </p:cNvSpPr>
          <p:nvPr>
            <p:ph type="title"/>
          </p:nvPr>
        </p:nvSpPr>
        <p:spPr/>
        <p:txBody>
          <a:bodyPr/>
          <a:lstStyle/>
          <a:p>
            <a:r>
              <a:rPr lang="en-US" sz="2800"/>
              <a:t>Demographic Trends: Workforce and Customers</a:t>
            </a:r>
          </a:p>
        </p:txBody>
      </p:sp>
      <p:sp>
        <p:nvSpPr>
          <p:cNvPr id="2" name="Footer Placeholder 1">
            <a:extLst>
              <a:ext uri="{FF2B5EF4-FFF2-40B4-BE49-F238E27FC236}">
                <a16:creationId xmlns:a16="http://schemas.microsoft.com/office/drawing/2014/main" id="{26A1DD15-0993-D679-EBD2-29F2952755C9}"/>
              </a:ext>
            </a:extLst>
          </p:cNvPr>
          <p:cNvSpPr>
            <a:spLocks noGrp="1"/>
          </p:cNvSpPr>
          <p:nvPr>
            <p:ph type="ftr" sz="quarter" idx="3"/>
          </p:nvPr>
        </p:nvSpPr>
        <p:spPr/>
        <p:txBody>
          <a:bodyPr/>
          <a:lstStyle/>
          <a:p>
            <a:r>
              <a:rPr lang="en-US"/>
              <a:t>© 2025 University of Phoenix</a:t>
            </a:r>
          </a:p>
        </p:txBody>
      </p:sp>
      <p:sp>
        <p:nvSpPr>
          <p:cNvPr id="4" name="Chart card"/>
          <p:cNvSpPr/>
          <p:nvPr/>
        </p:nvSpPr>
        <p:spPr>
          <a:xfrm>
            <a:off x="530352" y="1280160"/>
            <a:ext cx="3611880" cy="2971800"/>
          </a:xfrm>
          <a:prstGeom prst="rect">
            <a:avLst/>
          </a:prstGeom>
          <a:solidFill>
            <a:srgbClr val="EEF2F4"/>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09728" tIns="73152" rIns="109728" bIns="73152"/>
          <a:lstStyle/>
          <a:p>
            <a:pPr algn="ctr"/>
          </a:p>
        </p:txBody>
      </p:sp>
      <p:sp>
        <p:nvSpPr>
          <p:cNvPr id="5" name="TextBox 4"/>
          <p:cNvSpPr txBox="1"/>
          <p:nvPr/>
        </p:nvSpPr>
        <p:spPr>
          <a:xfrm>
            <a:off x="685800" y="1353312"/>
            <a:ext cx="3337560" cy="502920"/>
          </a:xfrm>
          <a:prstGeom prst="rect">
            <a:avLst/>
          </a:prstGeom>
          <a:noFill/>
        </p:spPr>
        <p:txBody>
          <a:bodyPr wrap="square" anchor="t" lIns="0" tIns="0" rIns="0" bIns="0">
            <a:spAutoFit/>
          </a:bodyPr>
          <a:lstStyle/>
          <a:p>
            <a:pPr algn="l" marL="0" indent="0">
              <a:spcBef>
                <a:spcPts val="0"/>
              </a:spcBef>
              <a:spcAft>
                <a:spcPts val="0"/>
              </a:spcAft>
              <a:buNone/>
            </a:pPr>
            <a:r>
              <a:rPr sz="1600" b="1" i="0">
                <a:solidFill>
                  <a:srgbClr val="001823"/>
                </a:solidFill>
              </a:rPr>
              <a:t>Workforce by age, 2025</a:t>
            </a:r>
          </a:p>
          <a:p>
            <a:pPr algn="l" marL="0" indent="0">
              <a:spcBef>
                <a:spcPts val="0"/>
              </a:spcBef>
              <a:spcAft>
                <a:spcPts val="400"/>
              </a:spcAft>
              <a:buNone/>
            </a:pPr>
            <a:r>
              <a:rPr sz="1200" b="0" i="0">
                <a:solidFill>
                  <a:srgbClr val="5E7079"/>
                </a:solidFill>
              </a:rPr>
              <a:t>Average age: 41 years</a:t>
            </a:r>
          </a:p>
        </p:txBody>
      </p:sp>
      <p:graphicFrame>
        <p:nvGraphicFramePr>
          <p:cNvPr id="6" name="Chart: workforce age"/>
          <p:cNvGraphicFramePr>
            <a:graphicFrameLocks noGrp="1"/>
          </p:cNvGraphicFramePr>
          <p:nvPr/>
        </p:nvGraphicFramePr>
        <p:xfrm>
          <a:off x="621792" y="1828800"/>
          <a:ext cx="3429000" cy="2377440"/>
        </p:xfrm>
        <a:graphic>
          <a:graphicData uri="http://schemas.openxmlformats.org/drawingml/2006/chart">
            <c:chart xmlns:c="http://schemas.openxmlformats.org/drawingml/2006/chart" r:id="rId4"/>
          </a:graphicData>
        </a:graphic>
      </p:graphicFrame>
      <p:sp>
        <p:nvSpPr>
          <p:cNvPr id="7" name="Facts card"/>
          <p:cNvSpPr/>
          <p:nvPr/>
        </p:nvSpPr>
        <p:spPr>
          <a:xfrm>
            <a:off x="4251960" y="1280160"/>
            <a:ext cx="3611880" cy="2971800"/>
          </a:xfrm>
          <a:prstGeom prst="rect">
            <a:avLst/>
          </a:prstGeom>
          <a:solidFill>
            <a:srgbClr val="EEF2F4"/>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09728" tIns="73152" rIns="109728" bIns="73152"/>
          <a:lstStyle/>
          <a:p>
            <a:pPr algn="ctr"/>
          </a:p>
        </p:txBody>
      </p:sp>
      <p:sp>
        <p:nvSpPr>
          <p:cNvPr id="8" name="TextBox 7"/>
          <p:cNvSpPr txBox="1"/>
          <p:nvPr/>
        </p:nvSpPr>
        <p:spPr>
          <a:xfrm>
            <a:off x="4407408" y="1353312"/>
            <a:ext cx="3337560" cy="320040"/>
          </a:xfrm>
          <a:prstGeom prst="rect">
            <a:avLst/>
          </a:prstGeom>
          <a:noFill/>
        </p:spPr>
        <p:txBody>
          <a:bodyPr wrap="square" anchor="t" lIns="0" tIns="0" rIns="0" bIns="0">
            <a:spAutoFit/>
          </a:bodyPr>
          <a:lstStyle/>
          <a:p>
            <a:pPr algn="l" marL="0" indent="0">
              <a:spcBef>
                <a:spcPts val="0"/>
              </a:spcBef>
              <a:spcAft>
                <a:spcPts val="400"/>
              </a:spcAft>
              <a:buNone/>
            </a:pPr>
            <a:r>
              <a:rPr sz="1600" b="1" i="0">
                <a:solidFill>
                  <a:srgbClr val="001823"/>
                </a:solidFill>
              </a:rPr>
              <a:t>Inside the workforce</a:t>
            </a:r>
          </a:p>
        </p:txBody>
      </p:sp>
      <p:sp>
        <p:nvSpPr>
          <p:cNvPr id="9" name="TextBox 8"/>
          <p:cNvSpPr txBox="1"/>
          <p:nvPr/>
        </p:nvSpPr>
        <p:spPr>
          <a:xfrm>
            <a:off x="4407408" y="1755648"/>
            <a:ext cx="1051560" cy="731520"/>
          </a:xfrm>
          <a:prstGeom prst="rect">
            <a:avLst/>
          </a:prstGeom>
          <a:noFill/>
        </p:spPr>
        <p:txBody>
          <a:bodyPr wrap="square" anchor="ctr" lIns="0" tIns="0" rIns="0" bIns="0">
            <a:spAutoFit/>
          </a:bodyPr>
          <a:lstStyle/>
          <a:p>
            <a:pPr algn="l" marL="0" indent="0">
              <a:spcBef>
                <a:spcPts val="0"/>
              </a:spcBef>
              <a:spcAft>
                <a:spcPts val="400"/>
              </a:spcAft>
              <a:buNone/>
            </a:pPr>
            <a:r>
              <a:rPr sz="2400" b="1" i="0">
                <a:solidFill>
                  <a:srgbClr val="DB3724"/>
                </a:solidFill>
              </a:rPr>
              <a:t>44%</a:t>
            </a:r>
          </a:p>
        </p:txBody>
      </p:sp>
      <p:sp>
        <p:nvSpPr>
          <p:cNvPr id="10" name="TextBox 9"/>
          <p:cNvSpPr txBox="1"/>
          <p:nvPr/>
        </p:nvSpPr>
        <p:spPr>
          <a:xfrm>
            <a:off x="5486400" y="1755648"/>
            <a:ext cx="2286000" cy="731520"/>
          </a:xfrm>
          <a:prstGeom prst="rect">
            <a:avLst/>
          </a:prstGeom>
          <a:noFill/>
        </p:spPr>
        <p:txBody>
          <a:bodyPr wrap="square" anchor="ctr" lIns="0" tIns="0" rIns="0" bIns="0">
            <a:spAutoFit/>
          </a:bodyPr>
          <a:lstStyle/>
          <a:p>
            <a:pPr algn="l" marL="0" indent="0">
              <a:spcBef>
                <a:spcPts val="0"/>
              </a:spcBef>
              <a:spcAft>
                <a:spcPts val="400"/>
              </a:spcAft>
              <a:buNone/>
            </a:pPr>
            <a:r>
              <a:rPr sz="1300" b="0" i="0">
                <a:solidFill>
                  <a:srgbClr val="001823"/>
                </a:solidFill>
              </a:rPr>
              <a:t>of middle and upper managers are over 50</a:t>
            </a:r>
          </a:p>
        </p:txBody>
      </p:sp>
      <p:sp>
        <p:nvSpPr>
          <p:cNvPr id="11" name="TextBox 10"/>
          <p:cNvSpPr txBox="1"/>
          <p:nvPr/>
        </p:nvSpPr>
        <p:spPr>
          <a:xfrm>
            <a:off x="4407408" y="2587752"/>
            <a:ext cx="1051560" cy="731520"/>
          </a:xfrm>
          <a:prstGeom prst="rect">
            <a:avLst/>
          </a:prstGeom>
          <a:noFill/>
        </p:spPr>
        <p:txBody>
          <a:bodyPr wrap="square" anchor="ctr" lIns="0" tIns="0" rIns="0" bIns="0">
            <a:spAutoFit/>
          </a:bodyPr>
          <a:lstStyle/>
          <a:p>
            <a:pPr algn="l" marL="0" indent="0">
              <a:spcBef>
                <a:spcPts val="0"/>
              </a:spcBef>
              <a:spcAft>
                <a:spcPts val="400"/>
              </a:spcAft>
              <a:buNone/>
            </a:pPr>
            <a:r>
              <a:rPr sz="2400" b="1" i="0">
                <a:solidFill>
                  <a:srgbClr val="DB3724"/>
                </a:solidFill>
              </a:rPr>
              <a:t>29.0%</a:t>
            </a:r>
          </a:p>
        </p:txBody>
      </p:sp>
      <p:sp>
        <p:nvSpPr>
          <p:cNvPr id="12" name="TextBox 11"/>
          <p:cNvSpPr txBox="1"/>
          <p:nvPr/>
        </p:nvSpPr>
        <p:spPr>
          <a:xfrm>
            <a:off x="5486400" y="2587752"/>
            <a:ext cx="2286000" cy="731520"/>
          </a:xfrm>
          <a:prstGeom prst="rect">
            <a:avLst/>
          </a:prstGeom>
          <a:noFill/>
        </p:spPr>
        <p:txBody>
          <a:bodyPr wrap="square" anchor="ctr" lIns="0" tIns="0" rIns="0" bIns="0">
            <a:spAutoFit/>
          </a:bodyPr>
          <a:lstStyle/>
          <a:p>
            <a:pPr algn="l" marL="0" indent="0">
              <a:spcBef>
                <a:spcPts val="0"/>
              </a:spcBef>
              <a:spcAft>
                <a:spcPts val="400"/>
              </a:spcAft>
              <a:buNone/>
            </a:pPr>
            <a:r>
              <a:rPr sz="1300" b="0" i="0">
                <a:solidFill>
                  <a:srgbClr val="001823"/>
                </a:solidFill>
              </a:rPr>
              <a:t>women in management vs. 34% goal for 2030</a:t>
            </a:r>
          </a:p>
        </p:txBody>
      </p:sp>
      <p:sp>
        <p:nvSpPr>
          <p:cNvPr id="13" name="TextBox 12"/>
          <p:cNvSpPr txBox="1"/>
          <p:nvPr/>
        </p:nvSpPr>
        <p:spPr>
          <a:xfrm>
            <a:off x="4407408" y="3419856"/>
            <a:ext cx="1051560" cy="731520"/>
          </a:xfrm>
          <a:prstGeom prst="rect">
            <a:avLst/>
          </a:prstGeom>
          <a:noFill/>
        </p:spPr>
        <p:txBody>
          <a:bodyPr wrap="square" anchor="ctr" lIns="0" tIns="0" rIns="0" bIns="0">
            <a:spAutoFit/>
          </a:bodyPr>
          <a:lstStyle/>
          <a:p>
            <a:pPr algn="l" marL="0" indent="0">
              <a:spcBef>
                <a:spcPts val="0"/>
              </a:spcBef>
              <a:spcAft>
                <a:spcPts val="400"/>
              </a:spcAft>
              <a:buNone/>
            </a:pPr>
            <a:r>
              <a:rPr sz="2400" b="1" i="0">
                <a:solidFill>
                  <a:srgbClr val="DB3724"/>
                </a:solidFill>
              </a:rPr>
              <a:t>36%</a:t>
            </a:r>
          </a:p>
        </p:txBody>
      </p:sp>
      <p:sp>
        <p:nvSpPr>
          <p:cNvPr id="14" name="TextBox 13"/>
          <p:cNvSpPr txBox="1"/>
          <p:nvPr/>
        </p:nvSpPr>
        <p:spPr>
          <a:xfrm>
            <a:off x="5486400" y="3419856"/>
            <a:ext cx="2286000" cy="731520"/>
          </a:xfrm>
          <a:prstGeom prst="rect">
            <a:avLst/>
          </a:prstGeom>
          <a:noFill/>
        </p:spPr>
        <p:txBody>
          <a:bodyPr wrap="square" anchor="ctr" lIns="0" tIns="0" rIns="0" bIns="0">
            <a:spAutoFit/>
          </a:bodyPr>
          <a:lstStyle/>
          <a:p>
            <a:pPr algn="l" marL="0" indent="0">
              <a:spcBef>
                <a:spcPts val="0"/>
              </a:spcBef>
              <a:spcAft>
                <a:spcPts val="400"/>
              </a:spcAft>
              <a:buNone/>
            </a:pPr>
            <a:r>
              <a:rPr sz="1300" b="0" i="0">
                <a:solidFill>
                  <a:srgbClr val="001823"/>
                </a:solidFill>
              </a:rPr>
              <a:t>of staff are in Germany, where 1 in 4 residents will be 67+ by 2035</a:t>
            </a:r>
          </a:p>
        </p:txBody>
      </p:sp>
      <p:sp>
        <p:nvSpPr>
          <p:cNvPr id="15" name="Customers card"/>
          <p:cNvSpPr/>
          <p:nvPr/>
        </p:nvSpPr>
        <p:spPr>
          <a:xfrm>
            <a:off x="7973568" y="1280160"/>
            <a:ext cx="3602736" cy="2971800"/>
          </a:xfrm>
          <a:prstGeom prst="rect">
            <a:avLst/>
          </a:prstGeom>
          <a:solidFill>
            <a:srgbClr val="EEF2F4"/>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09728" tIns="73152" rIns="109728" bIns="73152"/>
          <a:lstStyle/>
          <a:p>
            <a:pPr algn="ctr"/>
          </a:p>
        </p:txBody>
      </p:sp>
      <p:sp>
        <p:nvSpPr>
          <p:cNvPr id="16" name="TextBox 15"/>
          <p:cNvSpPr txBox="1"/>
          <p:nvPr/>
        </p:nvSpPr>
        <p:spPr>
          <a:xfrm>
            <a:off x="8129016" y="1353312"/>
            <a:ext cx="3337560" cy="320040"/>
          </a:xfrm>
          <a:prstGeom prst="rect">
            <a:avLst/>
          </a:prstGeom>
          <a:noFill/>
        </p:spPr>
        <p:txBody>
          <a:bodyPr wrap="square" anchor="t" lIns="0" tIns="0" rIns="0" bIns="0">
            <a:spAutoFit/>
          </a:bodyPr>
          <a:lstStyle/>
          <a:p>
            <a:pPr algn="l" marL="0" indent="0">
              <a:spcBef>
                <a:spcPts val="0"/>
              </a:spcBef>
              <a:spcAft>
                <a:spcPts val="400"/>
              </a:spcAft>
              <a:buNone/>
            </a:pPr>
            <a:r>
              <a:rPr sz="1600" b="1" i="0">
                <a:solidFill>
                  <a:srgbClr val="001823"/>
                </a:solidFill>
              </a:rPr>
              <a:t>Among customers</a:t>
            </a:r>
          </a:p>
        </p:txBody>
      </p:sp>
      <p:sp>
        <p:nvSpPr>
          <p:cNvPr id="17" name="TextBox 16"/>
          <p:cNvSpPr txBox="1"/>
          <p:nvPr/>
        </p:nvSpPr>
        <p:spPr>
          <a:xfrm>
            <a:off x="8129016" y="1755648"/>
            <a:ext cx="868680" cy="566928"/>
          </a:xfrm>
          <a:prstGeom prst="rect">
            <a:avLst/>
          </a:prstGeom>
          <a:noFill/>
        </p:spPr>
        <p:txBody>
          <a:bodyPr wrap="square" anchor="ctr" lIns="0" tIns="0" rIns="0" bIns="0">
            <a:spAutoFit/>
          </a:bodyPr>
          <a:lstStyle/>
          <a:p>
            <a:pPr algn="l" marL="0" indent="0">
              <a:spcBef>
                <a:spcPts val="0"/>
              </a:spcBef>
              <a:spcAft>
                <a:spcPts val="400"/>
              </a:spcAft>
              <a:buNone/>
            </a:pPr>
            <a:r>
              <a:rPr sz="2000" b="1" i="0">
                <a:solidFill>
                  <a:srgbClr val="DB3724"/>
                </a:solidFill>
              </a:rPr>
              <a:t>58%</a:t>
            </a:r>
          </a:p>
        </p:txBody>
      </p:sp>
      <p:sp>
        <p:nvSpPr>
          <p:cNvPr id="18" name="TextBox 17"/>
          <p:cNvSpPr txBox="1"/>
          <p:nvPr/>
        </p:nvSpPr>
        <p:spPr>
          <a:xfrm>
            <a:off x="9034272" y="1755648"/>
            <a:ext cx="2468880" cy="566928"/>
          </a:xfrm>
          <a:prstGeom prst="rect">
            <a:avLst/>
          </a:prstGeom>
          <a:noFill/>
        </p:spPr>
        <p:txBody>
          <a:bodyPr wrap="square" anchor="ctr" lIns="0" tIns="0" rIns="0" bIns="0">
            <a:spAutoFit/>
          </a:bodyPr>
          <a:lstStyle/>
          <a:p>
            <a:pPr algn="l" marL="0" indent="0">
              <a:spcBef>
                <a:spcPts val="0"/>
              </a:spcBef>
              <a:spcAft>
                <a:spcPts val="400"/>
              </a:spcAft>
              <a:buNone/>
            </a:pPr>
            <a:r>
              <a:rPr sz="1300" b="0" i="0">
                <a:solidFill>
                  <a:srgbClr val="001823"/>
                </a:solidFill>
              </a:rPr>
              <a:t>of Gen Z have bought via TikTok</a:t>
            </a:r>
          </a:p>
        </p:txBody>
      </p:sp>
      <p:sp>
        <p:nvSpPr>
          <p:cNvPr id="19" name="TextBox 18"/>
          <p:cNvSpPr txBox="1"/>
          <p:nvPr/>
        </p:nvSpPr>
        <p:spPr>
          <a:xfrm>
            <a:off x="8129016" y="2377440"/>
            <a:ext cx="868680" cy="566928"/>
          </a:xfrm>
          <a:prstGeom prst="rect">
            <a:avLst/>
          </a:prstGeom>
          <a:noFill/>
        </p:spPr>
        <p:txBody>
          <a:bodyPr wrap="square" anchor="ctr" lIns="0" tIns="0" rIns="0" bIns="0">
            <a:spAutoFit/>
          </a:bodyPr>
          <a:lstStyle/>
          <a:p>
            <a:pPr algn="l" marL="0" indent="0">
              <a:spcBef>
                <a:spcPts val="0"/>
              </a:spcBef>
              <a:spcAft>
                <a:spcPts val="400"/>
              </a:spcAft>
              <a:buNone/>
            </a:pPr>
            <a:r>
              <a:rPr sz="2000" b="1" i="0">
                <a:solidFill>
                  <a:srgbClr val="DB3724"/>
                </a:solidFill>
              </a:rPr>
              <a:t>53%</a:t>
            </a:r>
          </a:p>
        </p:txBody>
      </p:sp>
      <p:sp>
        <p:nvSpPr>
          <p:cNvPr id="20" name="TextBox 19"/>
          <p:cNvSpPr txBox="1"/>
          <p:nvPr/>
        </p:nvSpPr>
        <p:spPr>
          <a:xfrm>
            <a:off x="9034272" y="2377440"/>
            <a:ext cx="2468880" cy="566928"/>
          </a:xfrm>
          <a:prstGeom prst="rect">
            <a:avLst/>
          </a:prstGeom>
          <a:noFill/>
        </p:spPr>
        <p:txBody>
          <a:bodyPr wrap="square" anchor="ctr" lIns="0" tIns="0" rIns="0" bIns="0">
            <a:spAutoFit/>
          </a:bodyPr>
          <a:lstStyle/>
          <a:p>
            <a:pPr algn="l" marL="0" indent="0">
              <a:spcBef>
                <a:spcPts val="0"/>
              </a:spcBef>
              <a:spcAft>
                <a:spcPts val="400"/>
              </a:spcAft>
              <a:buNone/>
            </a:pPr>
            <a:r>
              <a:rPr sz="1300" b="0" i="0">
                <a:solidFill>
                  <a:srgbClr val="001823"/>
                </a:solidFill>
              </a:rPr>
              <a:t>of Gen Z and Millennials shop cross-border monthly</a:t>
            </a:r>
          </a:p>
        </p:txBody>
      </p:sp>
      <p:sp>
        <p:nvSpPr>
          <p:cNvPr id="21" name="TextBox 20"/>
          <p:cNvSpPr txBox="1"/>
          <p:nvPr/>
        </p:nvSpPr>
        <p:spPr>
          <a:xfrm>
            <a:off x="8129016" y="2999232"/>
            <a:ext cx="868680" cy="566928"/>
          </a:xfrm>
          <a:prstGeom prst="rect">
            <a:avLst/>
          </a:prstGeom>
          <a:noFill/>
        </p:spPr>
        <p:txBody>
          <a:bodyPr wrap="square" anchor="ctr" lIns="0" tIns="0" rIns="0" bIns="0">
            <a:spAutoFit/>
          </a:bodyPr>
          <a:lstStyle/>
          <a:p>
            <a:pPr algn="l" marL="0" indent="0">
              <a:spcBef>
                <a:spcPts val="0"/>
              </a:spcBef>
              <a:spcAft>
                <a:spcPts val="400"/>
              </a:spcAft>
              <a:buNone/>
            </a:pPr>
            <a:r>
              <a:rPr sz="2000" b="1" i="0">
                <a:solidFill>
                  <a:srgbClr val="DB3724"/>
                </a:solidFill>
              </a:rPr>
              <a:t>55%</a:t>
            </a:r>
          </a:p>
        </p:txBody>
      </p:sp>
      <p:sp>
        <p:nvSpPr>
          <p:cNvPr id="22" name="TextBox 21"/>
          <p:cNvSpPr txBox="1"/>
          <p:nvPr/>
        </p:nvSpPr>
        <p:spPr>
          <a:xfrm>
            <a:off x="9034272" y="2999232"/>
            <a:ext cx="2468880" cy="566928"/>
          </a:xfrm>
          <a:prstGeom prst="rect">
            <a:avLst/>
          </a:prstGeom>
          <a:noFill/>
        </p:spPr>
        <p:txBody>
          <a:bodyPr wrap="square" anchor="ctr" lIns="0" tIns="0" rIns="0" bIns="0">
            <a:spAutoFit/>
          </a:bodyPr>
          <a:lstStyle/>
          <a:p>
            <a:pPr algn="l" marL="0" indent="0">
              <a:spcBef>
                <a:spcPts val="0"/>
              </a:spcBef>
              <a:spcAft>
                <a:spcPts val="400"/>
              </a:spcAft>
              <a:buNone/>
            </a:pPr>
            <a:r>
              <a:rPr sz="1300" b="0" i="0">
                <a:solidFill>
                  <a:srgbClr val="001823"/>
                </a:solidFill>
              </a:rPr>
              <a:t>of Boomers prefer out-of-home pick-up</a:t>
            </a:r>
          </a:p>
        </p:txBody>
      </p:sp>
      <p:sp>
        <p:nvSpPr>
          <p:cNvPr id="23" name="TextBox 22"/>
          <p:cNvSpPr txBox="1"/>
          <p:nvPr/>
        </p:nvSpPr>
        <p:spPr>
          <a:xfrm>
            <a:off x="8129016" y="3621024"/>
            <a:ext cx="868680" cy="566928"/>
          </a:xfrm>
          <a:prstGeom prst="rect">
            <a:avLst/>
          </a:prstGeom>
          <a:noFill/>
        </p:spPr>
        <p:txBody>
          <a:bodyPr wrap="square" anchor="ctr" lIns="0" tIns="0" rIns="0" bIns="0">
            <a:spAutoFit/>
          </a:bodyPr>
          <a:lstStyle/>
          <a:p>
            <a:pPr algn="l" marL="0" indent="0">
              <a:spcBef>
                <a:spcPts val="0"/>
              </a:spcBef>
              <a:spcAft>
                <a:spcPts val="400"/>
              </a:spcAft>
              <a:buNone/>
            </a:pPr>
            <a:r>
              <a:rPr sz="2000" b="1" i="0">
                <a:solidFill>
                  <a:srgbClr val="DB3724"/>
                </a:solidFill>
              </a:rPr>
              <a:t>56%</a:t>
            </a:r>
          </a:p>
        </p:txBody>
      </p:sp>
      <p:sp>
        <p:nvSpPr>
          <p:cNvPr id="24" name="TextBox 23"/>
          <p:cNvSpPr txBox="1"/>
          <p:nvPr/>
        </p:nvSpPr>
        <p:spPr>
          <a:xfrm>
            <a:off x="9034272" y="3621024"/>
            <a:ext cx="2468880" cy="566928"/>
          </a:xfrm>
          <a:prstGeom prst="rect">
            <a:avLst/>
          </a:prstGeom>
          <a:noFill/>
        </p:spPr>
        <p:txBody>
          <a:bodyPr wrap="square" anchor="ctr" lIns="0" tIns="0" rIns="0" bIns="0">
            <a:spAutoFit/>
          </a:bodyPr>
          <a:lstStyle/>
          <a:p>
            <a:pPr algn="l" marL="0" indent="0">
              <a:spcBef>
                <a:spcPts val="0"/>
              </a:spcBef>
              <a:spcAft>
                <a:spcPts val="400"/>
              </a:spcAft>
              <a:buNone/>
            </a:pPr>
            <a:r>
              <a:rPr sz="1300" b="0" i="0">
                <a:solidFill>
                  <a:srgbClr val="001823"/>
                </a:solidFill>
              </a:rPr>
              <a:t>of Boomers never use AI chat tools</a:t>
            </a:r>
          </a:p>
        </p:txBody>
      </p:sp>
      <p:sp>
        <p:nvSpPr>
          <p:cNvPr id="25" name="Card: opportunities"/>
          <p:cNvSpPr/>
          <p:nvPr/>
        </p:nvSpPr>
        <p:spPr>
          <a:xfrm>
            <a:off x="530352" y="4370832"/>
            <a:ext cx="5468112" cy="1828800"/>
          </a:xfrm>
          <a:prstGeom prst="rect">
            <a:avLst/>
          </a:prstGeom>
          <a:solidFill>
            <a:srgbClr val="DDE5E9"/>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109728" tIns="73152" rIns="109728" bIns="73152"/>
          <a:lstStyle/>
          <a:p>
            <a:pPr algn="l" marL="0" indent="0">
              <a:spcBef>
                <a:spcPts val="0"/>
              </a:spcBef>
              <a:spcAft>
                <a:spcPts val="300"/>
              </a:spcAft>
              <a:buNone/>
            </a:pPr>
            <a:r>
              <a:rPr sz="1600" b="1" i="0">
                <a:solidFill>
                  <a:srgbClr val="3A4F59"/>
                </a:solidFill>
              </a:rPr>
              <a:t>Opportunities</a:t>
            </a:r>
          </a:p>
          <a:p>
            <a:pPr algn="l" marL="182880" indent="-182880">
              <a:spcBef>
                <a:spcPts val="0"/>
              </a:spcBef>
              <a:spcAft>
                <a:spcPts val="300"/>
              </a:spcAft>
              <a:buChar char="•"/>
            </a:pPr>
            <a:r>
              <a:rPr sz="1500" b="1" i="0">
                <a:solidFill>
                  <a:srgbClr val="001823"/>
                </a:solidFill>
              </a:rPr>
              <a:t>Workforce planning: </a:t>
            </a:r>
            <a:r>
              <a:rPr sz="1500" b="0" i="0">
                <a:solidFill>
                  <a:srgbClr val="001823"/>
                </a:solidFill>
              </a:rPr>
              <a:t>22% under-30 pipeline plus experienced 50+ staff enables mentoring and phased retirement</a:t>
            </a:r>
          </a:p>
          <a:p>
            <a:pPr algn="l" marL="182880" indent="-182880">
              <a:spcBef>
                <a:spcPts val="0"/>
              </a:spcBef>
              <a:spcAft>
                <a:spcPts val="400"/>
              </a:spcAft>
              <a:buChar char="•"/>
            </a:pPr>
            <a:r>
              <a:rPr sz="1500" b="1" i="0">
                <a:solidFill>
                  <a:srgbClr val="001823"/>
                </a:solidFill>
              </a:rPr>
              <a:t>Customer engagement: </a:t>
            </a:r>
            <a:r>
              <a:rPr sz="1500" b="0" i="0">
                <a:solidFill>
                  <a:srgbClr val="001823"/>
                </a:solidFill>
              </a:rPr>
              <a:t>generation-specific services, from social commerce to pick-up points</a:t>
            </a:r>
          </a:p>
        </p:txBody>
      </p:sp>
      <p:sp>
        <p:nvSpPr>
          <p:cNvPr id="26" name="Card: challenges"/>
          <p:cNvSpPr/>
          <p:nvPr/>
        </p:nvSpPr>
        <p:spPr>
          <a:xfrm>
            <a:off x="6108192" y="4370832"/>
            <a:ext cx="5468112" cy="1828800"/>
          </a:xfrm>
          <a:prstGeom prst="rect">
            <a:avLst/>
          </a:prstGeom>
          <a:solidFill>
            <a:srgbClr val="DDE5E9"/>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109728" tIns="73152" rIns="109728" bIns="73152"/>
          <a:lstStyle/>
          <a:p>
            <a:pPr algn="l" marL="0" indent="0">
              <a:spcBef>
                <a:spcPts val="0"/>
              </a:spcBef>
              <a:spcAft>
                <a:spcPts val="300"/>
              </a:spcAft>
              <a:buNone/>
            </a:pPr>
            <a:r>
              <a:rPr sz="1600" b="1" i="0">
                <a:solidFill>
                  <a:srgbClr val="DB3724"/>
                </a:solidFill>
              </a:rPr>
              <a:t>Challenges</a:t>
            </a:r>
          </a:p>
          <a:p>
            <a:pPr algn="l" marL="182880" indent="-182880">
              <a:spcBef>
                <a:spcPts val="0"/>
              </a:spcBef>
              <a:spcAft>
                <a:spcPts val="300"/>
              </a:spcAft>
              <a:buChar char="•"/>
            </a:pPr>
            <a:r>
              <a:rPr sz="1500" b="1" i="0">
                <a:solidFill>
                  <a:srgbClr val="001823"/>
                </a:solidFill>
              </a:rPr>
              <a:t>Workforce planning: </a:t>
            </a:r>
            <a:r>
              <a:rPr sz="1500" b="0" i="0">
                <a:solidFill>
                  <a:srgbClr val="001823"/>
                </a:solidFill>
              </a:rPr>
              <a:t>succession wave in management; ageing home market</a:t>
            </a:r>
          </a:p>
          <a:p>
            <a:pPr algn="l" marL="182880" indent="-182880">
              <a:spcBef>
                <a:spcPts val="0"/>
              </a:spcBef>
              <a:spcAft>
                <a:spcPts val="400"/>
              </a:spcAft>
              <a:buChar char="•"/>
            </a:pPr>
            <a:r>
              <a:rPr sz="1500" b="1" i="0">
                <a:solidFill>
                  <a:srgbClr val="001823"/>
                </a:solidFill>
              </a:rPr>
              <a:t>Customer engagement: </a:t>
            </a:r>
            <a:r>
              <a:rPr sz="1500" b="0" i="0">
                <a:solidFill>
                  <a:srgbClr val="001823"/>
                </a:solidFill>
              </a:rPr>
              <a:t>trust; 58% of shoppers rank privacy as their top AI concern</a:t>
            </a:r>
          </a:p>
        </p:txBody>
      </p:sp>
      <p:sp>
        <p:nvSpPr>
          <p:cNvPr id="27" name="Source line"/>
          <p:cNvSpPr txBox="1"/>
          <p:nvPr/>
        </p:nvSpPr>
        <p:spPr>
          <a:xfrm>
            <a:off x="530352" y="6291072"/>
            <a:ext cx="11045952" cy="274320"/>
          </a:xfrm>
          <a:prstGeom prst="rect">
            <a:avLst/>
          </a:prstGeom>
          <a:noFill/>
        </p:spPr>
        <p:txBody>
          <a:bodyPr wrap="square" anchor="t" lIns="0" tIns="0" rIns="0" bIns="0">
            <a:spAutoFit/>
          </a:bodyPr>
          <a:lstStyle/>
          <a:p>
            <a:pPr algn="l" marL="0" indent="0">
              <a:spcBef>
                <a:spcPts val="0"/>
              </a:spcBef>
              <a:spcAft>
                <a:spcPts val="400"/>
              </a:spcAft>
              <a:buNone/>
            </a:pPr>
            <a:r>
              <a:rPr sz="1100" b="0" i="0">
                <a:solidFill>
                  <a:srgbClr val="5E7079"/>
                </a:solidFill>
              </a:rPr>
              <a:t>Sources: DHL Group (2026e); DHL eCommerce (2026; survey of 29,000 shoppers in 29 countries); Statistisches Bundesamt (2025).</a:t>
            </a:r>
          </a:p>
        </p:txBody>
      </p:sp>
    </p:spTree>
    <p:custDataLst>
      <p:tags r:id="rId1"/>
    </p:custDataLst>
    <p:extLst>
      <p:ext uri="{BB962C8B-B14F-4D97-AF65-F5344CB8AC3E}">
        <p14:creationId xmlns:p14="http://schemas.microsoft.com/office/powerpoint/2010/main" val="187791023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6148C1A9-502D-3835-2663-EEA34AD7C4E4}"/>
              </a:ext>
              <a:ext uri="{C183D7F6-B498-43B3-948B-1728B52AA6E4}">
                <adec:decorative xmlns:adec="http://schemas.microsoft.com/office/drawing/2017/decorative" val="0"/>
              </a:ext>
            </a:extLst>
          </p:cNvPr>
          <p:cNvSpPr>
            <a:spLocks noGrp="1"/>
          </p:cNvSpPr>
          <p:nvPr>
            <p:ph type="title"/>
          </p:nvPr>
        </p:nvSpPr>
        <p:spPr/>
        <p:txBody>
          <a:bodyPr/>
          <a:lstStyle/>
          <a:p>
            <a:r>
              <a:rPr lang="en-US" sz="2800"/>
              <a:t>AI-Driven Demographic Analysis</a:t>
            </a:r>
          </a:p>
        </p:txBody>
      </p:sp>
      <p:sp>
        <p:nvSpPr>
          <p:cNvPr id="2" name="Footer Placeholder 1">
            <a:extLst>
              <a:ext uri="{FF2B5EF4-FFF2-40B4-BE49-F238E27FC236}">
                <a16:creationId xmlns:a16="http://schemas.microsoft.com/office/drawing/2014/main" id="{26A1DD15-0993-D679-EBD2-29F2952755C9}"/>
              </a:ext>
            </a:extLst>
          </p:cNvPr>
          <p:cNvSpPr>
            <a:spLocks noGrp="1"/>
          </p:cNvSpPr>
          <p:nvPr>
            <p:ph type="ftr" sz="quarter" idx="3"/>
          </p:nvPr>
        </p:nvSpPr>
        <p:spPr/>
        <p:txBody>
          <a:bodyPr/>
          <a:lstStyle/>
          <a:p>
            <a:r>
              <a:rPr lang="en-US"/>
              <a:t>© 2025 University of Phoenix</a:t>
            </a:r>
          </a:p>
        </p:txBody>
      </p:sp>
      <p:sp>
        <p:nvSpPr>
          <p:cNvPr id="4" name="Column header"/>
          <p:cNvSpPr/>
          <p:nvPr/>
        </p:nvSpPr>
        <p:spPr>
          <a:xfrm>
            <a:off x="2039112" y="1280160"/>
            <a:ext cx="3099816" cy="457200"/>
          </a:xfrm>
          <a:prstGeom prst="homePlate">
            <a:avLst/>
          </a:prstGeom>
          <a:solidFill>
            <a:srgbClr val="3A4F59"/>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137160" tIns="36576" rIns="274320" bIns="36576"/>
          <a:lstStyle/>
          <a:p>
            <a:pPr algn="l" marL="0" indent="0">
              <a:spcBef>
                <a:spcPts val="0"/>
              </a:spcBef>
              <a:spcAft>
                <a:spcPts val="400"/>
              </a:spcAft>
              <a:buNone/>
            </a:pPr>
            <a:r>
              <a:rPr sz="1600" b="1" i="0">
                <a:solidFill>
                  <a:srgbClr val="FFFFFF"/>
                </a:solidFill>
              </a:rPr>
              <a:t>1. Data in</a:t>
            </a:r>
          </a:p>
        </p:txBody>
      </p:sp>
      <p:sp>
        <p:nvSpPr>
          <p:cNvPr id="5" name="Column header"/>
          <p:cNvSpPr/>
          <p:nvPr/>
        </p:nvSpPr>
        <p:spPr>
          <a:xfrm>
            <a:off x="5257800" y="1280160"/>
            <a:ext cx="3099816" cy="457200"/>
          </a:xfrm>
          <a:prstGeom prst="homePlate">
            <a:avLst/>
          </a:prstGeom>
          <a:solidFill>
            <a:srgbClr val="3A4F59"/>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137160" tIns="36576" rIns="274320" bIns="36576"/>
          <a:lstStyle/>
          <a:p>
            <a:pPr algn="l" marL="0" indent="0">
              <a:spcBef>
                <a:spcPts val="0"/>
              </a:spcBef>
              <a:spcAft>
                <a:spcPts val="400"/>
              </a:spcAft>
              <a:buNone/>
            </a:pPr>
            <a:r>
              <a:rPr sz="1600" b="1" i="0">
                <a:solidFill>
                  <a:srgbClr val="FFFFFF"/>
                </a:solidFill>
              </a:rPr>
              <a:t>2. AI methods</a:t>
            </a:r>
          </a:p>
        </p:txBody>
      </p:sp>
      <p:sp>
        <p:nvSpPr>
          <p:cNvPr id="6" name="Column header"/>
          <p:cNvSpPr/>
          <p:nvPr/>
        </p:nvSpPr>
        <p:spPr>
          <a:xfrm>
            <a:off x="8476488" y="1280160"/>
            <a:ext cx="3099816" cy="457200"/>
          </a:xfrm>
          <a:prstGeom prst="homePlate">
            <a:avLst/>
          </a:prstGeom>
          <a:solidFill>
            <a:srgbClr val="3A4F59"/>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137160" tIns="36576" rIns="274320" bIns="36576"/>
          <a:lstStyle/>
          <a:p>
            <a:pPr algn="l" marL="0" indent="0">
              <a:spcBef>
                <a:spcPts val="0"/>
              </a:spcBef>
              <a:spcAft>
                <a:spcPts val="400"/>
              </a:spcAft>
              <a:buNone/>
            </a:pPr>
            <a:r>
              <a:rPr sz="1600" b="1" i="0">
                <a:solidFill>
                  <a:srgbClr val="FFFFFF"/>
                </a:solidFill>
              </a:rPr>
              <a:t>3. Decisions</a:t>
            </a:r>
          </a:p>
        </p:txBody>
      </p:sp>
      <p:sp>
        <p:nvSpPr>
          <p:cNvPr id="7" name="Lane label"/>
          <p:cNvSpPr/>
          <p:nvPr/>
        </p:nvSpPr>
        <p:spPr>
          <a:xfrm>
            <a:off x="530352" y="1847088"/>
            <a:ext cx="1417320" cy="1627632"/>
          </a:xfrm>
          <a:prstGeom prst="rect">
            <a:avLst/>
          </a:prstGeom>
          <a:solidFill>
            <a:srgbClr val="001823"/>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109728" tIns="73152" rIns="109728" bIns="73152"/>
          <a:lstStyle/>
          <a:p>
            <a:pPr algn="l" marL="0" indent="0">
              <a:spcBef>
                <a:spcPts val="0"/>
              </a:spcBef>
              <a:spcAft>
                <a:spcPts val="400"/>
              </a:spcAft>
              <a:buNone/>
            </a:pPr>
            <a:r>
              <a:rPr sz="1600" b="1" i="0">
                <a:solidFill>
                  <a:srgbClr val="FFFFFF"/>
                </a:solidFill>
              </a:rPr>
              <a:t>Workforce planning</a:t>
            </a:r>
          </a:p>
        </p:txBody>
      </p:sp>
      <p:sp>
        <p:nvSpPr>
          <p:cNvPr id="8" name="Lane cell"/>
          <p:cNvSpPr/>
          <p:nvPr/>
        </p:nvSpPr>
        <p:spPr>
          <a:xfrm>
            <a:off x="2039112" y="1847088"/>
            <a:ext cx="3099816" cy="1627632"/>
          </a:xfrm>
          <a:prstGeom prst="rect">
            <a:avLst/>
          </a:prstGeom>
          <a:solidFill>
            <a:srgbClr val="EEF2F4"/>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109728" tIns="73152" rIns="109728" bIns="73152"/>
          <a:lstStyle/>
          <a:p>
            <a:pPr algn="l" marL="0" indent="0">
              <a:spcBef>
                <a:spcPts val="0"/>
              </a:spcBef>
              <a:spcAft>
                <a:spcPts val="400"/>
              </a:spcAft>
              <a:buNone/>
            </a:pPr>
            <a:r>
              <a:rPr sz="1400" b="0" i="0">
                <a:solidFill>
                  <a:srgbClr val="001823"/>
                </a:solidFill>
              </a:rPr>
              <a:t>Age, tenure, skills, retirement eligibility, attrition, local labor markets</a:t>
            </a:r>
          </a:p>
        </p:txBody>
      </p:sp>
      <p:sp>
        <p:nvSpPr>
          <p:cNvPr id="9" name="Lane cell"/>
          <p:cNvSpPr/>
          <p:nvPr/>
        </p:nvSpPr>
        <p:spPr>
          <a:xfrm>
            <a:off x="5257800" y="1847088"/>
            <a:ext cx="3099816" cy="1627632"/>
          </a:xfrm>
          <a:prstGeom prst="rect">
            <a:avLst/>
          </a:prstGeom>
          <a:solidFill>
            <a:srgbClr val="EEF2F4"/>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109728" tIns="73152" rIns="109728" bIns="73152"/>
          <a:lstStyle/>
          <a:p>
            <a:pPr algn="l" marL="0" indent="0">
              <a:spcBef>
                <a:spcPts val="0"/>
              </a:spcBef>
              <a:spcAft>
                <a:spcPts val="400"/>
              </a:spcAft>
              <a:buNone/>
            </a:pPr>
            <a:r>
              <a:rPr sz="1400" b="0" i="0">
                <a:solidFill>
                  <a:srgbClr val="001823"/>
                </a:solidFill>
              </a:rPr>
              <a:t>Predictive retirement and attrition models; skill-gap clustering; "what if" scenarios</a:t>
            </a:r>
          </a:p>
        </p:txBody>
      </p:sp>
      <p:sp>
        <p:nvSpPr>
          <p:cNvPr id="10" name="Lane cell"/>
          <p:cNvSpPr/>
          <p:nvPr/>
        </p:nvSpPr>
        <p:spPr>
          <a:xfrm>
            <a:off x="8476488" y="1847088"/>
            <a:ext cx="3099816" cy="1627632"/>
          </a:xfrm>
          <a:prstGeom prst="rect">
            <a:avLst/>
          </a:prstGeom>
          <a:solidFill>
            <a:srgbClr val="EEF2F4"/>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109728" tIns="73152" rIns="109728" bIns="73152"/>
          <a:lstStyle/>
          <a:p>
            <a:pPr algn="l" marL="0" indent="0">
              <a:spcBef>
                <a:spcPts val="0"/>
              </a:spcBef>
              <a:spcAft>
                <a:spcPts val="400"/>
              </a:spcAft>
              <a:buNone/>
            </a:pPr>
            <a:r>
              <a:rPr sz="1400" b="0" i="0">
                <a:solidFill>
                  <a:srgbClr val="001823"/>
                </a:solidFill>
              </a:rPr>
              <a:t>Succession pipelines, targeted reskilling, apprenticeships for under-30s, phased retirement and mentoring</a:t>
            </a:r>
          </a:p>
        </p:txBody>
      </p:sp>
      <p:sp>
        <p:nvSpPr>
          <p:cNvPr id="11" name="Lane label"/>
          <p:cNvSpPr/>
          <p:nvPr/>
        </p:nvSpPr>
        <p:spPr>
          <a:xfrm>
            <a:off x="530352" y="3584448"/>
            <a:ext cx="1417320" cy="1627632"/>
          </a:xfrm>
          <a:prstGeom prst="rect">
            <a:avLst/>
          </a:prstGeom>
          <a:solidFill>
            <a:srgbClr val="001823"/>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109728" tIns="73152" rIns="109728" bIns="73152"/>
          <a:lstStyle/>
          <a:p>
            <a:pPr algn="l" marL="0" indent="0">
              <a:spcBef>
                <a:spcPts val="0"/>
              </a:spcBef>
              <a:spcAft>
                <a:spcPts val="400"/>
              </a:spcAft>
              <a:buNone/>
            </a:pPr>
            <a:r>
              <a:rPr sz="1600" b="1" i="0">
                <a:solidFill>
                  <a:srgbClr val="FFFFFF"/>
                </a:solidFill>
              </a:rPr>
              <a:t>Customer engagement</a:t>
            </a:r>
          </a:p>
        </p:txBody>
      </p:sp>
      <p:sp>
        <p:nvSpPr>
          <p:cNvPr id="12" name="Lane cell"/>
          <p:cNvSpPr/>
          <p:nvPr/>
        </p:nvSpPr>
        <p:spPr>
          <a:xfrm>
            <a:off x="2039112" y="3584448"/>
            <a:ext cx="3099816" cy="1627632"/>
          </a:xfrm>
          <a:prstGeom prst="rect">
            <a:avLst/>
          </a:prstGeom>
          <a:solidFill>
            <a:srgbClr val="EEF2F4"/>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109728" tIns="73152" rIns="109728" bIns="73152"/>
          <a:lstStyle/>
          <a:p>
            <a:pPr algn="l" marL="0" indent="0">
              <a:spcBef>
                <a:spcPts val="0"/>
              </a:spcBef>
              <a:spcAft>
                <a:spcPts val="400"/>
              </a:spcAft>
              <a:buNone/>
            </a:pPr>
            <a:r>
              <a:rPr sz="1400" b="0" i="0">
                <a:solidFill>
                  <a:srgbClr val="001823"/>
                </a:solidFill>
              </a:rPr>
              <a:t>Aggregated delivery, return, and channel preferences by region and age cohort; e-commerce volumes</a:t>
            </a:r>
          </a:p>
        </p:txBody>
      </p:sp>
      <p:sp>
        <p:nvSpPr>
          <p:cNvPr id="13" name="Lane cell"/>
          <p:cNvSpPr/>
          <p:nvPr/>
        </p:nvSpPr>
        <p:spPr>
          <a:xfrm>
            <a:off x="5257800" y="3584448"/>
            <a:ext cx="3099816" cy="1627632"/>
          </a:xfrm>
          <a:prstGeom prst="rect">
            <a:avLst/>
          </a:prstGeom>
          <a:solidFill>
            <a:srgbClr val="EEF2F4"/>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109728" tIns="73152" rIns="109728" bIns="73152"/>
          <a:lstStyle/>
          <a:p>
            <a:pPr algn="l" marL="0" indent="0">
              <a:spcBef>
                <a:spcPts val="0"/>
              </a:spcBef>
              <a:spcAft>
                <a:spcPts val="400"/>
              </a:spcAft>
              <a:buNone/>
            </a:pPr>
            <a:r>
              <a:rPr sz="1400" b="0" i="0">
                <a:solidFill>
                  <a:srgbClr val="001823"/>
                </a:solidFill>
              </a:rPr>
              <a:t>Cohort segmentation, demand forecasting, personalization</a:t>
            </a:r>
          </a:p>
        </p:txBody>
      </p:sp>
      <p:sp>
        <p:nvSpPr>
          <p:cNvPr id="14" name="Lane cell"/>
          <p:cNvSpPr/>
          <p:nvPr/>
        </p:nvSpPr>
        <p:spPr>
          <a:xfrm>
            <a:off x="8476488" y="3584448"/>
            <a:ext cx="3099816" cy="1627632"/>
          </a:xfrm>
          <a:prstGeom prst="rect">
            <a:avLst/>
          </a:prstGeom>
          <a:solidFill>
            <a:srgbClr val="EEF2F4"/>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109728" tIns="73152" rIns="109728" bIns="73152"/>
          <a:lstStyle/>
          <a:p>
            <a:pPr algn="l" marL="0" indent="0">
              <a:spcBef>
                <a:spcPts val="0"/>
              </a:spcBef>
              <a:spcAft>
                <a:spcPts val="400"/>
              </a:spcAft>
              <a:buNone/>
            </a:pPr>
            <a:r>
              <a:rPr sz="1400" b="0" i="0">
                <a:solidFill>
                  <a:srgbClr val="001823"/>
                </a:solidFill>
              </a:rPr>
              <a:t>Locker and pick-up point siting; AI chat for digital-first shoppers, human channels for others; SME offers</a:t>
            </a:r>
          </a:p>
        </p:txBody>
      </p:sp>
      <p:sp>
        <p:nvSpPr>
          <p:cNvPr id="15" name="Banner"/>
          <p:cNvSpPr/>
          <p:nvPr/>
        </p:nvSpPr>
        <p:spPr>
          <a:xfrm>
            <a:off x="530352" y="5376672"/>
            <a:ext cx="11045952" cy="804672"/>
          </a:xfrm>
          <a:prstGeom prst="rect">
            <a:avLst/>
          </a:prstGeom>
          <a:solidFill>
            <a:srgbClr val="15333E"/>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109728" tIns="73152" rIns="109728" bIns="73152"/>
          <a:lstStyle/>
          <a:p>
            <a:pPr algn="l" marL="0" indent="0">
              <a:spcBef>
                <a:spcPts val="0"/>
              </a:spcBef>
              <a:spcAft>
                <a:spcPts val="400"/>
              </a:spcAft>
              <a:buNone/>
            </a:pPr>
            <a:r>
              <a:rPr sz="1400" b="1" i="0">
                <a:solidFill>
                  <a:srgbClr val="FFFFFF"/>
                </a:solidFill>
              </a:rPr>
              <a:t>Design choices: </a:t>
            </a:r>
            <a:r>
              <a:rPr sz="1400" b="0" i="0">
                <a:solidFill>
                  <a:srgbClr val="FFFFFF"/>
                </a:solidFill>
              </a:rPr>
              <a:t>analyze aggregated cohorts, not individuals; keep people in the loop. Result: DHL anticipates headcount gaps and demand shifts instead of reacting to them.</a:t>
            </a:r>
          </a:p>
        </p:txBody>
      </p:sp>
      <p:sp>
        <p:nvSpPr>
          <p:cNvPr id="16" name="Source line"/>
          <p:cNvSpPr txBox="1"/>
          <p:nvPr/>
        </p:nvSpPr>
        <p:spPr>
          <a:xfrm>
            <a:off x="530352" y="6291072"/>
            <a:ext cx="11045952" cy="274320"/>
          </a:xfrm>
          <a:prstGeom prst="rect">
            <a:avLst/>
          </a:prstGeom>
          <a:noFill/>
        </p:spPr>
        <p:txBody>
          <a:bodyPr wrap="square" anchor="t" lIns="0" tIns="0" rIns="0" bIns="0">
            <a:spAutoFit/>
          </a:bodyPr>
          <a:lstStyle/>
          <a:p>
            <a:pPr algn="l" marL="0" indent="0">
              <a:spcBef>
                <a:spcPts val="0"/>
              </a:spcBef>
              <a:spcAft>
                <a:spcPts val="400"/>
              </a:spcAft>
              <a:buNone/>
            </a:pPr>
            <a:r>
              <a:rPr sz="1100" b="0" i="0">
                <a:solidFill>
                  <a:srgbClr val="5E7079"/>
                </a:solidFill>
              </a:rPr>
              <a:t>Sources: DHL Group (2026c, 2026e); DHL eCommerce (2026); Economist Enterprise (2026). Method mapping is the presenter's proposal.</a:t>
            </a:r>
          </a:p>
        </p:txBody>
      </p:sp>
    </p:spTree>
    <p:custDataLst>
      <p:tags r:id="rId1"/>
    </p:custDataLst>
    <p:extLst>
      <p:ext uri="{BB962C8B-B14F-4D97-AF65-F5344CB8AC3E}">
        <p14:creationId xmlns:p14="http://schemas.microsoft.com/office/powerpoint/2010/main" val="187791023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6148C1A9-502D-3835-2663-EEA34AD7C4E4}"/>
              </a:ext>
              <a:ext uri="{C183D7F6-B498-43B3-948B-1728B52AA6E4}">
                <adec:decorative xmlns:adec="http://schemas.microsoft.com/office/drawing/2017/decorative" val="0"/>
              </a:ext>
            </a:extLst>
          </p:cNvPr>
          <p:cNvSpPr>
            <a:spLocks noGrp="1"/>
          </p:cNvSpPr>
          <p:nvPr>
            <p:ph type="title"/>
          </p:nvPr>
        </p:nvSpPr>
        <p:spPr/>
        <p:txBody>
          <a:bodyPr/>
          <a:lstStyle/>
          <a:p>
            <a:r>
              <a:rPr lang="en-US" sz="2800"/>
              <a:t>AI Risks, Compliance Impact, and Mitigation</a:t>
            </a:r>
          </a:p>
        </p:txBody>
      </p:sp>
      <p:sp>
        <p:nvSpPr>
          <p:cNvPr id="2" name="Footer Placeholder 1">
            <a:extLst>
              <a:ext uri="{FF2B5EF4-FFF2-40B4-BE49-F238E27FC236}">
                <a16:creationId xmlns:a16="http://schemas.microsoft.com/office/drawing/2014/main" id="{26A1DD15-0993-D679-EBD2-29F2952755C9}"/>
              </a:ext>
            </a:extLst>
          </p:cNvPr>
          <p:cNvSpPr>
            <a:spLocks noGrp="1"/>
          </p:cNvSpPr>
          <p:nvPr>
            <p:ph type="ftr" sz="quarter" idx="3"/>
          </p:nvPr>
        </p:nvSpPr>
        <p:spPr/>
        <p:txBody>
          <a:bodyPr/>
          <a:lstStyle/>
          <a:p>
            <a:r>
              <a:rPr lang="en-US"/>
              <a:t>© 2025 University of Phoenix</a:t>
            </a:r>
          </a:p>
        </p:txBody>
      </p:sp>
      <p:graphicFrame>
        <p:nvGraphicFramePr>
          <p:cNvPr id="4" name="Table: risks"/>
          <p:cNvGraphicFramePr>
            <a:graphicFrameLocks noGrp="1"/>
          </p:cNvGraphicFramePr>
          <p:nvPr/>
        </p:nvGraphicFramePr>
        <p:xfrm>
          <a:off x="530352" y="1280160"/>
          <a:ext cx="11045952" cy="4069080"/>
        </p:xfrm>
        <a:graphic>
          <a:graphicData uri="http://schemas.openxmlformats.org/drawingml/2006/table">
            <a:tbl>
              <a:tblPr firstRow="0" bandRow="0">
                <a:tableStyleId>{5C22544A-7EE6-4342-B048-85BDC9FD1C3A}</a:tableStyleId>
              </a:tblPr>
              <a:tblGrid>
                <a:gridCol w="2743200"/>
                <a:gridCol w="4754880"/>
                <a:gridCol w="3547872"/>
              </a:tblGrid>
              <a:tr h="411480">
                <a:tc>
                  <a:txBody>
                    <a:bodyPr wrap="square"/>
                    <a:lstStyle/>
                    <a:p>
                      <a:pPr algn="l" marL="0" indent="0">
                        <a:spcBef>
                          <a:spcPts val="0"/>
                        </a:spcBef>
                        <a:spcAft>
                          <a:spcPts val="400"/>
                        </a:spcAft>
                        <a:buNone/>
                      </a:pPr>
                      <a:r>
                        <a:rPr sz="1500" b="1" i="0">
                          <a:solidFill>
                            <a:srgbClr val="FFFFFF"/>
                          </a:solidFill>
                        </a:rPr>
                        <a:t>AI risk</a:t>
                      </a:r>
                    </a:p>
                  </a:txBody>
                  <a:tcPr marL="109728" marR="109728" marT="64008" marB="64008" anchor="ctr">
                    <a:solidFill>
                      <a:srgbClr val="001823"/>
                    </a:solidFill>
                  </a:tcPr>
                </a:tc>
                <a:tc>
                  <a:txBody>
                    <a:bodyPr wrap="square"/>
                    <a:lstStyle/>
                    <a:p>
                      <a:pPr algn="l" marL="0" indent="0">
                        <a:spcBef>
                          <a:spcPts val="0"/>
                        </a:spcBef>
                        <a:spcAft>
                          <a:spcPts val="400"/>
                        </a:spcAft>
                        <a:buNone/>
                      </a:pPr>
                      <a:r>
                        <a:rPr sz="1500" b="1" i="0">
                          <a:solidFill>
                            <a:srgbClr val="FFFFFF"/>
                          </a:solidFill>
                        </a:rPr>
                        <a:t>Impact on compliance and relationships</a:t>
                      </a:r>
                    </a:p>
                  </a:txBody>
                  <a:tcPr marL="109728" marR="109728" marT="64008" marB="64008" anchor="ctr">
                    <a:solidFill>
                      <a:srgbClr val="001823"/>
                    </a:solidFill>
                  </a:tcPr>
                </a:tc>
                <a:tc>
                  <a:txBody>
                    <a:bodyPr wrap="square"/>
                    <a:lstStyle/>
                    <a:p>
                      <a:pPr algn="l" marL="0" indent="0">
                        <a:spcBef>
                          <a:spcPts val="0"/>
                        </a:spcBef>
                        <a:spcAft>
                          <a:spcPts val="400"/>
                        </a:spcAft>
                        <a:buNone/>
                      </a:pPr>
                      <a:r>
                        <a:rPr sz="1500" b="1" i="0">
                          <a:solidFill>
                            <a:srgbClr val="FFFFFF"/>
                          </a:solidFill>
                        </a:rPr>
                        <a:t>How to mitigate</a:t>
                      </a:r>
                    </a:p>
                  </a:txBody>
                  <a:tcPr marL="109728" marR="109728" marT="64008" marB="64008" anchor="ctr">
                    <a:solidFill>
                      <a:srgbClr val="001823"/>
                    </a:solidFill>
                  </a:tcPr>
                </a:tc>
              </a:tr>
              <a:tr h="1828800">
                <a:tc>
                  <a:txBody>
                    <a:bodyPr wrap="square"/>
                    <a:lstStyle/>
                    <a:p>
                      <a:pPr algn="l" marL="0" indent="0">
                        <a:spcBef>
                          <a:spcPts val="0"/>
                        </a:spcBef>
                        <a:spcAft>
                          <a:spcPts val="300"/>
                        </a:spcAft>
                        <a:buNone/>
                      </a:pPr>
                      <a:r>
                        <a:rPr sz="1600" b="1" i="0">
                          <a:solidFill>
                            <a:srgbClr val="001823"/>
                          </a:solidFill>
                        </a:rPr>
                        <a:t>1. Algorithmic bias</a:t>
                      </a:r>
                    </a:p>
                    <a:p>
                      <a:pPr algn="l" marL="0" indent="0">
                        <a:spcBef>
                          <a:spcPts val="0"/>
                        </a:spcBef>
                        <a:spcAft>
                          <a:spcPts val="400"/>
                        </a:spcAft>
                        <a:buNone/>
                      </a:pPr>
                      <a:r>
                        <a:rPr sz="1400" b="0" i="0">
                          <a:solidFill>
                            <a:srgbClr val="001823"/>
                          </a:solidFill>
                        </a:rPr>
                        <a:t>Models use age, gender, or proxies (postcode, shift history) in hiring, promotion, or scheduling.</a:t>
                      </a:r>
                    </a:p>
                  </a:txBody>
                  <a:tcPr marL="109728" marR="109728" marT="64008" marB="64008" anchor="ctr">
                    <a:solidFill>
                      <a:srgbClr val="EEF2F4"/>
                    </a:solidFill>
                  </a:tcPr>
                </a:tc>
                <a:tc>
                  <a:txBody>
                    <a:bodyPr wrap="square"/>
                    <a:lstStyle/>
                    <a:p>
                      <a:pPr algn="l" marL="0" indent="0">
                        <a:spcBef>
                          <a:spcPts val="0"/>
                        </a:spcBef>
                        <a:spcAft>
                          <a:spcPts val="400"/>
                        </a:spcAft>
                        <a:buNone/>
                      </a:pPr>
                      <a:r>
                        <a:rPr sz="1400" b="0" i="0">
                          <a:solidFill>
                            <a:srgbClr val="001823"/>
                          </a:solidFill>
                        </a:rPr>
                        <a:t>EU AI Act: employment AI is high-risk (duties delayed to Dec. 2027, not repealed). US: Title VII, ADEA, ADA exposure. Public buyers expect testing and human oversight of high-impact AI, so weak controls can cost bids and trust.</a:t>
                      </a:r>
                    </a:p>
                  </a:txBody>
                  <a:tcPr marL="109728" marR="109728" marT="64008" marB="64008" anchor="ctr">
                    <a:solidFill>
                      <a:srgbClr val="EEF2F4"/>
                    </a:solidFill>
                  </a:tcPr>
                </a:tc>
                <a:tc>
                  <a:txBody>
                    <a:bodyPr wrap="square"/>
                    <a:lstStyle/>
                    <a:p>
                      <a:pPr algn="l" marL="0" indent="0">
                        <a:spcBef>
                          <a:spcPts val="0"/>
                        </a:spcBef>
                        <a:spcAft>
                          <a:spcPts val="400"/>
                        </a:spcAft>
                        <a:buNone/>
                      </a:pPr>
                      <a:r>
                        <a:rPr sz="1400" b="0" i="0">
                          <a:solidFill>
                            <a:srgbClr val="001823"/>
                          </a:solidFill>
                        </a:rPr>
                        <a:t>Test for bias before and after launch; monitor outcomes by group; a human decides on every people decision; diverse review board.</a:t>
                      </a:r>
                    </a:p>
                  </a:txBody>
                  <a:tcPr marL="109728" marR="109728" marT="64008" marB="64008" anchor="ctr">
                    <a:solidFill>
                      <a:srgbClr val="DDE5E9"/>
                    </a:solidFill>
                  </a:tcPr>
                </a:tc>
              </a:tr>
              <a:tr h="1828800">
                <a:tc>
                  <a:txBody>
                    <a:bodyPr wrap="square"/>
                    <a:lstStyle/>
                    <a:p>
                      <a:pPr algn="l" marL="0" indent="0">
                        <a:spcBef>
                          <a:spcPts val="0"/>
                        </a:spcBef>
                        <a:spcAft>
                          <a:spcPts val="300"/>
                        </a:spcAft>
                        <a:buNone/>
                      </a:pPr>
                      <a:r>
                        <a:rPr sz="1600" b="1" i="0">
                          <a:solidFill>
                            <a:srgbClr val="001823"/>
                          </a:solidFill>
                        </a:rPr>
                        <a:t>2. Privacy and data misuse</a:t>
                      </a:r>
                    </a:p>
                    <a:p>
                      <a:pPr algn="l" marL="0" indent="0">
                        <a:spcBef>
                          <a:spcPts val="0"/>
                        </a:spcBef>
                        <a:spcAft>
                          <a:spcPts val="400"/>
                        </a:spcAft>
                        <a:buNone/>
                      </a:pPr>
                      <a:r>
                        <a:rPr sz="1400" b="0" i="0">
                          <a:solidFill>
                            <a:srgbClr val="001823"/>
                          </a:solidFill>
                        </a:rPr>
                        <a:t>Demographic data profiled at individual level or reused beyond its purpose.</a:t>
                      </a:r>
                    </a:p>
                  </a:txBody>
                  <a:tcPr marL="109728" marR="109728" marT="64008" marB="64008" anchor="ctr">
                    <a:solidFill>
                      <a:srgbClr val="EEF2F4"/>
                    </a:solidFill>
                  </a:tcPr>
                </a:tc>
                <a:tc>
                  <a:txBody>
                    <a:bodyPr wrap="square"/>
                    <a:lstStyle/>
                    <a:p>
                      <a:pPr algn="l" marL="0" indent="0">
                        <a:spcBef>
                          <a:spcPts val="0"/>
                        </a:spcBef>
                        <a:spcAft>
                          <a:spcPts val="400"/>
                        </a:spcAft>
                        <a:buNone/>
                      </a:pPr>
                      <a:r>
                        <a:rPr sz="1400" b="0" i="0">
                          <a:solidFill>
                            <a:srgbClr val="001823"/>
                          </a:solidFill>
                        </a:rPr>
                        <a:t>GDPR fines reach 4% of worldwide turnover. Government contracts add data-use terms. Partners and shoppers punish breaches: 58% rank privacy as their top AI concern.</a:t>
                      </a:r>
                    </a:p>
                  </a:txBody>
                  <a:tcPr marL="109728" marR="109728" marT="64008" marB="64008" anchor="ctr">
                    <a:solidFill>
                      <a:srgbClr val="EEF2F4"/>
                    </a:solidFill>
                  </a:tcPr>
                </a:tc>
                <a:tc>
                  <a:txBody>
                    <a:bodyPr wrap="square"/>
                    <a:lstStyle/>
                    <a:p>
                      <a:pPr algn="l" marL="0" indent="0">
                        <a:spcBef>
                          <a:spcPts val="0"/>
                        </a:spcBef>
                        <a:spcAft>
                          <a:spcPts val="400"/>
                        </a:spcAft>
                        <a:buNone/>
                      </a:pPr>
                      <a:r>
                        <a:rPr sz="1400" b="0" i="0">
                          <a:solidFill>
                            <a:srgbClr val="001823"/>
                          </a:solidFill>
                        </a:rPr>
                        <a:t>Aggregate to cohorts; minimize and anonymize data; privacy impact assessments; testing and data clauses in vendor contracts.</a:t>
                      </a:r>
                    </a:p>
                  </a:txBody>
                  <a:tcPr marL="109728" marR="109728" marT="64008" marB="64008" anchor="ctr">
                    <a:solidFill>
                      <a:srgbClr val="DDE5E9"/>
                    </a:solidFill>
                  </a:tcPr>
                </a:tc>
              </a:tr>
            </a:tbl>
          </a:graphicData>
        </a:graphic>
      </p:graphicFrame>
      <p:sp>
        <p:nvSpPr>
          <p:cNvPr id="5" name="Banner"/>
          <p:cNvSpPr/>
          <p:nvPr/>
        </p:nvSpPr>
        <p:spPr>
          <a:xfrm>
            <a:off x="530352" y="5559552"/>
            <a:ext cx="11045952" cy="640080"/>
          </a:xfrm>
          <a:prstGeom prst="rect">
            <a:avLst/>
          </a:prstGeom>
          <a:solidFill>
            <a:srgbClr val="15333E"/>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109728" tIns="73152" rIns="109728" bIns="73152"/>
          <a:lstStyle/>
          <a:p>
            <a:pPr algn="l" marL="0" indent="0">
              <a:spcBef>
                <a:spcPts val="0"/>
              </a:spcBef>
              <a:spcAft>
                <a:spcPts val="400"/>
              </a:spcAft>
              <a:buNone/>
            </a:pPr>
            <a:r>
              <a:rPr sz="1400" b="1" i="0">
                <a:solidFill>
                  <a:srgbClr val="FFFFFF"/>
                </a:solidFill>
              </a:rPr>
              <a:t>Leverage AI effectively: </a:t>
            </a:r>
            <a:r>
              <a:rPr sz="1400" b="0" i="0">
                <a:solidFill>
                  <a:srgbClr val="FFFFFF"/>
                </a:solidFill>
              </a:rPr>
              <a:t>one Group AI governance framework, risk-tiered review, pilot narrow, then scale with guardrails (NIST: govern, map, measure, manage).</a:t>
            </a:r>
          </a:p>
        </p:txBody>
      </p:sp>
      <p:sp>
        <p:nvSpPr>
          <p:cNvPr id="6" name="Source line"/>
          <p:cNvSpPr txBox="1"/>
          <p:nvPr/>
        </p:nvSpPr>
        <p:spPr>
          <a:xfrm>
            <a:off x="530352" y="6291072"/>
            <a:ext cx="11045952" cy="274320"/>
          </a:xfrm>
          <a:prstGeom prst="rect">
            <a:avLst/>
          </a:prstGeom>
          <a:noFill/>
        </p:spPr>
        <p:txBody>
          <a:bodyPr wrap="square" anchor="t" lIns="0" tIns="0" rIns="0" bIns="0">
            <a:spAutoFit/>
          </a:bodyPr>
          <a:lstStyle/>
          <a:p>
            <a:pPr algn="l" marL="0" indent="0">
              <a:spcBef>
                <a:spcPts val="0"/>
              </a:spcBef>
              <a:spcAft>
                <a:spcPts val="400"/>
              </a:spcAft>
              <a:buNone/>
            </a:pPr>
            <a:r>
              <a:rPr sz="1100" b="0" i="0">
                <a:solidFill>
                  <a:srgbClr val="5E7079"/>
                </a:solidFill>
              </a:rPr>
              <a:t>Sources: Francis et al. (2026); OMB (2025); European Parliament &amp; Council (2016); NIST (2023); DHL eCommerce (2026); Economist Enterprise (2026).</a:t>
            </a:r>
          </a:p>
        </p:txBody>
      </p:sp>
    </p:spTree>
    <p:custDataLst>
      <p:tags r:id="rId1"/>
    </p:custDataLst>
    <p:extLst>
      <p:ext uri="{BB962C8B-B14F-4D97-AF65-F5344CB8AC3E}">
        <p14:creationId xmlns:p14="http://schemas.microsoft.com/office/powerpoint/2010/main" val="187791023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23D3995-6880-1187-E46D-894B0D645950}"/>
              </a:ext>
            </a:extLst>
          </p:cNvPr>
          <p:cNvSpPr>
            <a:spLocks noGrp="1"/>
          </p:cNvSpPr>
          <p:nvPr>
            <p:ph type="title"/>
          </p:nvPr>
        </p:nvSpPr>
        <p:spPr/>
        <p:txBody>
          <a:bodyPr/>
          <a:lstStyle/>
          <a:p>
            <a:r>
              <a:rPr lang="en-US" sz="2800"/>
              <a:t>Technological Trends: AI Reshapes the Network</a:t>
            </a:r>
          </a:p>
        </p:txBody>
      </p:sp>
      <p:sp>
        <p:nvSpPr>
          <p:cNvPr id="2" name="Footer Placeholder 1">
            <a:extLst>
              <a:ext uri="{FF2B5EF4-FFF2-40B4-BE49-F238E27FC236}">
                <a16:creationId xmlns:a16="http://schemas.microsoft.com/office/drawing/2014/main" id="{C4491708-15AC-07B4-153B-DD2EA09B254D}"/>
              </a:ext>
            </a:extLst>
          </p:cNvPr>
          <p:cNvSpPr>
            <a:spLocks noGrp="1"/>
          </p:cNvSpPr>
          <p:nvPr>
            <p:ph type="ftr" sz="quarter" idx="3"/>
          </p:nvPr>
        </p:nvSpPr>
        <p:spPr/>
        <p:txBody>
          <a:bodyPr/>
          <a:lstStyle/>
          <a:p>
            <a:r>
              <a:rPr lang="en-US"/>
              <a:t>© 2025 University of Phoenix</a:t>
            </a:r>
          </a:p>
        </p:txBody>
      </p:sp>
      <p:sp>
        <p:nvSpPr>
          <p:cNvPr id="4" name="Tech card"/>
          <p:cNvSpPr/>
          <p:nvPr/>
        </p:nvSpPr>
        <p:spPr>
          <a:xfrm>
            <a:off x="530352" y="1280160"/>
            <a:ext cx="3611880" cy="3108960"/>
          </a:xfrm>
          <a:prstGeom prst="rect">
            <a:avLst/>
          </a:prstGeom>
          <a:solidFill>
            <a:srgbClr val="EEF2F4"/>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09728" tIns="73152" rIns="109728" bIns="73152"/>
          <a:lstStyle/>
          <a:p>
            <a:pPr algn="ctr"/>
          </a:p>
        </p:txBody>
      </p:sp>
      <p:sp>
        <p:nvSpPr>
          <p:cNvPr id="5" name="TextBox 4"/>
          <p:cNvSpPr txBox="1"/>
          <p:nvPr/>
        </p:nvSpPr>
        <p:spPr>
          <a:xfrm>
            <a:off x="694944" y="1371600"/>
            <a:ext cx="3291840" cy="320040"/>
          </a:xfrm>
          <a:prstGeom prst="rect">
            <a:avLst/>
          </a:prstGeom>
          <a:noFill/>
        </p:spPr>
        <p:txBody>
          <a:bodyPr wrap="square" anchor="t" lIns="0" tIns="0" rIns="0" bIns="0">
            <a:spAutoFit/>
          </a:bodyPr>
          <a:lstStyle/>
          <a:p>
            <a:pPr algn="l" marL="0" indent="0">
              <a:spcBef>
                <a:spcPts val="0"/>
              </a:spcBef>
              <a:spcAft>
                <a:spcPts val="400"/>
              </a:spcAft>
              <a:buNone/>
            </a:pPr>
            <a:r>
              <a:rPr sz="1600" b="1" i="0">
                <a:solidFill>
                  <a:srgbClr val="001823"/>
                </a:solidFill>
              </a:rPr>
              <a:t>Operations</a:t>
            </a:r>
          </a:p>
        </p:txBody>
      </p:sp>
      <p:sp>
        <p:nvSpPr>
          <p:cNvPr id="6" name="TextBox 5"/>
          <p:cNvSpPr txBox="1"/>
          <p:nvPr/>
        </p:nvSpPr>
        <p:spPr>
          <a:xfrm>
            <a:off x="694944" y="1719072"/>
            <a:ext cx="3291840" cy="548640"/>
          </a:xfrm>
          <a:prstGeom prst="rect">
            <a:avLst/>
          </a:prstGeom>
          <a:noFill/>
        </p:spPr>
        <p:txBody>
          <a:bodyPr wrap="square" anchor="t" lIns="0" tIns="0" rIns="0" bIns="0">
            <a:spAutoFit/>
          </a:bodyPr>
          <a:lstStyle/>
          <a:p>
            <a:pPr algn="l" marL="0" indent="0">
              <a:spcBef>
                <a:spcPts val="0"/>
              </a:spcBef>
              <a:spcAft>
                <a:spcPts val="400"/>
              </a:spcAft>
              <a:buNone/>
            </a:pPr>
            <a:r>
              <a:rPr sz="3200" b="1" i="0">
                <a:solidFill>
                  <a:srgbClr val="DB3724"/>
                </a:solidFill>
              </a:rPr>
              <a:t>7,500+</a:t>
            </a:r>
          </a:p>
        </p:txBody>
      </p:sp>
      <p:sp>
        <p:nvSpPr>
          <p:cNvPr id="7" name="TextBox 6"/>
          <p:cNvSpPr txBox="1"/>
          <p:nvPr/>
        </p:nvSpPr>
        <p:spPr>
          <a:xfrm>
            <a:off x="694944" y="2286000"/>
            <a:ext cx="3291840" cy="411480"/>
          </a:xfrm>
          <a:prstGeom prst="rect">
            <a:avLst/>
          </a:prstGeom>
          <a:noFill/>
        </p:spPr>
        <p:txBody>
          <a:bodyPr wrap="square" anchor="t" lIns="0" tIns="0" rIns="0" bIns="0">
            <a:spAutoFit/>
          </a:bodyPr>
          <a:lstStyle/>
          <a:p>
            <a:pPr algn="l" marL="0" indent="0">
              <a:spcBef>
                <a:spcPts val="0"/>
              </a:spcBef>
              <a:spcAft>
                <a:spcPts val="400"/>
              </a:spcAft>
              <a:buNone/>
            </a:pPr>
            <a:r>
              <a:rPr sz="1200" b="0" i="0">
                <a:solidFill>
                  <a:srgbClr val="5E7079"/>
                </a:solidFill>
              </a:rPr>
              <a:t>robots in DHL's network (May 2025)</a:t>
            </a:r>
          </a:p>
        </p:txBody>
      </p:sp>
      <p:sp>
        <p:nvSpPr>
          <p:cNvPr id="8" name="TextBox 7"/>
          <p:cNvSpPr txBox="1"/>
          <p:nvPr/>
        </p:nvSpPr>
        <p:spPr>
          <a:xfrm>
            <a:off x="694944" y="2761488"/>
            <a:ext cx="3291840" cy="1691640"/>
          </a:xfrm>
          <a:prstGeom prst="rect">
            <a:avLst/>
          </a:prstGeom>
          <a:noFill/>
        </p:spPr>
        <p:txBody>
          <a:bodyPr wrap="square" anchor="t" lIns="0" tIns="0" rIns="0" bIns="0">
            <a:spAutoFit/>
          </a:bodyPr>
          <a:lstStyle/>
          <a:p>
            <a:pPr algn="l" marL="182880" indent="-182880">
              <a:spcBef>
                <a:spcPts val="0"/>
              </a:spcBef>
              <a:spcAft>
                <a:spcPts val="500"/>
              </a:spcAft>
              <a:buChar char="•"/>
            </a:pPr>
            <a:r>
              <a:rPr sz="1500" b="0" i="0">
                <a:solidFill>
                  <a:srgbClr val="001823"/>
                </a:solidFill>
              </a:rPr>
              <a:t>MoU for 1,000+ more Stretch robots; unloading up to 700 cases/hour</a:t>
            </a:r>
          </a:p>
          <a:p>
            <a:pPr algn="l" marL="182880" indent="-182880">
              <a:spcBef>
                <a:spcPts val="0"/>
              </a:spcBef>
              <a:spcAft>
                <a:spcPts val="500"/>
              </a:spcAft>
              <a:buChar char="•"/>
            </a:pPr>
            <a:r>
              <a:rPr sz="1500" b="0" i="0">
                <a:solidFill>
                  <a:srgbClr val="001823"/>
                </a:solidFill>
              </a:rPr>
              <a:t>Next: robotic case picking</a:t>
            </a:r>
          </a:p>
          <a:p>
            <a:pPr algn="l" marL="182880" indent="-182880">
              <a:spcBef>
                <a:spcPts val="0"/>
              </a:spcBef>
              <a:spcAft>
                <a:spcPts val="500"/>
              </a:spcAft>
              <a:buChar char="•"/>
            </a:pPr>
            <a:r>
              <a:rPr sz="1500" b="0" i="0">
                <a:solidFill>
                  <a:srgbClr val="001823"/>
                </a:solidFill>
              </a:rPr>
              <a:t>Radar 8.0: AI moves from advising to acting</a:t>
            </a:r>
          </a:p>
        </p:txBody>
      </p:sp>
      <p:sp>
        <p:nvSpPr>
          <p:cNvPr id="9" name="Tech card"/>
          <p:cNvSpPr/>
          <p:nvPr/>
        </p:nvSpPr>
        <p:spPr>
          <a:xfrm>
            <a:off x="4247388" y="1280160"/>
            <a:ext cx="3611880" cy="3108960"/>
          </a:xfrm>
          <a:prstGeom prst="rect">
            <a:avLst/>
          </a:prstGeom>
          <a:solidFill>
            <a:srgbClr val="EEF2F4"/>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09728" tIns="73152" rIns="109728" bIns="73152"/>
          <a:lstStyle/>
          <a:p>
            <a:pPr algn="ctr"/>
          </a:p>
        </p:txBody>
      </p:sp>
      <p:sp>
        <p:nvSpPr>
          <p:cNvPr id="10" name="TextBox 9"/>
          <p:cNvSpPr txBox="1"/>
          <p:nvPr/>
        </p:nvSpPr>
        <p:spPr>
          <a:xfrm>
            <a:off x="4411980" y="1371600"/>
            <a:ext cx="3291840" cy="320040"/>
          </a:xfrm>
          <a:prstGeom prst="rect">
            <a:avLst/>
          </a:prstGeom>
          <a:noFill/>
        </p:spPr>
        <p:txBody>
          <a:bodyPr wrap="square" anchor="t" lIns="0" tIns="0" rIns="0" bIns="0">
            <a:spAutoFit/>
          </a:bodyPr>
          <a:lstStyle/>
          <a:p>
            <a:pPr algn="l" marL="0" indent="0">
              <a:spcBef>
                <a:spcPts val="0"/>
              </a:spcBef>
              <a:spcAft>
                <a:spcPts val="400"/>
              </a:spcAft>
              <a:buNone/>
            </a:pPr>
            <a:r>
              <a:rPr sz="1600" b="1" i="0">
                <a:solidFill>
                  <a:srgbClr val="001823"/>
                </a:solidFill>
              </a:rPr>
              <a:t>Customer interactions</a:t>
            </a:r>
          </a:p>
        </p:txBody>
      </p:sp>
      <p:sp>
        <p:nvSpPr>
          <p:cNvPr id="11" name="TextBox 10"/>
          <p:cNvSpPr txBox="1"/>
          <p:nvPr/>
        </p:nvSpPr>
        <p:spPr>
          <a:xfrm>
            <a:off x="4411980" y="1719072"/>
            <a:ext cx="3291840" cy="548640"/>
          </a:xfrm>
          <a:prstGeom prst="rect">
            <a:avLst/>
          </a:prstGeom>
          <a:noFill/>
        </p:spPr>
        <p:txBody>
          <a:bodyPr wrap="square" anchor="t" lIns="0" tIns="0" rIns="0" bIns="0">
            <a:spAutoFit/>
          </a:bodyPr>
          <a:lstStyle/>
          <a:p>
            <a:pPr algn="l" marL="0" indent="0">
              <a:spcBef>
                <a:spcPts val="0"/>
              </a:spcBef>
              <a:spcAft>
                <a:spcPts val="400"/>
              </a:spcAft>
              <a:buNone/>
            </a:pPr>
            <a:r>
              <a:rPr sz="3200" b="1" i="0">
                <a:solidFill>
                  <a:srgbClr val="DB3724"/>
                </a:solidFill>
              </a:rPr>
              <a:t>8</a:t>
            </a:r>
          </a:p>
        </p:txBody>
      </p:sp>
      <p:sp>
        <p:nvSpPr>
          <p:cNvPr id="12" name="TextBox 11"/>
          <p:cNvSpPr txBox="1"/>
          <p:nvPr/>
        </p:nvSpPr>
        <p:spPr>
          <a:xfrm>
            <a:off x="4411980" y="2286000"/>
            <a:ext cx="3291840" cy="411480"/>
          </a:xfrm>
          <a:prstGeom prst="rect">
            <a:avLst/>
          </a:prstGeom>
          <a:noFill/>
        </p:spPr>
        <p:txBody>
          <a:bodyPr wrap="square" anchor="t" lIns="0" tIns="0" rIns="0" bIns="0">
            <a:spAutoFit/>
          </a:bodyPr>
          <a:lstStyle/>
          <a:p>
            <a:pPr algn="l" marL="0" indent="0">
              <a:spcBef>
                <a:spcPts val="0"/>
              </a:spcBef>
              <a:spcAft>
                <a:spcPts val="400"/>
              </a:spcAft>
              <a:buNone/>
            </a:pPr>
            <a:r>
              <a:rPr sz="1200" b="0" i="0">
                <a:solidFill>
                  <a:srgbClr val="5E7079"/>
                </a:solidFill>
              </a:rPr>
              <a:t>countries live with AI item identification</a:t>
            </a:r>
          </a:p>
        </p:txBody>
      </p:sp>
      <p:sp>
        <p:nvSpPr>
          <p:cNvPr id="13" name="TextBox 12"/>
          <p:cNvSpPr txBox="1"/>
          <p:nvPr/>
        </p:nvSpPr>
        <p:spPr>
          <a:xfrm>
            <a:off x="4411980" y="2761488"/>
            <a:ext cx="3291840" cy="1691640"/>
          </a:xfrm>
          <a:prstGeom prst="rect">
            <a:avLst/>
          </a:prstGeom>
          <a:noFill/>
        </p:spPr>
        <p:txBody>
          <a:bodyPr wrap="square" anchor="t" lIns="0" tIns="0" rIns="0" bIns="0">
            <a:spAutoFit/>
          </a:bodyPr>
          <a:lstStyle/>
          <a:p>
            <a:pPr algn="l" marL="182880" indent="-182880">
              <a:spcBef>
                <a:spcPts val="0"/>
              </a:spcBef>
              <a:spcAft>
                <a:spcPts val="500"/>
              </a:spcAft>
              <a:buChar char="•"/>
            </a:pPr>
            <a:r>
              <a:rPr sz="1500" b="0" i="0">
                <a:solidFill>
                  <a:srgbClr val="001823"/>
                </a:solidFill>
              </a:rPr>
              <a:t>Photo becomes a customs-ready description</a:t>
            </a:r>
          </a:p>
          <a:p>
            <a:pPr algn="l" marL="182880" indent="-182880">
              <a:spcBef>
                <a:spcPts val="0"/>
              </a:spcBef>
              <a:spcAft>
                <a:spcPts val="500"/>
              </a:spcAft>
              <a:buChar char="•"/>
            </a:pPr>
            <a:r>
              <a:rPr sz="1500" b="0" i="0">
                <a:solidFill>
                  <a:srgbClr val="001823"/>
                </a:solidFill>
              </a:rPr>
              <a:t>Alibaba Accio pilot: AI agent quotes and books SME freight</a:t>
            </a:r>
          </a:p>
          <a:p>
            <a:pPr algn="l" marL="182880" indent="-182880">
              <a:spcBef>
                <a:spcPts val="0"/>
              </a:spcBef>
              <a:spcAft>
                <a:spcPts val="500"/>
              </a:spcAft>
              <a:buChar char="•"/>
            </a:pPr>
            <a:r>
              <a:rPr sz="1500" b="0" i="0">
                <a:solidFill>
                  <a:srgbClr val="001823"/>
                </a:solidFill>
              </a:rPr>
              <a:t>Internal AI search tool for ~600,000 staff</a:t>
            </a:r>
          </a:p>
        </p:txBody>
      </p:sp>
      <p:sp>
        <p:nvSpPr>
          <p:cNvPr id="14" name="Tech card"/>
          <p:cNvSpPr/>
          <p:nvPr/>
        </p:nvSpPr>
        <p:spPr>
          <a:xfrm>
            <a:off x="7964424" y="1280160"/>
            <a:ext cx="3611880" cy="3108960"/>
          </a:xfrm>
          <a:prstGeom prst="rect">
            <a:avLst/>
          </a:prstGeom>
          <a:solidFill>
            <a:srgbClr val="EEF2F4"/>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09728" tIns="73152" rIns="109728" bIns="73152"/>
          <a:lstStyle/>
          <a:p>
            <a:pPr algn="ctr"/>
          </a:p>
        </p:txBody>
      </p:sp>
      <p:sp>
        <p:nvSpPr>
          <p:cNvPr id="15" name="TextBox 14"/>
          <p:cNvSpPr txBox="1"/>
          <p:nvPr/>
        </p:nvSpPr>
        <p:spPr>
          <a:xfrm>
            <a:off x="8129016" y="1371600"/>
            <a:ext cx="3291840" cy="320040"/>
          </a:xfrm>
          <a:prstGeom prst="rect">
            <a:avLst/>
          </a:prstGeom>
          <a:noFill/>
        </p:spPr>
        <p:txBody>
          <a:bodyPr wrap="square" anchor="t" lIns="0" tIns="0" rIns="0" bIns="0">
            <a:spAutoFit/>
          </a:bodyPr>
          <a:lstStyle/>
          <a:p>
            <a:pPr algn="l" marL="0" indent="0">
              <a:spcBef>
                <a:spcPts val="0"/>
              </a:spcBef>
              <a:spcAft>
                <a:spcPts val="400"/>
              </a:spcAft>
              <a:buNone/>
            </a:pPr>
            <a:r>
              <a:rPr sz="1600" b="1" i="0">
                <a:solidFill>
                  <a:srgbClr val="001823"/>
                </a:solidFill>
              </a:rPr>
              <a:t>Competitive landscape</a:t>
            </a:r>
          </a:p>
        </p:txBody>
      </p:sp>
      <p:sp>
        <p:nvSpPr>
          <p:cNvPr id="16" name="TextBox 15"/>
          <p:cNvSpPr txBox="1"/>
          <p:nvPr/>
        </p:nvSpPr>
        <p:spPr>
          <a:xfrm>
            <a:off x="8129016" y="1719072"/>
            <a:ext cx="3291840" cy="548640"/>
          </a:xfrm>
          <a:prstGeom prst="rect">
            <a:avLst/>
          </a:prstGeom>
          <a:noFill/>
        </p:spPr>
        <p:txBody>
          <a:bodyPr wrap="square" anchor="t" lIns="0" tIns="0" rIns="0" bIns="0">
            <a:spAutoFit/>
          </a:bodyPr>
          <a:lstStyle/>
          <a:p>
            <a:pPr algn="l" marL="0" indent="0">
              <a:spcBef>
                <a:spcPts val="0"/>
              </a:spcBef>
              <a:spcAft>
                <a:spcPts val="400"/>
              </a:spcAft>
              <a:buNone/>
            </a:pPr>
            <a:r>
              <a:rPr sz="3200" b="1" i="0">
                <a:solidFill>
                  <a:srgbClr val="DB3724"/>
                </a:solidFill>
              </a:rPr>
              <a:t>97%</a:t>
            </a:r>
          </a:p>
        </p:txBody>
      </p:sp>
      <p:sp>
        <p:nvSpPr>
          <p:cNvPr id="17" name="TextBox 16"/>
          <p:cNvSpPr txBox="1"/>
          <p:nvPr/>
        </p:nvSpPr>
        <p:spPr>
          <a:xfrm>
            <a:off x="8129016" y="2286000"/>
            <a:ext cx="3291840" cy="411480"/>
          </a:xfrm>
          <a:prstGeom prst="rect">
            <a:avLst/>
          </a:prstGeom>
          <a:noFill/>
        </p:spPr>
        <p:txBody>
          <a:bodyPr wrap="square" anchor="t" lIns="0" tIns="0" rIns="0" bIns="0">
            <a:spAutoFit/>
          </a:bodyPr>
          <a:lstStyle/>
          <a:p>
            <a:pPr algn="l" marL="0" indent="0">
              <a:spcBef>
                <a:spcPts val="0"/>
              </a:spcBef>
              <a:spcAft>
                <a:spcPts val="400"/>
              </a:spcAft>
              <a:buNone/>
            </a:pPr>
            <a:r>
              <a:rPr sz="1200" b="0" i="0">
                <a:solidFill>
                  <a:srgbClr val="5E7079"/>
                </a:solidFill>
              </a:rPr>
              <a:t>of UPS shipments clear customs day one (company-reported)</a:t>
            </a:r>
          </a:p>
        </p:txBody>
      </p:sp>
      <p:sp>
        <p:nvSpPr>
          <p:cNvPr id="18" name="TextBox 17"/>
          <p:cNvSpPr txBox="1"/>
          <p:nvPr/>
        </p:nvSpPr>
        <p:spPr>
          <a:xfrm>
            <a:off x="8129016" y="2761488"/>
            <a:ext cx="3291840" cy="1691640"/>
          </a:xfrm>
          <a:prstGeom prst="rect">
            <a:avLst/>
          </a:prstGeom>
          <a:noFill/>
        </p:spPr>
        <p:txBody>
          <a:bodyPr wrap="square" anchor="t" lIns="0" tIns="0" rIns="0" bIns="0">
            <a:spAutoFit/>
          </a:bodyPr>
          <a:lstStyle/>
          <a:p>
            <a:pPr algn="l" marL="182880" indent="-182880">
              <a:spcBef>
                <a:spcPts val="0"/>
              </a:spcBef>
              <a:spcAft>
                <a:spcPts val="500"/>
              </a:spcAft>
              <a:buChar char="•"/>
            </a:pPr>
            <a:r>
              <a:rPr sz="1500" b="0" i="0">
                <a:solidFill>
                  <a:srgbClr val="001823"/>
                </a:solidFill>
              </a:rPr>
              <a:t>UPS digital twin refreshes every 10 minutes</a:t>
            </a:r>
          </a:p>
          <a:p>
            <a:pPr algn="l" marL="182880" indent="-182880">
              <a:spcBef>
                <a:spcPts val="0"/>
              </a:spcBef>
              <a:spcAft>
                <a:spcPts val="500"/>
              </a:spcAft>
              <a:buChar char="•"/>
            </a:pPr>
            <a:r>
              <a:rPr sz="1500" b="0" i="0">
                <a:solidFill>
                  <a:srgbClr val="001823"/>
                </a:solidFill>
              </a:rPr>
              <a:t>Agentic "control tower" for disruptions</a:t>
            </a:r>
          </a:p>
          <a:p>
            <a:pPr algn="l" marL="182880" indent="-182880">
              <a:spcBef>
                <a:spcPts val="0"/>
              </a:spcBef>
              <a:spcAft>
                <a:spcPts val="500"/>
              </a:spcAft>
              <a:buChar char="•"/>
            </a:pPr>
            <a:r>
              <a:rPr sz="1500" b="0" i="0">
                <a:solidFill>
                  <a:srgbClr val="001823"/>
                </a:solidFill>
              </a:rPr>
              <a:t>Gartner: 70%+ adopt physical AI by 2028</a:t>
            </a:r>
          </a:p>
        </p:txBody>
      </p:sp>
      <p:sp>
        <p:nvSpPr>
          <p:cNvPr id="19" name="Banner"/>
          <p:cNvSpPr/>
          <p:nvPr/>
        </p:nvSpPr>
        <p:spPr>
          <a:xfrm>
            <a:off x="530352" y="4498848"/>
            <a:ext cx="11045952" cy="1719072"/>
          </a:xfrm>
          <a:prstGeom prst="rect">
            <a:avLst/>
          </a:prstGeom>
          <a:solidFill>
            <a:srgbClr val="001823"/>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09728" tIns="73152" rIns="109728" bIns="73152"/>
          <a:lstStyle/>
          <a:p>
            <a:pPr algn="ctr"/>
          </a:p>
        </p:txBody>
      </p:sp>
      <p:sp>
        <p:nvSpPr>
          <p:cNvPr id="20" name="TextBox 19"/>
          <p:cNvSpPr txBox="1"/>
          <p:nvPr/>
        </p:nvSpPr>
        <p:spPr>
          <a:xfrm>
            <a:off x="731520" y="4590288"/>
            <a:ext cx="10607040" cy="320040"/>
          </a:xfrm>
          <a:prstGeom prst="rect">
            <a:avLst/>
          </a:prstGeom>
          <a:noFill/>
        </p:spPr>
        <p:txBody>
          <a:bodyPr wrap="square" anchor="t" lIns="0" tIns="0" rIns="0" bIns="0">
            <a:spAutoFit/>
          </a:bodyPr>
          <a:lstStyle/>
          <a:p>
            <a:pPr algn="l" marL="0" indent="0">
              <a:spcBef>
                <a:spcPts val="0"/>
              </a:spcBef>
              <a:spcAft>
                <a:spcPts val="400"/>
              </a:spcAft>
              <a:buNone/>
            </a:pPr>
            <a:r>
              <a:rPr sz="1600" b="1" i="0">
                <a:solidFill>
                  <a:srgbClr val="FFFFFF"/>
                </a:solidFill>
              </a:rPr>
              <a:t>Pace of change: what it means for agility and innovation</a:t>
            </a:r>
          </a:p>
        </p:txBody>
      </p:sp>
      <p:sp>
        <p:nvSpPr>
          <p:cNvPr id="21" name="TextBox 20"/>
          <p:cNvSpPr txBox="1"/>
          <p:nvPr/>
        </p:nvSpPr>
        <p:spPr>
          <a:xfrm>
            <a:off x="731520" y="4983480"/>
            <a:ext cx="3383280" cy="1188720"/>
          </a:xfrm>
          <a:prstGeom prst="rect">
            <a:avLst/>
          </a:prstGeom>
          <a:noFill/>
        </p:spPr>
        <p:txBody>
          <a:bodyPr wrap="square" anchor="t" lIns="0" tIns="0" rIns="0" bIns="0">
            <a:spAutoFit/>
          </a:bodyPr>
          <a:lstStyle/>
          <a:p>
            <a:pPr algn="l" marL="0" indent="0">
              <a:spcBef>
                <a:spcPts val="0"/>
              </a:spcBef>
              <a:spcAft>
                <a:spcPts val="200"/>
              </a:spcAft>
              <a:buNone/>
            </a:pPr>
            <a:r>
              <a:rPr sz="1500" b="1" i="0">
                <a:solidFill>
                  <a:srgbClr val="B2BBBF"/>
                </a:solidFill>
              </a:rPr>
              <a:t>Agility</a:t>
            </a:r>
          </a:p>
          <a:p>
            <a:pPr algn="l" marL="0" indent="0">
              <a:spcBef>
                <a:spcPts val="0"/>
              </a:spcBef>
              <a:spcAft>
                <a:spcPts val="400"/>
              </a:spcAft>
              <a:buNone/>
            </a:pPr>
            <a:r>
              <a:rPr sz="1500" b="0" i="0">
                <a:solidFill>
                  <a:srgbClr val="FFFFFF"/>
                </a:solidFill>
              </a:rPr>
              <a:t>Tech cycles now outrun annual planning. Shorten the path from pilot to scale.</a:t>
            </a:r>
          </a:p>
        </p:txBody>
      </p:sp>
      <p:sp>
        <p:nvSpPr>
          <p:cNvPr id="22" name="TextBox 21"/>
          <p:cNvSpPr txBox="1"/>
          <p:nvPr/>
        </p:nvSpPr>
        <p:spPr>
          <a:xfrm>
            <a:off x="4343400" y="4983480"/>
            <a:ext cx="3383280" cy="1188720"/>
          </a:xfrm>
          <a:prstGeom prst="rect">
            <a:avLst/>
          </a:prstGeom>
          <a:noFill/>
        </p:spPr>
        <p:txBody>
          <a:bodyPr wrap="square" anchor="t" lIns="0" tIns="0" rIns="0" bIns="0">
            <a:spAutoFit/>
          </a:bodyPr>
          <a:lstStyle/>
          <a:p>
            <a:pPr algn="l" marL="0" indent="0">
              <a:spcBef>
                <a:spcPts val="0"/>
              </a:spcBef>
              <a:spcAft>
                <a:spcPts val="200"/>
              </a:spcAft>
              <a:buNone/>
            </a:pPr>
            <a:r>
              <a:rPr sz="1500" b="1" i="0">
                <a:solidFill>
                  <a:srgbClr val="B2BBBF"/>
                </a:solidFill>
              </a:rPr>
              <a:t>Speed of trends</a:t>
            </a:r>
          </a:p>
          <a:p>
            <a:pPr algn="l" marL="0" indent="0">
              <a:spcBef>
                <a:spcPts val="0"/>
              </a:spcBef>
              <a:spcAft>
                <a:spcPts val="400"/>
              </a:spcAft>
              <a:buNone/>
            </a:pPr>
            <a:r>
              <a:rPr sz="1500" b="0" i="0">
                <a:solidFill>
                  <a:srgbClr val="FFFFFF"/>
                </a:solidFill>
              </a:rPr>
              <a:t>Agentic AI, AI commerce, compute economy, and humanoids all appear in one Radar edition.</a:t>
            </a:r>
          </a:p>
        </p:txBody>
      </p:sp>
      <p:sp>
        <p:nvSpPr>
          <p:cNvPr id="23" name="TextBox 22"/>
          <p:cNvSpPr txBox="1"/>
          <p:nvPr/>
        </p:nvSpPr>
        <p:spPr>
          <a:xfrm>
            <a:off x="7955280" y="4983480"/>
            <a:ext cx="3383280" cy="1188720"/>
          </a:xfrm>
          <a:prstGeom prst="rect">
            <a:avLst/>
          </a:prstGeom>
          <a:noFill/>
        </p:spPr>
        <p:txBody>
          <a:bodyPr wrap="square" anchor="t" lIns="0" tIns="0" rIns="0" bIns="0">
            <a:spAutoFit/>
          </a:bodyPr>
          <a:lstStyle/>
          <a:p>
            <a:pPr algn="l" marL="0" indent="0">
              <a:spcBef>
                <a:spcPts val="0"/>
              </a:spcBef>
              <a:spcAft>
                <a:spcPts val="200"/>
              </a:spcAft>
              <a:buNone/>
            </a:pPr>
            <a:r>
              <a:rPr sz="1500" b="1" i="0">
                <a:solidFill>
                  <a:srgbClr val="B2BBBF"/>
                </a:solidFill>
              </a:rPr>
              <a:t>Innovation</a:t>
            </a:r>
          </a:p>
          <a:p>
            <a:pPr algn="l" marL="0" indent="0">
              <a:spcBef>
                <a:spcPts val="0"/>
              </a:spcBef>
              <a:spcAft>
                <a:spcPts val="400"/>
              </a:spcAft>
              <a:buNone/>
            </a:pPr>
            <a:r>
              <a:rPr sz="1500" b="0" i="0">
                <a:solidFill>
                  <a:srgbClr val="FFFFFF"/>
                </a:solidFill>
              </a:rPr>
              <a:t>Share what works across all five divisions instead of rediscovering it five times.</a:t>
            </a:r>
          </a:p>
        </p:txBody>
      </p:sp>
      <p:sp>
        <p:nvSpPr>
          <p:cNvPr id="24" name="Source line"/>
          <p:cNvSpPr txBox="1"/>
          <p:nvPr/>
        </p:nvSpPr>
        <p:spPr>
          <a:xfrm>
            <a:off x="530352" y="6291072"/>
            <a:ext cx="11045952" cy="274320"/>
          </a:xfrm>
          <a:prstGeom prst="rect">
            <a:avLst/>
          </a:prstGeom>
          <a:noFill/>
        </p:spPr>
        <p:txBody>
          <a:bodyPr wrap="square" anchor="t" lIns="0" tIns="0" rIns="0" bIns="0">
            <a:spAutoFit/>
          </a:bodyPr>
          <a:lstStyle/>
          <a:p>
            <a:pPr algn="l" marL="0" indent="0">
              <a:spcBef>
                <a:spcPts val="0"/>
              </a:spcBef>
              <a:spcAft>
                <a:spcPts val="400"/>
              </a:spcAft>
              <a:buNone/>
            </a:pPr>
            <a:r>
              <a:rPr sz="1100" b="0" i="0">
                <a:solidFill>
                  <a:srgbClr val="5E7079"/>
                </a:solidFill>
              </a:rPr>
              <a:t>Sources: Boston Dynamics (2025); DHL Group (2026b, 2026c, 2026d); Economist Enterprise (2026); UPS (2026); Supply Chain Digital (2026).</a:t>
            </a:r>
          </a:p>
        </p:txBody>
      </p:sp>
    </p:spTree>
    <p:custDataLst>
      <p:tags r:id="rId1"/>
    </p:custDataLst>
    <p:extLst>
      <p:ext uri="{BB962C8B-B14F-4D97-AF65-F5344CB8AC3E}">
        <p14:creationId xmlns:p14="http://schemas.microsoft.com/office/powerpoint/2010/main" val="215170020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A521D0E8-D176-8B00-74DF-DC973E505C5C}"/>
              </a:ext>
              <a:ext uri="{C183D7F6-B498-43B3-948B-1728B52AA6E4}">
                <adec:decorative xmlns:adec="http://schemas.microsoft.com/office/drawing/2017/decorative" val="0"/>
              </a:ext>
            </a:extLst>
          </p:cNvPr>
          <p:cNvSpPr>
            <a:spLocks noGrp="1"/>
          </p:cNvSpPr>
          <p:nvPr>
            <p:ph type="title"/>
          </p:nvPr>
        </p:nvSpPr>
        <p:spPr/>
        <p:txBody>
          <a:bodyPr/>
          <a:lstStyle/>
          <a:p>
            <a:r>
              <a:rPr lang="en-US" sz="2800"/>
              <a:t>Recommendation: An AI and Workforce Hub</a:t>
            </a:r>
          </a:p>
        </p:txBody>
      </p:sp>
      <p:sp>
        <p:nvSpPr>
          <p:cNvPr id="2" name="Footer Placeholder 1">
            <a:extLst>
              <a:ext uri="{FF2B5EF4-FFF2-40B4-BE49-F238E27FC236}">
                <a16:creationId xmlns:a16="http://schemas.microsoft.com/office/drawing/2014/main" id="{585E81C6-2A71-A458-57E2-BEC5473C23B2}"/>
              </a:ext>
              <a:ext uri="{C183D7F6-B498-43B3-948B-1728B52AA6E4}">
                <adec:decorative xmlns:adec="http://schemas.microsoft.com/office/drawing/2017/decorative" val="1"/>
              </a:ext>
            </a:extLst>
          </p:cNvPr>
          <p:cNvSpPr>
            <a:spLocks noGrp="1"/>
          </p:cNvSpPr>
          <p:nvPr>
            <p:ph type="ftr" sz="quarter" idx="3"/>
          </p:nvPr>
        </p:nvSpPr>
        <p:spPr/>
        <p:txBody>
          <a:bodyPr/>
          <a:lstStyle/>
          <a:p>
            <a:r>
              <a:rPr lang="en-US"/>
              <a:t>© 2025 University of Phoenix</a:t>
            </a:r>
          </a:p>
        </p:txBody>
      </p:sp>
      <p:cxnSp>
        <p:nvCxnSpPr>
          <p:cNvPr id="4" name="Connector 3"/>
          <p:cNvCxnSpPr/>
          <p:nvPr/>
        </p:nvCxnSpPr>
        <p:spPr>
          <a:xfrm flipV="1">
            <a:off x="3108960" y="2194560"/>
            <a:ext cx="0" cy="1508760"/>
          </a:xfrm>
          <a:prstGeom prst="line">
            <a:avLst/>
          </a:prstGeom>
          <a:ln w="25400">
            <a:solidFill>
              <a:srgbClr val="B2BBBF"/>
            </a:solidFill>
          </a:ln>
        </p:spPr>
        <p:style>
          <a:lnRef idx="2">
            <a:schemeClr val="accent1"/>
          </a:lnRef>
          <a:fillRef idx="0">
            <a:schemeClr val="accent1"/>
          </a:fillRef>
          <a:effectRef idx="0">
            <a:schemeClr val="accent1"/>
          </a:effectRef>
          <a:fontRef idx="minor">
            <a:schemeClr val="tx1"/>
          </a:fontRef>
        </p:style>
      </p:cxnSp>
      <p:cxnSp>
        <p:nvCxnSpPr>
          <p:cNvPr id="5" name="Connector 4"/>
          <p:cNvCxnSpPr/>
          <p:nvPr/>
        </p:nvCxnSpPr>
        <p:spPr>
          <a:xfrm flipV="1">
            <a:off x="3108960" y="3237087"/>
            <a:ext cx="1774078" cy="466233"/>
          </a:xfrm>
          <a:prstGeom prst="line">
            <a:avLst/>
          </a:prstGeom>
          <a:ln w="25400">
            <a:solidFill>
              <a:srgbClr val="B2BBBF"/>
            </a:solidFill>
          </a:ln>
        </p:spPr>
        <p:style>
          <a:lnRef idx="2">
            <a:schemeClr val="accent1"/>
          </a:lnRef>
          <a:fillRef idx="0">
            <a:schemeClr val="accent1"/>
          </a:fillRef>
          <a:effectRef idx="0">
            <a:schemeClr val="accent1"/>
          </a:effectRef>
          <a:fontRef idx="minor">
            <a:schemeClr val="tx1"/>
          </a:fontRef>
        </p:style>
      </p:cxnSp>
      <p:cxnSp>
        <p:nvCxnSpPr>
          <p:cNvPr id="6" name="Connector 5"/>
          <p:cNvCxnSpPr/>
          <p:nvPr/>
        </p:nvCxnSpPr>
        <p:spPr>
          <a:xfrm>
            <a:off x="3108960" y="3703320"/>
            <a:ext cx="1096440" cy="1220612"/>
          </a:xfrm>
          <a:prstGeom prst="line">
            <a:avLst/>
          </a:prstGeom>
          <a:ln w="25400">
            <a:solidFill>
              <a:srgbClr val="B2BBBF"/>
            </a:solidFill>
          </a:ln>
        </p:spPr>
        <p:style>
          <a:lnRef idx="2">
            <a:schemeClr val="accent1"/>
          </a:lnRef>
          <a:fillRef idx="0">
            <a:schemeClr val="accent1"/>
          </a:fillRef>
          <a:effectRef idx="0">
            <a:schemeClr val="accent1"/>
          </a:effectRef>
          <a:fontRef idx="minor">
            <a:schemeClr val="tx1"/>
          </a:fontRef>
        </p:style>
      </p:cxnSp>
      <p:cxnSp>
        <p:nvCxnSpPr>
          <p:cNvPr id="7" name="Connector 6"/>
          <p:cNvCxnSpPr/>
          <p:nvPr/>
        </p:nvCxnSpPr>
        <p:spPr>
          <a:xfrm flipH="1">
            <a:off x="2012519" y="3703320"/>
            <a:ext cx="1096441" cy="1220612"/>
          </a:xfrm>
          <a:prstGeom prst="line">
            <a:avLst/>
          </a:prstGeom>
          <a:ln w="25400">
            <a:solidFill>
              <a:srgbClr val="B2BBBF"/>
            </a:solidFill>
          </a:ln>
        </p:spPr>
        <p:style>
          <a:lnRef idx="2">
            <a:schemeClr val="accent1"/>
          </a:lnRef>
          <a:fillRef idx="0">
            <a:schemeClr val="accent1"/>
          </a:fillRef>
          <a:effectRef idx="0">
            <a:schemeClr val="accent1"/>
          </a:effectRef>
          <a:fontRef idx="minor">
            <a:schemeClr val="tx1"/>
          </a:fontRef>
        </p:style>
      </p:cxnSp>
      <p:cxnSp>
        <p:nvCxnSpPr>
          <p:cNvPr id="8" name="Connector 7"/>
          <p:cNvCxnSpPr/>
          <p:nvPr/>
        </p:nvCxnSpPr>
        <p:spPr>
          <a:xfrm flipH="1" flipV="1">
            <a:off x="1334881" y="3237087"/>
            <a:ext cx="1774079" cy="466233"/>
          </a:xfrm>
          <a:prstGeom prst="line">
            <a:avLst/>
          </a:prstGeom>
          <a:ln w="25400">
            <a:solidFill>
              <a:srgbClr val="B2BBBF"/>
            </a:solidFill>
          </a:ln>
        </p:spPr>
        <p:style>
          <a:lnRef idx="2">
            <a:schemeClr val="accent1"/>
          </a:lnRef>
          <a:fillRef idx="0">
            <a:schemeClr val="accent1"/>
          </a:fillRef>
          <a:effectRef idx="0">
            <a:schemeClr val="accent1"/>
          </a:effectRef>
          <a:fontRef idx="minor">
            <a:schemeClr val="tx1"/>
          </a:fontRef>
        </p:style>
      </p:cxnSp>
      <p:sp>
        <p:nvSpPr>
          <p:cNvPr id="9" name="Hub"/>
          <p:cNvSpPr/>
          <p:nvPr/>
        </p:nvSpPr>
        <p:spPr>
          <a:xfrm>
            <a:off x="2194560" y="3108960"/>
            <a:ext cx="1828800" cy="1188720"/>
          </a:xfrm>
          <a:prstGeom prst="roundRect">
            <a:avLst>
              <a:gd name="adj" fmla="val 6000"/>
            </a:avLst>
          </a:prstGeom>
          <a:solidFill>
            <a:srgbClr val="DB3724"/>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109728" tIns="73152" rIns="109728" bIns="73152"/>
          <a:lstStyle/>
          <a:p>
            <a:pPr algn="ctr" marL="0" indent="0">
              <a:spcBef>
                <a:spcPts val="0"/>
              </a:spcBef>
              <a:spcAft>
                <a:spcPts val="200"/>
              </a:spcAft>
              <a:buNone/>
            </a:pPr>
            <a:r>
              <a:rPr sz="1400" b="1" i="0">
                <a:solidFill>
                  <a:srgbClr val="FFFFFF"/>
                </a:solidFill>
              </a:rPr>
              <a:t>AI &amp; Workforce Intelligence Hub</a:t>
            </a:r>
          </a:p>
          <a:p>
            <a:pPr algn="ctr" marL="0" indent="0">
              <a:spcBef>
                <a:spcPts val="0"/>
              </a:spcBef>
              <a:spcAft>
                <a:spcPts val="400"/>
              </a:spcAft>
              <a:buNone/>
            </a:pPr>
            <a:r>
              <a:rPr sz="1200" b="0" i="0">
                <a:solidFill>
                  <a:srgbClr val="FFFFFF"/>
                </a:solidFill>
              </a:rPr>
              <a:t>Chief AI Officer reports to CEO</a:t>
            </a:r>
          </a:p>
        </p:txBody>
      </p:sp>
      <p:sp>
        <p:nvSpPr>
          <p:cNvPr id="10" name="Spoke"/>
          <p:cNvSpPr/>
          <p:nvPr/>
        </p:nvSpPr>
        <p:spPr>
          <a:xfrm>
            <a:off x="2423160" y="1892807"/>
            <a:ext cx="1371600" cy="603504"/>
          </a:xfrm>
          <a:prstGeom prst="roundRect">
            <a:avLst>
              <a:gd name="adj" fmla="val 6000"/>
            </a:avLst>
          </a:prstGeom>
          <a:solidFill>
            <a:srgbClr val="DDE5E9"/>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36576" tIns="18288" rIns="36576" bIns="18288"/>
          <a:lstStyle/>
          <a:p>
            <a:pPr algn="ctr" marL="0" indent="0">
              <a:spcBef>
                <a:spcPts val="0"/>
              </a:spcBef>
              <a:spcAft>
                <a:spcPts val="0"/>
              </a:spcAft>
              <a:buNone/>
            </a:pPr>
            <a:r>
              <a:rPr sz="1200" b="1" i="0">
                <a:solidFill>
                  <a:srgbClr val="001823"/>
                </a:solidFill>
              </a:rPr>
              <a:t>Express</a:t>
            </a:r>
          </a:p>
          <a:p>
            <a:pPr algn="ctr" marL="0" indent="0">
              <a:spcBef>
                <a:spcPts val="0"/>
              </a:spcBef>
              <a:spcAft>
                <a:spcPts val="400"/>
              </a:spcAft>
              <a:buNone/>
            </a:pPr>
            <a:r>
              <a:rPr sz="1100" b="0" i="0">
                <a:solidFill>
                  <a:srgbClr val="5E7079"/>
                </a:solidFill>
              </a:rPr>
              <a:t>embedded AI lead</a:t>
            </a:r>
          </a:p>
        </p:txBody>
      </p:sp>
      <p:sp>
        <p:nvSpPr>
          <p:cNvPr id="11" name="Spoke"/>
          <p:cNvSpPr/>
          <p:nvPr/>
        </p:nvSpPr>
        <p:spPr>
          <a:xfrm>
            <a:off x="4197238" y="2935335"/>
            <a:ext cx="1371600" cy="603504"/>
          </a:xfrm>
          <a:prstGeom prst="roundRect">
            <a:avLst>
              <a:gd name="adj" fmla="val 6000"/>
            </a:avLst>
          </a:prstGeom>
          <a:solidFill>
            <a:srgbClr val="DDE5E9"/>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36576" tIns="18288" rIns="36576" bIns="18288"/>
          <a:lstStyle/>
          <a:p>
            <a:pPr algn="ctr" marL="0" indent="0">
              <a:spcBef>
                <a:spcPts val="0"/>
              </a:spcBef>
              <a:spcAft>
                <a:spcPts val="0"/>
              </a:spcAft>
              <a:buNone/>
            </a:pPr>
            <a:r>
              <a:rPr sz="1200" b="1" i="0">
                <a:solidFill>
                  <a:srgbClr val="001823"/>
                </a:solidFill>
              </a:rPr>
              <a:t>Global Forwarding</a:t>
            </a:r>
          </a:p>
          <a:p>
            <a:pPr algn="ctr" marL="0" indent="0">
              <a:spcBef>
                <a:spcPts val="0"/>
              </a:spcBef>
              <a:spcAft>
                <a:spcPts val="400"/>
              </a:spcAft>
              <a:buNone/>
            </a:pPr>
            <a:r>
              <a:rPr sz="1100" b="0" i="0">
                <a:solidFill>
                  <a:srgbClr val="5E7079"/>
                </a:solidFill>
              </a:rPr>
              <a:t>embedded AI lead</a:t>
            </a:r>
          </a:p>
        </p:txBody>
      </p:sp>
      <p:sp>
        <p:nvSpPr>
          <p:cNvPr id="12" name="Spoke"/>
          <p:cNvSpPr/>
          <p:nvPr/>
        </p:nvSpPr>
        <p:spPr>
          <a:xfrm>
            <a:off x="3519600" y="4622180"/>
            <a:ext cx="1371600" cy="603504"/>
          </a:xfrm>
          <a:prstGeom prst="roundRect">
            <a:avLst>
              <a:gd name="adj" fmla="val 6000"/>
            </a:avLst>
          </a:prstGeom>
          <a:solidFill>
            <a:srgbClr val="DDE5E9"/>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36576" tIns="18288" rIns="36576" bIns="18288"/>
          <a:lstStyle/>
          <a:p>
            <a:pPr algn="ctr" marL="0" indent="0">
              <a:spcBef>
                <a:spcPts val="0"/>
              </a:spcBef>
              <a:spcAft>
                <a:spcPts val="0"/>
              </a:spcAft>
              <a:buNone/>
            </a:pPr>
            <a:r>
              <a:rPr sz="1200" b="1" i="0">
                <a:solidFill>
                  <a:srgbClr val="001823"/>
                </a:solidFill>
              </a:rPr>
              <a:t>Supply Chain</a:t>
            </a:r>
          </a:p>
          <a:p>
            <a:pPr algn="ctr" marL="0" indent="0">
              <a:spcBef>
                <a:spcPts val="0"/>
              </a:spcBef>
              <a:spcAft>
                <a:spcPts val="400"/>
              </a:spcAft>
              <a:buNone/>
            </a:pPr>
            <a:r>
              <a:rPr sz="1100" b="0" i="0">
                <a:solidFill>
                  <a:srgbClr val="5E7079"/>
                </a:solidFill>
              </a:rPr>
              <a:t>embedded AI lead</a:t>
            </a:r>
          </a:p>
        </p:txBody>
      </p:sp>
      <p:sp>
        <p:nvSpPr>
          <p:cNvPr id="13" name="Spoke"/>
          <p:cNvSpPr/>
          <p:nvPr/>
        </p:nvSpPr>
        <p:spPr>
          <a:xfrm>
            <a:off x="1326719" y="4622180"/>
            <a:ext cx="1371600" cy="603504"/>
          </a:xfrm>
          <a:prstGeom prst="roundRect">
            <a:avLst>
              <a:gd name="adj" fmla="val 6000"/>
            </a:avLst>
          </a:prstGeom>
          <a:solidFill>
            <a:srgbClr val="DDE5E9"/>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36576" tIns="18288" rIns="36576" bIns="18288"/>
          <a:lstStyle/>
          <a:p>
            <a:pPr algn="ctr" marL="0" indent="0">
              <a:spcBef>
                <a:spcPts val="0"/>
              </a:spcBef>
              <a:spcAft>
                <a:spcPts val="0"/>
              </a:spcAft>
              <a:buNone/>
            </a:pPr>
            <a:r>
              <a:rPr sz="1200" b="1" i="0">
                <a:solidFill>
                  <a:srgbClr val="001823"/>
                </a:solidFill>
              </a:rPr>
              <a:t>eCommerce</a:t>
            </a:r>
          </a:p>
          <a:p>
            <a:pPr algn="ctr" marL="0" indent="0">
              <a:spcBef>
                <a:spcPts val="0"/>
              </a:spcBef>
              <a:spcAft>
                <a:spcPts val="400"/>
              </a:spcAft>
              <a:buNone/>
            </a:pPr>
            <a:r>
              <a:rPr sz="1100" b="0" i="0">
                <a:solidFill>
                  <a:srgbClr val="5E7079"/>
                </a:solidFill>
              </a:rPr>
              <a:t>embedded AI lead</a:t>
            </a:r>
          </a:p>
        </p:txBody>
      </p:sp>
      <p:sp>
        <p:nvSpPr>
          <p:cNvPr id="14" name="Spoke"/>
          <p:cNvSpPr/>
          <p:nvPr/>
        </p:nvSpPr>
        <p:spPr>
          <a:xfrm>
            <a:off x="649081" y="2935335"/>
            <a:ext cx="1371600" cy="603504"/>
          </a:xfrm>
          <a:prstGeom prst="roundRect">
            <a:avLst>
              <a:gd name="adj" fmla="val 6000"/>
            </a:avLst>
          </a:prstGeom>
          <a:solidFill>
            <a:srgbClr val="DDE5E9"/>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36576" tIns="18288" rIns="36576" bIns="18288"/>
          <a:lstStyle/>
          <a:p>
            <a:pPr algn="ctr" marL="0" indent="0">
              <a:spcBef>
                <a:spcPts val="0"/>
              </a:spcBef>
              <a:spcAft>
                <a:spcPts val="0"/>
              </a:spcAft>
              <a:buNone/>
            </a:pPr>
            <a:r>
              <a:rPr sz="1200" b="1" i="0">
                <a:solidFill>
                  <a:srgbClr val="001823"/>
                </a:solidFill>
              </a:rPr>
              <a:t>Post &amp; Parcel Germany</a:t>
            </a:r>
          </a:p>
          <a:p>
            <a:pPr algn="ctr" marL="0" indent="0">
              <a:spcBef>
                <a:spcPts val="0"/>
              </a:spcBef>
              <a:spcAft>
                <a:spcPts val="400"/>
              </a:spcAft>
              <a:buNone/>
            </a:pPr>
            <a:r>
              <a:rPr sz="1100" b="0" i="0">
                <a:solidFill>
                  <a:srgbClr val="5E7079"/>
                </a:solidFill>
              </a:rPr>
              <a:t>embedded AI lead</a:t>
            </a:r>
          </a:p>
        </p:txBody>
      </p:sp>
      <p:sp>
        <p:nvSpPr>
          <p:cNvPr id="15" name="Diagram caption"/>
          <p:cNvSpPr txBox="1"/>
          <p:nvPr/>
        </p:nvSpPr>
        <p:spPr>
          <a:xfrm>
            <a:off x="530352" y="5577840"/>
            <a:ext cx="5120640" cy="640080"/>
          </a:xfrm>
          <a:prstGeom prst="rect">
            <a:avLst/>
          </a:prstGeom>
          <a:noFill/>
        </p:spPr>
        <p:txBody>
          <a:bodyPr wrap="square" anchor="t" lIns="0" tIns="0" rIns="0" bIns="0">
            <a:spAutoFit/>
          </a:bodyPr>
          <a:lstStyle/>
          <a:p>
            <a:pPr algn="l" marL="0" indent="0">
              <a:spcBef>
                <a:spcPts val="0"/>
              </a:spcBef>
              <a:spcAft>
                <a:spcPts val="400"/>
              </a:spcAft>
              <a:buNone/>
            </a:pPr>
            <a:r>
              <a:rPr sz="1300" b="0" i="1">
                <a:solidFill>
                  <a:srgbClr val="3A4F59"/>
                </a:solidFill>
              </a:rPr>
              <a:t>One change: a federated hub-and-spoke structure. The hub sets shared data, model, and bias-testing standards; divisions keep ownership of results.</a:t>
            </a:r>
          </a:p>
        </p:txBody>
      </p:sp>
      <p:sp>
        <p:nvSpPr>
          <p:cNvPr id="16" name="TextBox 15"/>
          <p:cNvSpPr txBox="1"/>
          <p:nvPr/>
        </p:nvSpPr>
        <p:spPr>
          <a:xfrm>
            <a:off x="5897880" y="1280160"/>
            <a:ext cx="5669280" cy="320040"/>
          </a:xfrm>
          <a:prstGeom prst="rect">
            <a:avLst/>
          </a:prstGeom>
          <a:noFill/>
        </p:spPr>
        <p:txBody>
          <a:bodyPr wrap="square" anchor="t" lIns="0" tIns="0" rIns="0" bIns="0">
            <a:spAutoFit/>
          </a:bodyPr>
          <a:lstStyle/>
          <a:p>
            <a:pPr algn="l" marL="0" indent="0">
              <a:spcBef>
                <a:spcPts val="0"/>
              </a:spcBef>
              <a:spcAft>
                <a:spcPts val="400"/>
              </a:spcAft>
              <a:buNone/>
            </a:pPr>
            <a:r>
              <a:rPr sz="1600" b="1" i="0">
                <a:solidFill>
                  <a:srgbClr val="001823"/>
                </a:solidFill>
              </a:rPr>
              <a:t>Why it improves responsiveness</a:t>
            </a:r>
          </a:p>
        </p:txBody>
      </p:sp>
      <p:sp>
        <p:nvSpPr>
          <p:cNvPr id="17" name="TextBox 16"/>
          <p:cNvSpPr txBox="1"/>
          <p:nvPr/>
        </p:nvSpPr>
        <p:spPr>
          <a:xfrm>
            <a:off x="5897880" y="1645920"/>
            <a:ext cx="5669280" cy="1828800"/>
          </a:xfrm>
          <a:prstGeom prst="rect">
            <a:avLst/>
          </a:prstGeom>
          <a:noFill/>
        </p:spPr>
        <p:txBody>
          <a:bodyPr wrap="square" anchor="t" lIns="0" tIns="0" rIns="0" bIns="0">
            <a:spAutoFit/>
          </a:bodyPr>
          <a:lstStyle/>
          <a:p>
            <a:pPr algn="l" marL="182880" indent="-182880">
              <a:spcBef>
                <a:spcPts val="0"/>
              </a:spcBef>
              <a:spcAft>
                <a:spcPts val="400"/>
              </a:spcAft>
              <a:buChar char="•"/>
            </a:pPr>
            <a:r>
              <a:rPr sz="1400" b="0" i="0">
                <a:solidFill>
                  <a:srgbClr val="001823"/>
                </a:solidFill>
              </a:rPr>
              <a:t>Demographic signals (retirement waves, shifting customer cohorts) reach every division through one data and model layer</a:t>
            </a:r>
          </a:p>
          <a:p>
            <a:pPr algn="l" marL="182880" indent="-182880">
              <a:spcBef>
                <a:spcPts val="0"/>
              </a:spcBef>
              <a:spcAft>
                <a:spcPts val="400"/>
              </a:spcAft>
              <a:buChar char="•"/>
            </a:pPr>
            <a:r>
              <a:rPr sz="1400" b="0" i="0">
                <a:solidFill>
                  <a:srgbClr val="001823"/>
                </a:solidFill>
              </a:rPr>
              <a:t>Proven pilots, such as robotics or agentic quoting, scale through one governed pipeline instead of five</a:t>
            </a:r>
          </a:p>
          <a:p>
            <a:pPr algn="l" marL="182880" indent="-182880">
              <a:spcBef>
                <a:spcPts val="0"/>
              </a:spcBef>
              <a:spcAft>
                <a:spcPts val="400"/>
              </a:spcAft>
              <a:buChar char="•"/>
            </a:pPr>
            <a:r>
              <a:rPr sz="1400" b="0" i="0">
                <a:solidFill>
                  <a:srgbClr val="001823"/>
                </a:solidFill>
              </a:rPr>
              <a:t>Technology trends are reviewed quarterly, matching the pace of change</a:t>
            </a:r>
          </a:p>
        </p:txBody>
      </p:sp>
      <p:sp>
        <p:nvSpPr>
          <p:cNvPr id="18" name="TextBox 17"/>
          <p:cNvSpPr txBox="1"/>
          <p:nvPr/>
        </p:nvSpPr>
        <p:spPr>
          <a:xfrm>
            <a:off x="5897880" y="3246120"/>
            <a:ext cx="5669280" cy="320040"/>
          </a:xfrm>
          <a:prstGeom prst="rect">
            <a:avLst/>
          </a:prstGeom>
          <a:noFill/>
        </p:spPr>
        <p:txBody>
          <a:bodyPr wrap="square" anchor="t" lIns="0" tIns="0" rIns="0" bIns="0">
            <a:spAutoFit/>
          </a:bodyPr>
          <a:lstStyle/>
          <a:p>
            <a:pPr algn="l" marL="0" indent="0">
              <a:spcBef>
                <a:spcPts val="0"/>
              </a:spcBef>
              <a:spcAft>
                <a:spcPts val="400"/>
              </a:spcAft>
              <a:buNone/>
            </a:pPr>
            <a:r>
              <a:rPr sz="1600" b="1" i="0">
                <a:solidFill>
                  <a:srgbClr val="001823"/>
                </a:solidFill>
              </a:rPr>
              <a:t>How it reflects ethical practice</a:t>
            </a:r>
          </a:p>
        </p:txBody>
      </p:sp>
      <p:sp>
        <p:nvSpPr>
          <p:cNvPr id="19" name="Ethics label"/>
          <p:cNvSpPr/>
          <p:nvPr/>
        </p:nvSpPr>
        <p:spPr>
          <a:xfrm>
            <a:off x="5897880" y="3639312"/>
            <a:ext cx="1600200" cy="777240"/>
          </a:xfrm>
          <a:prstGeom prst="rect">
            <a:avLst/>
          </a:prstGeom>
          <a:solidFill>
            <a:srgbClr val="15333E"/>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109728" tIns="73152" rIns="109728" bIns="73152"/>
          <a:lstStyle/>
          <a:p>
            <a:pPr algn="l" marL="0" indent="0">
              <a:spcBef>
                <a:spcPts val="0"/>
              </a:spcBef>
              <a:spcAft>
                <a:spcPts val="400"/>
              </a:spcAft>
              <a:buNone/>
            </a:pPr>
            <a:r>
              <a:rPr sz="1400" b="1" i="0">
                <a:solidFill>
                  <a:srgbClr val="FFFFFF"/>
                </a:solidFill>
              </a:rPr>
              <a:t>Accountability</a:t>
            </a:r>
          </a:p>
        </p:txBody>
      </p:sp>
      <p:sp>
        <p:nvSpPr>
          <p:cNvPr id="20" name="Ethics text"/>
          <p:cNvSpPr/>
          <p:nvPr/>
        </p:nvSpPr>
        <p:spPr>
          <a:xfrm>
            <a:off x="7498079" y="3639312"/>
            <a:ext cx="4078224" cy="777240"/>
          </a:xfrm>
          <a:prstGeom prst="rect">
            <a:avLst/>
          </a:prstGeom>
          <a:solidFill>
            <a:srgbClr val="EEF2F4"/>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109728" tIns="73152" rIns="109728" bIns="73152"/>
          <a:lstStyle/>
          <a:p>
            <a:pPr algn="l" marL="0" indent="0">
              <a:spcBef>
                <a:spcPts val="0"/>
              </a:spcBef>
              <a:spcAft>
                <a:spcPts val="400"/>
              </a:spcAft>
              <a:buNone/>
            </a:pPr>
            <a:r>
              <a:rPr sz="1300" b="0" i="0">
                <a:solidFill>
                  <a:srgbClr val="001823"/>
                </a:solidFill>
              </a:rPr>
              <a:t>A named executive owns AI outcomes; every use case has a business owner and a decision log</a:t>
            </a:r>
          </a:p>
        </p:txBody>
      </p:sp>
      <p:sp>
        <p:nvSpPr>
          <p:cNvPr id="21" name="Ethics label"/>
          <p:cNvSpPr/>
          <p:nvPr/>
        </p:nvSpPr>
        <p:spPr>
          <a:xfrm>
            <a:off x="5897880" y="4489704"/>
            <a:ext cx="1600200" cy="777240"/>
          </a:xfrm>
          <a:prstGeom prst="rect">
            <a:avLst/>
          </a:prstGeom>
          <a:solidFill>
            <a:srgbClr val="15333E"/>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109728" tIns="73152" rIns="109728" bIns="73152"/>
          <a:lstStyle/>
          <a:p>
            <a:pPr algn="l" marL="0" indent="0">
              <a:spcBef>
                <a:spcPts val="0"/>
              </a:spcBef>
              <a:spcAft>
                <a:spcPts val="400"/>
              </a:spcAft>
              <a:buNone/>
            </a:pPr>
            <a:r>
              <a:rPr sz="1400" b="1" i="0">
                <a:solidFill>
                  <a:srgbClr val="FFFFFF"/>
                </a:solidFill>
              </a:rPr>
              <a:t>Transparency</a:t>
            </a:r>
          </a:p>
        </p:txBody>
      </p:sp>
      <p:sp>
        <p:nvSpPr>
          <p:cNvPr id="22" name="Ethics text"/>
          <p:cNvSpPr/>
          <p:nvPr/>
        </p:nvSpPr>
        <p:spPr>
          <a:xfrm>
            <a:off x="7498079" y="4489704"/>
            <a:ext cx="4078224" cy="777240"/>
          </a:xfrm>
          <a:prstGeom prst="rect">
            <a:avLst/>
          </a:prstGeom>
          <a:solidFill>
            <a:srgbClr val="EEF2F4"/>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109728" tIns="73152" rIns="109728" bIns="73152"/>
          <a:lstStyle/>
          <a:p>
            <a:pPr algn="l" marL="0" indent="0">
              <a:spcBef>
                <a:spcPts val="0"/>
              </a:spcBef>
              <a:spcAft>
                <a:spcPts val="400"/>
              </a:spcAft>
              <a:buNone/>
            </a:pPr>
            <a:r>
              <a:rPr sz="1300" b="0" i="0">
                <a:solidFill>
                  <a:srgbClr val="001823"/>
                </a:solidFill>
              </a:rPr>
              <a:t>Group AI inventory; employees and customers told when AI is used; audit summaries shared with works councils</a:t>
            </a:r>
          </a:p>
        </p:txBody>
      </p:sp>
      <p:sp>
        <p:nvSpPr>
          <p:cNvPr id="23" name="Ethics label"/>
          <p:cNvSpPr/>
          <p:nvPr/>
        </p:nvSpPr>
        <p:spPr>
          <a:xfrm>
            <a:off x="5897880" y="5340096"/>
            <a:ext cx="1600200" cy="777240"/>
          </a:xfrm>
          <a:prstGeom prst="rect">
            <a:avLst/>
          </a:prstGeom>
          <a:solidFill>
            <a:srgbClr val="15333E"/>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109728" tIns="73152" rIns="109728" bIns="73152"/>
          <a:lstStyle/>
          <a:p>
            <a:pPr algn="l" marL="0" indent="0">
              <a:spcBef>
                <a:spcPts val="0"/>
              </a:spcBef>
              <a:spcAft>
                <a:spcPts val="400"/>
              </a:spcAft>
              <a:buNone/>
            </a:pPr>
            <a:r>
              <a:rPr sz="1400" b="1" i="0">
                <a:solidFill>
                  <a:srgbClr val="FFFFFF"/>
                </a:solidFill>
              </a:rPr>
              <a:t>Fairness</a:t>
            </a:r>
          </a:p>
        </p:txBody>
      </p:sp>
      <p:sp>
        <p:nvSpPr>
          <p:cNvPr id="24" name="Ethics text"/>
          <p:cNvSpPr/>
          <p:nvPr/>
        </p:nvSpPr>
        <p:spPr>
          <a:xfrm>
            <a:off x="7498079" y="5340096"/>
            <a:ext cx="4078224" cy="777240"/>
          </a:xfrm>
          <a:prstGeom prst="rect">
            <a:avLst/>
          </a:prstGeom>
          <a:solidFill>
            <a:srgbClr val="EEF2F4"/>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109728" tIns="73152" rIns="109728" bIns="73152"/>
          <a:lstStyle/>
          <a:p>
            <a:pPr algn="l" marL="0" indent="0">
              <a:spcBef>
                <a:spcPts val="0"/>
              </a:spcBef>
              <a:spcAft>
                <a:spcPts val="400"/>
              </a:spcAft>
              <a:buNone/>
            </a:pPr>
            <a:r>
              <a:rPr sz="1300" b="0" i="0">
                <a:solidFill>
                  <a:srgbClr val="001823"/>
                </a:solidFill>
              </a:rPr>
              <a:t>Bias tests, human final say on people decisions, and an appeal path for employees</a:t>
            </a:r>
          </a:p>
        </p:txBody>
      </p:sp>
      <p:sp>
        <p:nvSpPr>
          <p:cNvPr id="25" name="Source line"/>
          <p:cNvSpPr txBox="1"/>
          <p:nvPr/>
        </p:nvSpPr>
        <p:spPr>
          <a:xfrm>
            <a:off x="530352" y="6291072"/>
            <a:ext cx="11045952" cy="274320"/>
          </a:xfrm>
          <a:prstGeom prst="rect">
            <a:avLst/>
          </a:prstGeom>
          <a:noFill/>
        </p:spPr>
        <p:txBody>
          <a:bodyPr wrap="square" anchor="t" lIns="0" tIns="0" rIns="0" bIns="0">
            <a:spAutoFit/>
          </a:bodyPr>
          <a:lstStyle/>
          <a:p>
            <a:pPr algn="l" marL="0" indent="0">
              <a:spcBef>
                <a:spcPts val="0"/>
              </a:spcBef>
              <a:spcAft>
                <a:spcPts val="400"/>
              </a:spcAft>
              <a:buNone/>
            </a:pPr>
            <a:r>
              <a:rPr sz="1100" b="0" i="0">
                <a:solidFill>
                  <a:srgbClr val="5E7079"/>
                </a:solidFill>
              </a:rPr>
              <a:t>Sources: DHL Group (2026e, 2026f); Leaders League (2026); NIST (2023). The structure is the presenter's recommendation.</a:t>
            </a:r>
          </a:p>
        </p:txBody>
      </p:sp>
    </p:spTree>
    <p:custDataLst>
      <p:tags r:id="rId1"/>
    </p:custDataLst>
    <p:extLst>
      <p:ext uri="{BB962C8B-B14F-4D97-AF65-F5344CB8AC3E}">
        <p14:creationId xmlns:p14="http://schemas.microsoft.com/office/powerpoint/2010/main" val="307586910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DF027AC8-9D34-1AF0-F867-944D5744D9B1}"/>
              </a:ext>
            </a:extLst>
          </p:cNvPr>
          <p:cNvSpPr>
            <a:spLocks noGrp="1"/>
          </p:cNvSpPr>
          <p:nvPr>
            <p:ph type="title"/>
          </p:nvPr>
        </p:nvSpPr>
        <p:spPr/>
        <p:txBody>
          <a:bodyPr/>
          <a:lstStyle/>
          <a:p>
            <a:r>
              <a:rPr lang="en-US" sz="2800"/>
              <a:t>Conclusion: Structure That Amplifies People</a:t>
            </a:r>
          </a:p>
        </p:txBody>
      </p:sp>
      <p:sp>
        <p:nvSpPr>
          <p:cNvPr id="2" name="Footer Placeholder 1">
            <a:extLst>
              <a:ext uri="{FF2B5EF4-FFF2-40B4-BE49-F238E27FC236}">
                <a16:creationId xmlns:a16="http://schemas.microsoft.com/office/drawing/2014/main" id="{96A72EFF-13C7-74D2-B35D-200562B8FC06}"/>
              </a:ext>
            </a:extLst>
          </p:cNvPr>
          <p:cNvSpPr>
            <a:spLocks noGrp="1"/>
          </p:cNvSpPr>
          <p:nvPr>
            <p:ph type="ftr" sz="quarter" idx="3"/>
          </p:nvPr>
        </p:nvSpPr>
        <p:spPr/>
        <p:txBody>
          <a:bodyPr/>
          <a:lstStyle/>
          <a:p>
            <a:r>
              <a:rPr lang="en-US"/>
              <a:t>© 2025 University of Phoenix</a:t>
            </a:r>
          </a:p>
        </p:txBody>
      </p:sp>
      <p:sp>
        <p:nvSpPr>
          <p:cNvPr id="4" name="Finding card"/>
          <p:cNvSpPr/>
          <p:nvPr/>
        </p:nvSpPr>
        <p:spPr>
          <a:xfrm>
            <a:off x="530352" y="1280160"/>
            <a:ext cx="3611880" cy="2331720"/>
          </a:xfrm>
          <a:prstGeom prst="rect">
            <a:avLst/>
          </a:prstGeom>
          <a:solidFill>
            <a:srgbClr val="EEF2F4"/>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09728" tIns="73152" rIns="109728" bIns="73152"/>
          <a:lstStyle/>
          <a:p>
            <a:pPr algn="ctr"/>
          </a:p>
        </p:txBody>
      </p:sp>
      <p:sp>
        <p:nvSpPr>
          <p:cNvPr id="5" name="Number badge"/>
          <p:cNvSpPr/>
          <p:nvPr/>
        </p:nvSpPr>
        <p:spPr>
          <a:xfrm>
            <a:off x="694944" y="1417320"/>
            <a:ext cx="457200" cy="457200"/>
          </a:xfrm>
          <a:prstGeom prst="ellipse">
            <a:avLst/>
          </a:prstGeom>
          <a:solidFill>
            <a:srgbClr val="DB3724"/>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0" tIns="0" rIns="0" bIns="0"/>
          <a:lstStyle/>
          <a:p>
            <a:pPr algn="ctr" marL="0" indent="0">
              <a:spcBef>
                <a:spcPts val="0"/>
              </a:spcBef>
              <a:spcAft>
                <a:spcPts val="400"/>
              </a:spcAft>
              <a:buNone/>
            </a:pPr>
            <a:r>
              <a:rPr sz="1600" b="1" i="0">
                <a:solidFill>
                  <a:srgbClr val="FFFFFF"/>
                </a:solidFill>
              </a:rPr>
              <a:t>1</a:t>
            </a:r>
          </a:p>
        </p:txBody>
      </p:sp>
      <p:sp>
        <p:nvSpPr>
          <p:cNvPr id="6" name="TextBox 5"/>
          <p:cNvSpPr txBox="1"/>
          <p:nvPr/>
        </p:nvSpPr>
        <p:spPr>
          <a:xfrm>
            <a:off x="1280160" y="1463040"/>
            <a:ext cx="2743200" cy="365760"/>
          </a:xfrm>
          <a:prstGeom prst="rect">
            <a:avLst/>
          </a:prstGeom>
          <a:noFill/>
        </p:spPr>
        <p:txBody>
          <a:bodyPr wrap="square" anchor="ctr" lIns="0" tIns="0" rIns="0" bIns="0">
            <a:spAutoFit/>
          </a:bodyPr>
          <a:lstStyle/>
          <a:p>
            <a:pPr algn="l" marL="0" indent="0">
              <a:spcBef>
                <a:spcPts val="0"/>
              </a:spcBef>
              <a:spcAft>
                <a:spcPts val="400"/>
              </a:spcAft>
              <a:buNone/>
            </a:pPr>
            <a:r>
              <a:rPr sz="1800" b="1" i="0">
                <a:solidFill>
                  <a:srgbClr val="001823"/>
                </a:solidFill>
              </a:rPr>
              <a:t>Structure</a:t>
            </a:r>
          </a:p>
        </p:txBody>
      </p:sp>
      <p:sp>
        <p:nvSpPr>
          <p:cNvPr id="7" name="TextBox 6"/>
          <p:cNvSpPr txBox="1"/>
          <p:nvPr/>
        </p:nvSpPr>
        <p:spPr>
          <a:xfrm>
            <a:off x="694944" y="2057400"/>
            <a:ext cx="3291840" cy="1508760"/>
          </a:xfrm>
          <a:prstGeom prst="rect">
            <a:avLst/>
          </a:prstGeom>
          <a:noFill/>
        </p:spPr>
        <p:txBody>
          <a:bodyPr wrap="square" anchor="t" lIns="0" tIns="0" rIns="0" bIns="0">
            <a:spAutoFit/>
          </a:bodyPr>
          <a:lstStyle/>
          <a:p>
            <a:pPr algn="l" marL="0" indent="0">
              <a:spcBef>
                <a:spcPts val="0"/>
              </a:spcBef>
              <a:spcAft>
                <a:spcPts val="400"/>
              </a:spcAft>
              <a:buNone/>
            </a:pPr>
            <a:r>
              <a:rPr sz="1500" b="0" i="0">
                <a:solidFill>
                  <a:srgbClr val="001823"/>
                </a:solidFill>
              </a:rPr>
              <a:t>The divisional model with a strong center drives growth, but AI, data, and governance are fragmented across five standalone entities, and training hours fell in 2025.</a:t>
            </a:r>
          </a:p>
        </p:txBody>
      </p:sp>
      <p:sp>
        <p:nvSpPr>
          <p:cNvPr id="8" name="Finding card"/>
          <p:cNvSpPr/>
          <p:nvPr/>
        </p:nvSpPr>
        <p:spPr>
          <a:xfrm>
            <a:off x="4247388" y="1280160"/>
            <a:ext cx="3611880" cy="2331720"/>
          </a:xfrm>
          <a:prstGeom prst="rect">
            <a:avLst/>
          </a:prstGeom>
          <a:solidFill>
            <a:srgbClr val="EEF2F4"/>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09728" tIns="73152" rIns="109728" bIns="73152"/>
          <a:lstStyle/>
          <a:p>
            <a:pPr algn="ctr"/>
          </a:p>
        </p:txBody>
      </p:sp>
      <p:sp>
        <p:nvSpPr>
          <p:cNvPr id="9" name="Number badge"/>
          <p:cNvSpPr/>
          <p:nvPr/>
        </p:nvSpPr>
        <p:spPr>
          <a:xfrm>
            <a:off x="4411980" y="1417320"/>
            <a:ext cx="457200" cy="457200"/>
          </a:xfrm>
          <a:prstGeom prst="ellipse">
            <a:avLst/>
          </a:prstGeom>
          <a:solidFill>
            <a:srgbClr val="DB3724"/>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0" tIns="0" rIns="0" bIns="0"/>
          <a:lstStyle/>
          <a:p>
            <a:pPr algn="ctr" marL="0" indent="0">
              <a:spcBef>
                <a:spcPts val="0"/>
              </a:spcBef>
              <a:spcAft>
                <a:spcPts val="400"/>
              </a:spcAft>
              <a:buNone/>
            </a:pPr>
            <a:r>
              <a:rPr sz="1600" b="1" i="0">
                <a:solidFill>
                  <a:srgbClr val="FFFFFF"/>
                </a:solidFill>
              </a:rPr>
              <a:t>2</a:t>
            </a:r>
          </a:p>
        </p:txBody>
      </p:sp>
      <p:sp>
        <p:nvSpPr>
          <p:cNvPr id="10" name="TextBox 9"/>
          <p:cNvSpPr txBox="1"/>
          <p:nvPr/>
        </p:nvSpPr>
        <p:spPr>
          <a:xfrm>
            <a:off x="4997196" y="1463040"/>
            <a:ext cx="2743200" cy="365760"/>
          </a:xfrm>
          <a:prstGeom prst="rect">
            <a:avLst/>
          </a:prstGeom>
          <a:noFill/>
        </p:spPr>
        <p:txBody>
          <a:bodyPr wrap="square" anchor="ctr" lIns="0" tIns="0" rIns="0" bIns="0">
            <a:spAutoFit/>
          </a:bodyPr>
          <a:lstStyle/>
          <a:p>
            <a:pPr algn="l" marL="0" indent="0">
              <a:spcBef>
                <a:spcPts val="0"/>
              </a:spcBef>
              <a:spcAft>
                <a:spcPts val="400"/>
              </a:spcAft>
              <a:buNone/>
            </a:pPr>
            <a:r>
              <a:rPr sz="1800" b="1" i="0">
                <a:solidFill>
                  <a:srgbClr val="001823"/>
                </a:solidFill>
              </a:rPr>
              <a:t>Demographics</a:t>
            </a:r>
          </a:p>
        </p:txBody>
      </p:sp>
      <p:sp>
        <p:nvSpPr>
          <p:cNvPr id="11" name="TextBox 10"/>
          <p:cNvSpPr txBox="1"/>
          <p:nvPr/>
        </p:nvSpPr>
        <p:spPr>
          <a:xfrm>
            <a:off x="4411980" y="2057400"/>
            <a:ext cx="3291840" cy="1508760"/>
          </a:xfrm>
          <a:prstGeom prst="rect">
            <a:avLst/>
          </a:prstGeom>
          <a:noFill/>
        </p:spPr>
        <p:txBody>
          <a:bodyPr wrap="square" anchor="t" lIns="0" tIns="0" rIns="0" bIns="0">
            <a:spAutoFit/>
          </a:bodyPr>
          <a:lstStyle/>
          <a:p>
            <a:pPr algn="l" marL="0" indent="0">
              <a:spcBef>
                <a:spcPts val="0"/>
              </a:spcBef>
              <a:spcAft>
                <a:spcPts val="400"/>
              </a:spcAft>
              <a:buNone/>
            </a:pPr>
            <a:r>
              <a:rPr sz="1500" b="0" i="0">
                <a:solidFill>
                  <a:srgbClr val="001823"/>
                </a:solidFill>
              </a:rPr>
              <a:t>26% of staff and 44% of managers are over 50, and customers split by generation. AI analysis helps, if bias and privacy risks are controlled.</a:t>
            </a:r>
          </a:p>
        </p:txBody>
      </p:sp>
      <p:sp>
        <p:nvSpPr>
          <p:cNvPr id="12" name="Finding card"/>
          <p:cNvSpPr/>
          <p:nvPr/>
        </p:nvSpPr>
        <p:spPr>
          <a:xfrm>
            <a:off x="7964424" y="1280160"/>
            <a:ext cx="3611880" cy="2331720"/>
          </a:xfrm>
          <a:prstGeom prst="rect">
            <a:avLst/>
          </a:prstGeom>
          <a:solidFill>
            <a:srgbClr val="EEF2F4"/>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09728" tIns="73152" rIns="109728" bIns="73152"/>
          <a:lstStyle/>
          <a:p>
            <a:pPr algn="ctr"/>
          </a:p>
        </p:txBody>
      </p:sp>
      <p:sp>
        <p:nvSpPr>
          <p:cNvPr id="13" name="Number badge"/>
          <p:cNvSpPr/>
          <p:nvPr/>
        </p:nvSpPr>
        <p:spPr>
          <a:xfrm>
            <a:off x="8129016" y="1417320"/>
            <a:ext cx="457200" cy="457200"/>
          </a:xfrm>
          <a:prstGeom prst="ellipse">
            <a:avLst/>
          </a:prstGeom>
          <a:solidFill>
            <a:srgbClr val="DB3724"/>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0" tIns="0" rIns="0" bIns="0"/>
          <a:lstStyle/>
          <a:p>
            <a:pPr algn="ctr" marL="0" indent="0">
              <a:spcBef>
                <a:spcPts val="0"/>
              </a:spcBef>
              <a:spcAft>
                <a:spcPts val="400"/>
              </a:spcAft>
              <a:buNone/>
            </a:pPr>
            <a:r>
              <a:rPr sz="1600" b="1" i="0">
                <a:solidFill>
                  <a:srgbClr val="FFFFFF"/>
                </a:solidFill>
              </a:rPr>
              <a:t>3</a:t>
            </a:r>
          </a:p>
        </p:txBody>
      </p:sp>
      <p:sp>
        <p:nvSpPr>
          <p:cNvPr id="14" name="TextBox 13"/>
          <p:cNvSpPr txBox="1"/>
          <p:nvPr/>
        </p:nvSpPr>
        <p:spPr>
          <a:xfrm>
            <a:off x="8714232" y="1463040"/>
            <a:ext cx="2743200" cy="365760"/>
          </a:xfrm>
          <a:prstGeom prst="rect">
            <a:avLst/>
          </a:prstGeom>
          <a:noFill/>
        </p:spPr>
        <p:txBody>
          <a:bodyPr wrap="square" anchor="ctr" lIns="0" tIns="0" rIns="0" bIns="0">
            <a:spAutoFit/>
          </a:bodyPr>
          <a:lstStyle/>
          <a:p>
            <a:pPr algn="l" marL="0" indent="0">
              <a:spcBef>
                <a:spcPts val="0"/>
              </a:spcBef>
              <a:spcAft>
                <a:spcPts val="400"/>
              </a:spcAft>
              <a:buNone/>
            </a:pPr>
            <a:r>
              <a:rPr sz="1800" b="1" i="0">
                <a:solidFill>
                  <a:srgbClr val="001823"/>
                </a:solidFill>
              </a:rPr>
              <a:t>Technology</a:t>
            </a:r>
          </a:p>
        </p:txBody>
      </p:sp>
      <p:sp>
        <p:nvSpPr>
          <p:cNvPr id="15" name="TextBox 14"/>
          <p:cNvSpPr txBox="1"/>
          <p:nvPr/>
        </p:nvSpPr>
        <p:spPr>
          <a:xfrm>
            <a:off x="8129016" y="2057400"/>
            <a:ext cx="3291840" cy="1508760"/>
          </a:xfrm>
          <a:prstGeom prst="rect">
            <a:avLst/>
          </a:prstGeom>
          <a:noFill/>
        </p:spPr>
        <p:txBody>
          <a:bodyPr wrap="square" anchor="t" lIns="0" tIns="0" rIns="0" bIns="0">
            <a:spAutoFit/>
          </a:bodyPr>
          <a:lstStyle/>
          <a:p>
            <a:pPr algn="l" marL="0" indent="0">
              <a:spcBef>
                <a:spcPts val="0"/>
              </a:spcBef>
              <a:spcAft>
                <a:spcPts val="400"/>
              </a:spcAft>
              <a:buNone/>
            </a:pPr>
            <a:r>
              <a:rPr sz="1500" b="0" i="0">
                <a:solidFill>
                  <a:srgbClr val="001823"/>
                </a:solidFill>
              </a:rPr>
              <a:t>Robotics, agentic AI, and rivals' digital twins are moving faster than annual planning cycles.</a:t>
            </a:r>
          </a:p>
        </p:txBody>
      </p:sp>
      <p:sp>
        <p:nvSpPr>
          <p:cNvPr id="16" name="Banner"/>
          <p:cNvSpPr/>
          <p:nvPr/>
        </p:nvSpPr>
        <p:spPr>
          <a:xfrm>
            <a:off x="530352" y="3749039"/>
            <a:ext cx="11045952" cy="2468880"/>
          </a:xfrm>
          <a:prstGeom prst="rect">
            <a:avLst/>
          </a:prstGeom>
          <a:solidFill>
            <a:srgbClr val="001823"/>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09728" tIns="73152" rIns="109728" bIns="73152"/>
          <a:lstStyle/>
          <a:p>
            <a:pPr algn="ctr"/>
          </a:p>
        </p:txBody>
      </p:sp>
      <p:sp>
        <p:nvSpPr>
          <p:cNvPr id="17" name="TextBox 16"/>
          <p:cNvSpPr txBox="1"/>
          <p:nvPr/>
        </p:nvSpPr>
        <p:spPr>
          <a:xfrm>
            <a:off x="749808" y="3886200"/>
            <a:ext cx="10607040" cy="365760"/>
          </a:xfrm>
          <a:prstGeom prst="rect">
            <a:avLst/>
          </a:prstGeom>
          <a:noFill/>
        </p:spPr>
        <p:txBody>
          <a:bodyPr wrap="square" anchor="t" lIns="0" tIns="0" rIns="0" bIns="0">
            <a:spAutoFit/>
          </a:bodyPr>
          <a:lstStyle/>
          <a:p>
            <a:pPr algn="l" marL="0" indent="0">
              <a:spcBef>
                <a:spcPts val="0"/>
              </a:spcBef>
              <a:spcAft>
                <a:spcPts val="400"/>
              </a:spcAft>
              <a:buNone/>
            </a:pPr>
            <a:r>
              <a:rPr sz="1800" b="1" i="0">
                <a:solidFill>
                  <a:srgbClr val="FFFFFF"/>
                </a:solidFill>
              </a:rPr>
              <a:t>Recommendation and next steps</a:t>
            </a:r>
          </a:p>
        </p:txBody>
      </p:sp>
      <p:sp>
        <p:nvSpPr>
          <p:cNvPr id="18" name="TextBox 17"/>
          <p:cNvSpPr txBox="1"/>
          <p:nvPr/>
        </p:nvSpPr>
        <p:spPr>
          <a:xfrm>
            <a:off x="749808" y="4389120"/>
            <a:ext cx="10607040" cy="1737360"/>
          </a:xfrm>
          <a:prstGeom prst="rect">
            <a:avLst/>
          </a:prstGeom>
          <a:noFill/>
        </p:spPr>
        <p:txBody>
          <a:bodyPr wrap="square" anchor="t" lIns="0" tIns="0" rIns="0" bIns="0">
            <a:spAutoFit/>
          </a:bodyPr>
          <a:lstStyle/>
          <a:p>
            <a:pPr algn="l" marL="0" indent="0">
              <a:spcBef>
                <a:spcPts val="0"/>
              </a:spcBef>
              <a:spcAft>
                <a:spcPts val="800"/>
              </a:spcAft>
              <a:buNone/>
            </a:pPr>
            <a:r>
              <a:rPr sz="1600" b="0" i="0">
                <a:solidFill>
                  <a:srgbClr val="FFFFFF"/>
                </a:solidFill>
              </a:rPr>
              <a:t>Create an AI &amp; Workforce Intelligence Hub with embedded division leads, built on accountability, transparency, and fairness.</a:t>
            </a:r>
          </a:p>
          <a:p>
            <a:pPr algn="l" marL="0" indent="0">
              <a:spcBef>
                <a:spcPts val="0"/>
              </a:spcBef>
              <a:spcAft>
                <a:spcPts val="800"/>
              </a:spcAft>
              <a:buNone/>
            </a:pPr>
            <a:r>
              <a:rPr sz="1600" b="1" i="0">
                <a:solidFill>
                  <a:srgbClr val="B2BBBF"/>
                </a:solidFill>
              </a:rPr>
              <a:t>First 90 days: </a:t>
            </a:r>
            <a:r>
              <a:rPr sz="1600" b="0" i="0">
                <a:solidFill>
                  <a:srgbClr val="FFFFFF"/>
                </a:solidFill>
              </a:rPr>
              <a:t>appoint the Chief AI Officer; inventory and risk-tier every AI use case; set one bias-testing and data-minimization standard.</a:t>
            </a:r>
          </a:p>
          <a:p>
            <a:pPr algn="l" marL="0" indent="0">
              <a:spcBef>
                <a:spcPts val="0"/>
              </a:spcBef>
              <a:spcAft>
                <a:spcPts val="400"/>
              </a:spcAft>
              <a:buNone/>
            </a:pPr>
            <a:r>
              <a:rPr sz="1600" b="1" i="0">
                <a:solidFill>
                  <a:srgbClr val="B2BBBF"/>
                </a:solidFill>
              </a:rPr>
              <a:t>Final thought: </a:t>
            </a:r>
            <a:r>
              <a:rPr sz="1600" b="0" i="0">
                <a:solidFill>
                  <a:srgbClr val="FFFFFF"/>
                </a:solidFill>
              </a:rPr>
              <a:t>DHL's edge is its people and the trust they have earned. Let the structure make AI amplify them.</a:t>
            </a:r>
          </a:p>
        </p:txBody>
      </p:sp>
      <p:sp>
        <p:nvSpPr>
          <p:cNvPr id="19" name="Source line"/>
          <p:cNvSpPr txBox="1"/>
          <p:nvPr/>
        </p:nvSpPr>
        <p:spPr>
          <a:xfrm>
            <a:off x="530352" y="6291072"/>
            <a:ext cx="11045952" cy="274320"/>
          </a:xfrm>
          <a:prstGeom prst="rect">
            <a:avLst/>
          </a:prstGeom>
          <a:noFill/>
        </p:spPr>
        <p:txBody>
          <a:bodyPr wrap="square" anchor="t" lIns="0" tIns="0" rIns="0" bIns="0">
            <a:spAutoFit/>
          </a:bodyPr>
          <a:lstStyle/>
          <a:p>
            <a:pPr algn="l" marL="0" indent="0">
              <a:spcBef>
                <a:spcPts val="0"/>
              </a:spcBef>
              <a:spcAft>
                <a:spcPts val="400"/>
              </a:spcAft>
              <a:buNone/>
            </a:pPr>
            <a:r>
              <a:rPr sz="1100" b="0" i="0">
                <a:solidFill>
                  <a:srgbClr val="5E7079"/>
                </a:solidFill>
              </a:rPr>
              <a:t>Sources: DHL Group (2026b, 2026e); DHL eCommerce (2026); UPS (2026).</a:t>
            </a:r>
          </a:p>
        </p:txBody>
      </p:sp>
    </p:spTree>
    <p:custDataLst>
      <p:tags r:id="rId1"/>
    </p:custDataLst>
    <p:extLst>
      <p:ext uri="{BB962C8B-B14F-4D97-AF65-F5344CB8AC3E}">
        <p14:creationId xmlns:p14="http://schemas.microsoft.com/office/powerpoint/2010/main" val="20368820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2A5E138-72BE-AD12-E3AF-59AA03354D78}"/>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49610523-7507-9D9C-C92C-3CF0B0B10DDA}"/>
              </a:ext>
            </a:extLst>
          </p:cNvPr>
          <p:cNvSpPr>
            <a:spLocks noGrp="1"/>
          </p:cNvSpPr>
          <p:nvPr>
            <p:ph type="title"/>
          </p:nvPr>
        </p:nvSpPr>
        <p:spPr/>
        <p:txBody>
          <a:bodyPr/>
          <a:lstStyle/>
          <a:p>
            <a:r>
              <a:rPr lang="en-US" sz="2800"/>
              <a:t>References</a:t>
            </a:r>
          </a:p>
        </p:txBody>
      </p:sp>
      <p:sp>
        <p:nvSpPr>
          <p:cNvPr id="2" name="Footer Placeholder 1">
            <a:extLst>
              <a:ext uri="{FF2B5EF4-FFF2-40B4-BE49-F238E27FC236}">
                <a16:creationId xmlns:a16="http://schemas.microsoft.com/office/drawing/2014/main" id="{BE00F3A2-4352-DD3E-FA30-3F320E06322B}"/>
              </a:ext>
            </a:extLst>
          </p:cNvPr>
          <p:cNvSpPr>
            <a:spLocks noGrp="1"/>
          </p:cNvSpPr>
          <p:nvPr>
            <p:ph type="ftr" sz="quarter" idx="3"/>
          </p:nvPr>
        </p:nvSpPr>
        <p:spPr/>
        <p:txBody>
          <a:bodyPr/>
          <a:lstStyle/>
          <a:p>
            <a:r>
              <a:rPr lang="en-US"/>
              <a:t>© 2025 University of Phoenix</a:t>
            </a:r>
          </a:p>
        </p:txBody>
      </p:sp>
      <p:sp>
        <p:nvSpPr>
          <p:cNvPr id="5" name="Content Placeholder 3">
            <a:extLst>
              <a:ext uri="{FF2B5EF4-FFF2-40B4-BE49-F238E27FC236}">
                <a16:creationId xmlns:a16="http://schemas.microsoft.com/office/drawing/2014/main" id="{8109B13B-6CB2-8B41-881E-449540B0F13D}"/>
              </a:ext>
            </a:extLst>
          </p:cNvPr>
          <p:cNvSpPr>
            <a:spLocks noGrp="1"/>
          </p:cNvSpPr>
          <p:nvPr>
            <p:ph idx="1"/>
          </p:nvPr>
        </p:nvSpPr>
        <p:spPr>
          <a:xfrm>
            <a:off x="533400" y="1234440"/>
            <a:ext cx="11049000" cy="5029200"/>
          </a:xfrm>
        </p:spPr>
        <p:txBody>
          <a:bodyPr numCol="2" spcCol="274320"/>
          <a:lstStyle/>
          <a:p>
            <a:pPr marL="274320" indent="-274320">
              <a:spcBef>
                <a:spcPts val="0"/>
              </a:spcBef>
              <a:spcAft>
                <a:spcPts val="400"/>
              </a:spcAft>
              <a:buNone/>
            </a:pPr>
            <a:r>
              <a:rPr lang="en-US" sz="1000" b="0"/>
              <a:t>Boston Dynamics. (2025, May 13). </a:t>
            </a:r>
            <a:r>
              <a:rPr lang="en-US" sz="1000" b="0" i="1"/>
              <a:t>DHL to scale robotics deployment across divisions with over 1,000 robotic units</a:t>
            </a:r>
            <a:r>
              <a:rPr lang="en-US" sz="1000" b="0"/>
              <a:t> [Press release]. https://bostondynamics.com/news/dhl-signs-mou-for-additional-1000-robot-deployment/</a:t>
            </a:r>
          </a:p>
          <a:p>
            <a:pPr marL="274320" indent="-274320">
              <a:spcBef>
                <a:spcPts val="0"/>
              </a:spcBef>
              <a:spcAft>
                <a:spcPts val="400"/>
              </a:spcAft>
              <a:buNone/>
            </a:pPr>
            <a:r>
              <a:rPr lang="en-US" sz="1000" b="0"/>
              <a:t>DHL eCommerce. (2026). </a:t>
            </a:r>
            <a:r>
              <a:rPr lang="en-US" sz="1000" b="0" i="1"/>
              <a:t>2026 e-commerce trends report</a:t>
            </a:r>
            <a:r>
              <a:rPr lang="en-US" sz="1000" b="0"/>
              <a:t>. DHL Group. https://www.dhl.com/content/dam/dhl/local/global/dhl-ecommerce/documents/pdf/g0-ec-trends-report-2026.pdf</a:t>
            </a:r>
          </a:p>
          <a:p>
            <a:pPr marL="274320" indent="-274320">
              <a:spcBef>
                <a:spcPts val="0"/>
              </a:spcBef>
              <a:spcAft>
                <a:spcPts val="400"/>
              </a:spcAft>
              <a:buNone/>
            </a:pPr>
            <a:r>
              <a:rPr lang="en-US" sz="1000" b="0"/>
              <a:t>DHL Group. (n.d.). </a:t>
            </a:r>
            <a:r>
              <a:rPr lang="en-US" sz="1000" b="0" i="1"/>
              <a:t>Strategy</a:t>
            </a:r>
            <a:r>
              <a:rPr lang="en-US" sz="1000" b="0"/>
              <a:t>. https://group.dhl.com/en/about-us/overview/strategy.html</a:t>
            </a:r>
          </a:p>
          <a:p>
            <a:pPr marL="274320" indent="-274320">
              <a:spcBef>
                <a:spcPts val="0"/>
              </a:spcBef>
              <a:spcAft>
                <a:spcPts val="400"/>
              </a:spcAft>
              <a:buNone/>
            </a:pPr>
            <a:r>
              <a:rPr lang="en-US" sz="1000" b="0"/>
              <a:t>DHL Group. (2026a, March). </a:t>
            </a:r>
            <a:r>
              <a:rPr lang="en-US" sz="1000" b="0" i="1"/>
              <a:t>2026 business profile</a:t>
            </a:r>
            <a:r>
              <a:rPr lang="en-US" sz="1000" b="0"/>
              <a:t>. https://group.dhl.com/content/dam/deutschepostdhl/de/media-center/investors/documents/business-profiles/DHL-Group-2026-Business-Profile.pdf</a:t>
            </a:r>
          </a:p>
          <a:p>
            <a:pPr marL="274320" indent="-274320">
              <a:spcBef>
                <a:spcPts val="0"/>
              </a:spcBef>
              <a:spcAft>
                <a:spcPts val="400"/>
              </a:spcAft>
              <a:buNone/>
            </a:pPr>
            <a:r>
              <a:rPr lang="en-US" sz="1000" b="0"/>
              <a:t>DHL Group. (2026b, September 24). </a:t>
            </a:r>
            <a:r>
              <a:rPr lang="en-US" sz="1000" b="0" i="1"/>
              <a:t>AI takes action while people remain at the center of logistics, finds DHL</a:t>
            </a:r>
            <a:r>
              <a:rPr lang="en-US" sz="1000" b="0"/>
              <a:t> [Press release]. https://group.dhl.com/content/dam/deutschepostdhl/en/media-relations/press-releases/2026/pr-dhl-ltr8-20260924.pdf</a:t>
            </a:r>
          </a:p>
          <a:p>
            <a:pPr marL="274320" indent="-274320">
              <a:spcBef>
                <a:spcPts val="0"/>
              </a:spcBef>
              <a:spcAft>
                <a:spcPts val="400"/>
              </a:spcAft>
              <a:buNone/>
            </a:pPr>
            <a:r>
              <a:rPr lang="en-US" sz="1000" b="0"/>
              <a:t>DHL Group. (2026c, September 10). </a:t>
            </a:r>
            <a:r>
              <a:rPr lang="en-US" sz="1000" b="0" i="1"/>
              <a:t>DHL and Alibaba.com partner to bring AI-powered logistics capabilities to small and medium-sized enterprises worldwide</a:t>
            </a:r>
            <a:r>
              <a:rPr lang="en-US" sz="1000" b="0"/>
              <a:t> [Press release]. https://group.dhl.com/en/media-relations/press-releases/2026/dhl-and-alibaba-com-partner-to-bring-ai-powered-logistics-capabilities-to-small-and-medium-sized-enterprises-worldwide.html</a:t>
            </a:r>
          </a:p>
          <a:p>
            <a:pPr marL="274320" indent="-274320">
              <a:spcBef>
                <a:spcPts val="0"/>
              </a:spcBef>
              <a:spcAft>
                <a:spcPts val="400"/>
              </a:spcAft>
              <a:buNone/>
            </a:pPr>
            <a:r>
              <a:rPr lang="en-US" sz="1000" b="0"/>
              <a:t>DHL Group. (2026d, May 7). </a:t>
            </a:r>
            <a:r>
              <a:rPr lang="en-US" sz="1000" b="0" i="1"/>
              <a:t>DHL Express introduces AI-powered item identification for international shipping: A first in the global express logistics industry</a:t>
            </a:r>
            <a:r>
              <a:rPr lang="en-US" sz="1000" b="0"/>
              <a:t> [Press release]. https://group.dhl.com/en/media-relations/press-releases/2026/dhl-express-introduces-ai-powered-item-identification-for-international-shipping.html</a:t>
            </a:r>
          </a:p>
          <a:p>
            <a:pPr marL="274320" indent="-274320">
              <a:spcBef>
                <a:spcPts val="0"/>
              </a:spcBef>
              <a:spcAft>
                <a:spcPts val="400"/>
              </a:spcAft>
              <a:buNone/>
            </a:pPr>
            <a:r>
              <a:rPr lang="en-US" sz="1000" b="0"/>
              <a:t>DHL Group. (2026e). </a:t>
            </a:r>
            <a:r>
              <a:rPr lang="en-US" sz="1000" b="0" i="1"/>
              <a:t>DHL Group annual report 2025</a:t>
            </a:r>
            <a:r>
              <a:rPr lang="en-US" sz="1000" b="0"/>
              <a:t>. https://reporting-hub.group.dhl.com/2025-fy/en/</a:t>
            </a:r>
          </a:p>
          <a:p>
            <a:pPr marL="274320" indent="-274320">
              <a:spcBef>
                <a:spcPts val="0"/>
              </a:spcBef>
              <a:spcAft>
                <a:spcPts val="400"/>
              </a:spcAft>
              <a:buNone/>
            </a:pPr>
            <a:r>
              <a:rPr lang="en-US" sz="1000" b="0"/>
              <a:t>DHL Group. (2026f, September 1). </a:t>
            </a:r>
            <a:r>
              <a:rPr lang="en-US" sz="1000" b="0" i="1"/>
              <a:t>DHL Group completes corporate reorganization</a:t>
            </a:r>
            <a:r>
              <a:rPr lang="en-US" sz="1000" b="0"/>
              <a:t> [Press release]. https://group.dhl.com/en/media-relations/press-releases/2026/dhl-group-completes-corporate-reorganization.html</a:t>
            </a:r>
          </a:p>
          <a:p>
            <a:pPr marL="274320" indent="-274320">
              <a:spcBef>
                <a:spcPts val="0"/>
              </a:spcBef>
              <a:spcAft>
                <a:spcPts val="400"/>
              </a:spcAft>
              <a:buNone/>
            </a:pPr>
            <a:r>
              <a:rPr lang="en-US" sz="1000" b="0"/>
              <a:t>Economist Enterprise. (2026). </a:t>
            </a:r>
            <a:r>
              <a:rPr lang="en-US" sz="1000" b="0" i="1"/>
              <a:t>How DHL delivers responsible AI</a:t>
            </a:r>
            <a:r>
              <a:rPr lang="en-US" sz="1000" b="0"/>
              <a:t>. https://insights.economistenterprise.com/technology-innovation/enterprise-ai-in-action/how-dhl-delivers-responsible-ai</a:t>
            </a:r>
          </a:p>
          <a:p>
            <a:pPr marL="274320" indent="-274320">
              <a:spcBef>
                <a:spcPts val="0"/>
              </a:spcBef>
              <a:spcAft>
                <a:spcPts val="400"/>
              </a:spcAft>
              <a:buNone/>
            </a:pPr>
            <a:r>
              <a:rPr lang="en-US" sz="1000" b="0"/>
              <a:t>European Parliament &amp; Council of the European Union. (2016). Regulation (EU) 2016/679 on the protection of natural persons with regard to the processing of personal data (General Data Protection Regulation). </a:t>
            </a:r>
            <a:r>
              <a:rPr lang="en-US" sz="1000" b="0" i="1"/>
              <a:t>Official Journal of the European Union, L 119</a:t>
            </a:r>
            <a:r>
              <a:rPr lang="en-US" sz="1000" b="0"/>
              <a:t>, 1–88. https://eur-lex.europa.eu/eli/reg/2016/679/oj</a:t>
            </a:r>
          </a:p>
          <a:p>
            <a:pPr marL="274320" indent="-274320">
              <a:spcBef>
                <a:spcPts val="0"/>
              </a:spcBef>
              <a:spcAft>
                <a:spcPts val="400"/>
              </a:spcAft>
              <a:buNone/>
            </a:pPr>
            <a:r>
              <a:rPr lang="en-US" sz="1000" b="0"/>
              <a:t>Francis, S. R. D., Ochs, D., Shapiro, P., &amp; Zagger, Z. V. (2026, June 16). </a:t>
            </a:r>
            <a:r>
              <a:rPr lang="en-US" sz="1000" b="0" i="1"/>
              <a:t>EU nears approval of agreement to delay rules for AI use in employment decisions</a:t>
            </a:r>
            <a:r>
              <a:rPr lang="en-US" sz="1000" b="0"/>
              <a:t>. Ogletree Deakins. https://ogletree.com/insights-resources/blog-posts/eu-nears-approval-of-agreement-to-delay-rules-for-ai-use-in-employment-decisions/</a:t>
            </a:r>
          </a:p>
          <a:p>
            <a:pPr marL="274320" indent="-274320">
              <a:spcBef>
                <a:spcPts val="0"/>
              </a:spcBef>
              <a:spcAft>
                <a:spcPts val="400"/>
              </a:spcAft>
              <a:buNone/>
            </a:pPr>
            <a:r>
              <a:rPr lang="en-US" sz="1000" b="0"/>
              <a:t>Leaders League. (2026, June 24). </a:t>
            </a:r>
            <a:r>
              <a:rPr lang="en-US" sz="1000" b="0" i="1"/>
              <a:t>DHL appoints Sabine Reith as VP, head of global legal AI governance in Bonn</a:t>
            </a:r>
            <a:r>
              <a:rPr lang="en-US" sz="1000" b="0"/>
              <a:t>. https://www.leadersleague.com/en/news/dhl-appoints-sabine-reith-as-vp-head-of-global-legal-ai-governance-in-bonn</a:t>
            </a:r>
          </a:p>
          <a:p>
            <a:pPr marL="274320" indent="-274320">
              <a:spcBef>
                <a:spcPts val="0"/>
              </a:spcBef>
              <a:spcAft>
                <a:spcPts val="400"/>
              </a:spcAft>
              <a:buNone/>
            </a:pPr>
            <a:r>
              <a:rPr lang="en-US" sz="1000" b="0"/>
              <a:t>National Institute of Standards and Technology. (2023). </a:t>
            </a:r>
            <a:r>
              <a:rPr lang="en-US" sz="1000" b="0" i="1"/>
              <a:t>Artificial intelligence risk management framework (AI RMF 1.0)</a:t>
            </a:r>
            <a:r>
              <a:rPr lang="en-US" sz="1000" b="0"/>
              <a:t> (NIST AI 100-1). https://doi.org/10.6028/NIST.AI.100-1</a:t>
            </a:r>
          </a:p>
          <a:p>
            <a:pPr marL="274320" indent="-274320">
              <a:spcBef>
                <a:spcPts val="0"/>
              </a:spcBef>
              <a:spcAft>
                <a:spcPts val="400"/>
              </a:spcAft>
              <a:buNone/>
            </a:pPr>
            <a:r>
              <a:rPr lang="en-US" sz="1000" b="0"/>
              <a:t>Office of Management and Budget. (2025, April 3). </a:t>
            </a:r>
            <a:r>
              <a:rPr lang="en-US" sz="1000" b="0" i="1"/>
              <a:t>Driving efficient acquisition of artificial intelligence in government</a:t>
            </a:r>
            <a:r>
              <a:rPr lang="en-US" sz="1000" b="0"/>
              <a:t> (Memorandum M-25-22). https://www.whitehouse.gov/wp-content/uploads/2025/02/M-25-22-Driving-Efficient-Acquisition-of-Artificial-Intelligence-in-Government.pdf</a:t>
            </a:r>
          </a:p>
          <a:p>
            <a:pPr marL="274320" indent="-274320">
              <a:spcBef>
                <a:spcPts val="0"/>
              </a:spcBef>
              <a:spcAft>
                <a:spcPts val="400"/>
              </a:spcAft>
              <a:buNone/>
            </a:pPr>
            <a:r>
              <a:rPr lang="en-US" sz="1000" b="0"/>
              <a:t>Pölös, Z. (2025, April 7). </a:t>
            </a:r>
            <a:r>
              <a:rPr lang="en-US" sz="1000" b="0" i="1"/>
              <a:t>Germany and Poland face acute youth shortage in trucking workforce, IRU warns</a:t>
            </a:r>
            <a:r>
              <a:rPr lang="en-US" sz="1000" b="0"/>
              <a:t>. Trans.info. https://trans.info/en/germany-shortage-408127</a:t>
            </a:r>
          </a:p>
          <a:p>
            <a:pPr marL="274320" indent="-274320">
              <a:spcBef>
                <a:spcPts val="0"/>
              </a:spcBef>
              <a:spcAft>
                <a:spcPts val="400"/>
              </a:spcAft>
              <a:buNone/>
            </a:pPr>
            <a:r>
              <a:rPr lang="en-US" sz="1000" b="0"/>
              <a:t>Statistisches Bundesamt. (2025, December 11). </a:t>
            </a:r>
            <a:r>
              <a:rPr lang="en-US" sz="1000" b="0" i="1"/>
              <a:t>By 2035, one quarter of Germany's population will be aged 67 or over</a:t>
            </a:r>
            <a:r>
              <a:rPr lang="en-US" sz="1000" b="0"/>
              <a:t> (Press release No. 446). https://www.destatis.de/EN/Press/2025/12/PE25_446_12.html</a:t>
            </a:r>
          </a:p>
          <a:p>
            <a:pPr marL="274320" indent="-274320">
              <a:spcBef>
                <a:spcPts val="0"/>
              </a:spcBef>
              <a:spcAft>
                <a:spcPts val="400"/>
              </a:spcAft>
              <a:buNone/>
            </a:pPr>
            <a:r>
              <a:rPr lang="en-US" sz="1000" b="0"/>
              <a:t>Supply Chain Digital. (2026). </a:t>
            </a:r>
            <a:r>
              <a:rPr lang="en-US" sz="1000" b="0" i="1"/>
              <a:t>DHL: Agentic AI reshapes supply chains and workforce</a:t>
            </a:r>
            <a:r>
              <a:rPr lang="en-US" sz="1000" b="0"/>
              <a:t>. https://supplychaindigital.com/news/dhl-agentic-ai-reshapes-supply-chains-and-workforce</a:t>
            </a:r>
          </a:p>
          <a:p>
            <a:pPr marL="274320" indent="-274320">
              <a:spcBef>
                <a:spcPts val="0"/>
              </a:spcBef>
              <a:spcAft>
                <a:spcPts val="400"/>
              </a:spcAft>
              <a:buNone/>
            </a:pPr>
            <a:r>
              <a:rPr lang="en-US" sz="1000" b="0"/>
              <a:t>UPS. (2026, June 18). </a:t>
            </a:r>
            <a:r>
              <a:rPr lang="en-US" sz="1000" b="0" i="1"/>
              <a:t>Proof over promises: UPS's bold AI initiatives enhance products, services and customer experience</a:t>
            </a:r>
            <a:r>
              <a:rPr lang="en-US" sz="1000" b="0"/>
              <a:t> [Press release]. https://about.ups.com/us/en/newsroom/press-releases/innovation-driven/proof-over-promises--ups-s-bold-ai-initiatives-enhance-products-.html</a:t>
            </a:r>
          </a:p>
        </p:txBody>
      </p:sp>
    </p:spTree>
    <p:custDataLst>
      <p:tags r:id="rId1"/>
    </p:custDataLst>
    <p:extLst>
      <p:ext uri="{BB962C8B-B14F-4D97-AF65-F5344CB8AC3E}">
        <p14:creationId xmlns:p14="http://schemas.microsoft.com/office/powerpoint/2010/main" val="2192643348"/>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ARTICULATE_DESIGN_ID_3_MASTER SLIDE" val="PlQjcPsO"/>
  <p:tag name="ARTICULATE_DESIGN_ID_MASTER SLIDE" val="VWT1uW4l"/>
  <p:tag name="ARTICULATE_SLIDE_THUMBNAIL_REFRESH" val="1"/>
  <p:tag name="ARTICULATE_DESIGN_ID_1_MASTER SLIDE" val="7qbwoOAk"/>
  <p:tag name="ARTICULATE_DESIGN_ID_2_MASTER SLIDE" val="02xdyjFn"/>
  <p:tag name="ARTICULATE_SLIDE_COUNT" val="9"/>
  <p:tag name="ARTICULATE_PROJECT_OPEN" val="0"/>
</p:tagLst>
</file>

<file path=ppt/tags/tag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heme/theme1.xml><?xml version="1.0" encoding="utf-8"?>
<a:theme xmlns:a="http://schemas.openxmlformats.org/drawingml/2006/main" name="Master Slide">
  <a:themeElements>
    <a:clrScheme name="UOPX2021">
      <a:dk1>
        <a:srgbClr val="001823"/>
      </a:dk1>
      <a:lt1>
        <a:srgbClr val="FFFFFF"/>
      </a:lt1>
      <a:dk2>
        <a:srgbClr val="001823"/>
      </a:dk2>
      <a:lt2>
        <a:srgbClr val="FFFFFF"/>
      </a:lt2>
      <a:accent1>
        <a:srgbClr val="15333E"/>
      </a:accent1>
      <a:accent2>
        <a:srgbClr val="3A4F59"/>
      </a:accent2>
      <a:accent3>
        <a:srgbClr val="5E7079"/>
      </a:accent3>
      <a:accent4>
        <a:srgbClr val="7B8A92"/>
      </a:accent4>
      <a:accent5>
        <a:srgbClr val="97A3A9"/>
      </a:accent5>
      <a:accent6>
        <a:srgbClr val="B2BBBF"/>
      </a:accent6>
      <a:hlink>
        <a:srgbClr val="DB3724"/>
      </a:hlink>
      <a:folHlink>
        <a:srgbClr val="DB3724"/>
      </a:folHlink>
    </a:clrScheme>
    <a:fontScheme name="UOPX 2.0">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1_Master Slide">
  <a:themeElements>
    <a:clrScheme name="UOPX2021">
      <a:dk1>
        <a:srgbClr val="001823"/>
      </a:dk1>
      <a:lt1>
        <a:srgbClr val="FFFFFF"/>
      </a:lt1>
      <a:dk2>
        <a:srgbClr val="001823"/>
      </a:dk2>
      <a:lt2>
        <a:srgbClr val="FFFFFF"/>
      </a:lt2>
      <a:accent1>
        <a:srgbClr val="15333E"/>
      </a:accent1>
      <a:accent2>
        <a:srgbClr val="3A4F59"/>
      </a:accent2>
      <a:accent3>
        <a:srgbClr val="5E7079"/>
      </a:accent3>
      <a:accent4>
        <a:srgbClr val="7B8A92"/>
      </a:accent4>
      <a:accent5>
        <a:srgbClr val="97A3A9"/>
      </a:accent5>
      <a:accent6>
        <a:srgbClr val="B2BBBF"/>
      </a:accent6>
      <a:hlink>
        <a:srgbClr val="DB3724"/>
      </a:hlink>
      <a:folHlink>
        <a:srgbClr val="DB3724"/>
      </a:folHlink>
    </a:clrScheme>
    <a:fontScheme name="UOPX 2.0">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2_Master Slide">
  <a:themeElements>
    <a:clrScheme name="UOPX2021">
      <a:dk1>
        <a:srgbClr val="001823"/>
      </a:dk1>
      <a:lt1>
        <a:srgbClr val="FFFFFF"/>
      </a:lt1>
      <a:dk2>
        <a:srgbClr val="001823"/>
      </a:dk2>
      <a:lt2>
        <a:srgbClr val="FFFFFF"/>
      </a:lt2>
      <a:accent1>
        <a:srgbClr val="15333E"/>
      </a:accent1>
      <a:accent2>
        <a:srgbClr val="3A4F59"/>
      </a:accent2>
      <a:accent3>
        <a:srgbClr val="5E7079"/>
      </a:accent3>
      <a:accent4>
        <a:srgbClr val="7B8A92"/>
      </a:accent4>
      <a:accent5>
        <a:srgbClr val="97A3A9"/>
      </a:accent5>
      <a:accent6>
        <a:srgbClr val="B2BBBF"/>
      </a:accent6>
      <a:hlink>
        <a:srgbClr val="DB3724"/>
      </a:hlink>
      <a:folHlink>
        <a:srgbClr val="DB3724"/>
      </a:folHlink>
    </a:clrScheme>
    <a:fontScheme name="UOPX 2.0">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3_Master Slide">
  <a:themeElements>
    <a:clrScheme name="UOPX2021">
      <a:dk1>
        <a:srgbClr val="001823"/>
      </a:dk1>
      <a:lt1>
        <a:srgbClr val="FFFFFF"/>
      </a:lt1>
      <a:dk2>
        <a:srgbClr val="001823"/>
      </a:dk2>
      <a:lt2>
        <a:srgbClr val="FFFFFF"/>
      </a:lt2>
      <a:accent1>
        <a:srgbClr val="15333E"/>
      </a:accent1>
      <a:accent2>
        <a:srgbClr val="3A4F59"/>
      </a:accent2>
      <a:accent3>
        <a:srgbClr val="5E7079"/>
      </a:accent3>
      <a:accent4>
        <a:srgbClr val="7B8A92"/>
      </a:accent4>
      <a:accent5>
        <a:srgbClr val="97A3A9"/>
      </a:accent5>
      <a:accent6>
        <a:srgbClr val="B2BBBF"/>
      </a:accent6>
      <a:hlink>
        <a:srgbClr val="DB3724"/>
      </a:hlink>
      <a:folHlink>
        <a:srgbClr val="DB3724"/>
      </a:folHlink>
    </a:clrScheme>
    <a:fontScheme name="UOPX 2.0">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6.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0</TotalTime>
  <Words>788</Words>
  <Application>Microsoft Office PowerPoint</Application>
  <PresentationFormat>Widescreen</PresentationFormat>
  <Paragraphs>78</Paragraphs>
  <Slides>9</Slides>
  <Notes>9</Notes>
  <HiddenSlides>0</HiddenSlides>
  <MMClips>0</MMClips>
  <ScaleCrop>false</ScaleCrop>
  <HeadingPairs>
    <vt:vector size="6" baseType="variant">
      <vt:variant>
        <vt:lpstr>Fonts Used</vt:lpstr>
      </vt:variant>
      <vt:variant>
        <vt:i4>3</vt:i4>
      </vt:variant>
      <vt:variant>
        <vt:lpstr>Theme</vt:lpstr>
      </vt:variant>
      <vt:variant>
        <vt:i4>4</vt:i4>
      </vt:variant>
      <vt:variant>
        <vt:lpstr>Slide Titles</vt:lpstr>
      </vt:variant>
      <vt:variant>
        <vt:i4>9</vt:i4>
      </vt:variant>
    </vt:vector>
  </HeadingPairs>
  <TitlesOfParts>
    <vt:vector size="16" baseType="lpstr">
      <vt:lpstr>Arial</vt:lpstr>
      <vt:lpstr>Calibri</vt:lpstr>
      <vt:lpstr>Wingdings</vt:lpstr>
      <vt:lpstr>Master Slide</vt:lpstr>
      <vt:lpstr>1_Master Slide</vt:lpstr>
      <vt:lpstr>2_Master Slide</vt:lpstr>
      <vt:lpstr>3_Master Slide</vt:lpstr>
      <vt:lpstr>How to Use This Presentation Template</vt:lpstr>
      <vt:lpstr>Presentation Title</vt:lpstr>
      <vt:lpstr>Introduction</vt:lpstr>
      <vt:lpstr>Current Organizational Structure</vt:lpstr>
      <vt:lpstr>Demographic Trends</vt:lpstr>
      <vt:lpstr>Technological Trends</vt:lpstr>
      <vt:lpstr>Recommendations for Organizational Structure Design </vt:lpstr>
      <vt:lpstr>Conclusion</vt:lpstr>
      <vt:lpstr>References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revision>1</cp:revision>
  <dcterms:created xsi:type="dcterms:W3CDTF">2025-10-29T17:59:48Z</dcterms:created>
  <dcterms:modified xsi:type="dcterms:W3CDTF">2025-10-29T17:59:53Z</dcterms:modified>
</cp:coreProperties>
</file>